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0972800" cy="1097280"/>
          </a:xfrm>
          <a:prstGeom prst="rect">
            <a:avLst/>
          </a:prstGeom>
          <a:noFill/>
        </p:spPr>
        <p:txBody>
          <a:bodyPr wrap="square">
            <a:spAutoFit/>
          </a:bodyPr>
          <a:lstStyle/>
          <a:p>
            <a:pPr algn="l"/>
            <a:r>
              <a:rPr sz="3600" b="1" i="0">
                <a:solidFill>
                  <a:srgbClr val="FFFFFF"/>
                </a:solidFill>
              </a:rPr>
              <a:t>X-Ray–Guided Robotic Catheter Intervention</a:t>
            </a:r>
          </a:p>
        </p:txBody>
      </p:sp>
      <p:sp>
        <p:nvSpPr>
          <p:cNvPr id="6" name="TextBox 5"/>
          <p:cNvSpPr txBox="1"/>
          <p:nvPr/>
        </p:nvSpPr>
        <p:spPr>
          <a:xfrm>
            <a:off x="548640" y="2651760"/>
            <a:ext cx="10972800" cy="640080"/>
          </a:xfrm>
          <a:prstGeom prst="rect">
            <a:avLst/>
          </a:prstGeom>
          <a:noFill/>
        </p:spPr>
        <p:txBody>
          <a:bodyPr wrap="square">
            <a:spAutoFit/>
          </a:bodyPr>
          <a:lstStyle/>
          <a:p>
            <a:pPr algn="l"/>
            <a:r>
              <a:rPr sz="2400" b="0" i="0">
                <a:solidFill>
                  <a:srgbClr val="76B900"/>
                </a:solidFill>
              </a:rPr>
              <a:t>Simulation Workflow — Release Status &amp; Roadmap</a:t>
            </a:r>
          </a:p>
        </p:txBody>
      </p:sp>
      <p:sp>
        <p:nvSpPr>
          <p:cNvPr id="7" name="Rectangle 6"/>
          <p:cNvSpPr/>
          <p:nvPr/>
        </p:nvSpPr>
        <p:spPr>
          <a:xfrm>
            <a:off x="548640" y="333756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520440"/>
            <a:ext cx="10972800" cy="320040"/>
          </a:xfrm>
          <a:prstGeom prst="rect">
            <a:avLst/>
          </a:prstGeom>
          <a:noFill/>
        </p:spPr>
        <p:txBody>
          <a:bodyPr wrap="square">
            <a:spAutoFit/>
          </a:bodyPr>
          <a:lstStyle/>
          <a:p>
            <a:pPr algn="l"/>
            <a:r>
              <a:rPr sz="1500" b="0" i="0">
                <a:solidFill>
                  <a:srgbClr val="CCCCCC"/>
                </a:solidFill>
              </a:rPr>
              <a:t>▸  Cosserat rod XPBD physics  (Newton upstream + vessel-mesh collision)</a:t>
            </a:r>
          </a:p>
        </p:txBody>
      </p:sp>
      <p:sp>
        <p:nvSpPr>
          <p:cNvPr id="9" name="TextBox 8"/>
          <p:cNvSpPr txBox="1"/>
          <p:nvPr/>
        </p:nvSpPr>
        <p:spPr>
          <a:xfrm>
            <a:off x="548640" y="3867912"/>
            <a:ext cx="10972800" cy="320040"/>
          </a:xfrm>
          <a:prstGeom prst="rect">
            <a:avLst/>
          </a:prstGeom>
          <a:noFill/>
        </p:spPr>
        <p:txBody>
          <a:bodyPr wrap="square">
            <a:spAutoFit/>
          </a:bodyPr>
          <a:lstStyle/>
          <a:p>
            <a:pPr algn="l"/>
            <a:r>
              <a:rPr sz="1500" b="0" i="0">
                <a:solidFill>
                  <a:srgbClr val="CCCCCC"/>
                </a:solidFill>
              </a:rPr>
              <a:t>▸  Slang GPU Beer-Lambert DRR renderer  (inline catheter compositing)</a:t>
            </a:r>
          </a:p>
        </p:txBody>
      </p:sp>
      <p:sp>
        <p:nvSpPr>
          <p:cNvPr id="10" name="TextBox 9"/>
          <p:cNvSpPr txBox="1"/>
          <p:nvPr/>
        </p:nvSpPr>
        <p:spPr>
          <a:xfrm>
            <a:off x="548640" y="4215384"/>
            <a:ext cx="10972800" cy="320040"/>
          </a:xfrm>
          <a:prstGeom prst="rect">
            <a:avLst/>
          </a:prstGeom>
          <a:noFill/>
        </p:spPr>
        <p:txBody>
          <a:bodyPr wrap="square">
            <a:spAutoFit/>
          </a:bodyPr>
          <a:lstStyle/>
          <a:p>
            <a:pPr algn="l"/>
            <a:r>
              <a:rPr sz="1500" b="0" i="0">
                <a:solidFill>
                  <a:srgbClr val="CCCCCC"/>
                </a:solidFill>
              </a:rPr>
              <a:t>▸  Unified sim loop  (physics → render → RL obs, zero CPU sync on hot path)</a:t>
            </a:r>
          </a:p>
        </p:txBody>
      </p:sp>
      <p:sp>
        <p:nvSpPr>
          <p:cNvPr id="11" name="TextBox 10"/>
          <p:cNvSpPr txBox="1"/>
          <p:nvPr/>
        </p:nvSpPr>
        <p:spPr>
          <a:xfrm>
            <a:off x="548640" y="4562856"/>
            <a:ext cx="10972800" cy="320040"/>
          </a:xfrm>
          <a:prstGeom prst="rect">
            <a:avLst/>
          </a:prstGeom>
          <a:noFill/>
        </p:spPr>
        <p:txBody>
          <a:bodyPr wrap="square">
            <a:spAutoFit/>
          </a:bodyPr>
          <a:lstStyle/>
          <a:p>
            <a:pPr algn="l"/>
            <a:r>
              <a:rPr sz="1500" b="0" i="0">
                <a:solidFill>
                  <a:srgbClr val="CCCCCC"/>
                </a:solidFill>
              </a:rPr>
              <a:t>▸  Interactive UI demo  +  RL training pipeline  (RSL-RL PPO, 512 envs)</a:t>
            </a:r>
          </a:p>
        </p:txBody>
      </p:sp>
      <p:sp>
        <p:nvSpPr>
          <p:cNvPr id="12" name="TextBox 11"/>
          <p:cNvSpPr txBox="1"/>
          <p:nvPr/>
        </p:nvSpPr>
        <p:spPr>
          <a:xfrm>
            <a:off x="548640" y="6309360"/>
            <a:ext cx="10972800" cy="365760"/>
          </a:xfrm>
          <a:prstGeom prst="rect">
            <a:avLst/>
          </a:prstGeom>
          <a:noFill/>
        </p:spPr>
        <p:txBody>
          <a:bodyPr wrap="square">
            <a:spAutoFit/>
          </a:bodyPr>
          <a:lstStyle/>
          <a:p>
            <a:pPr algn="l"/>
            <a:r>
              <a:rPr sz="1200" b="0" i="0">
                <a:solidFill>
                  <a:srgbClr val="555555"/>
                </a:solidFill>
              </a:rPr>
              <a:t>Isaac for Healthcare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Architecture Overview — Four-Stage Pipeline</a:t>
            </a:r>
          </a:p>
        </p:txBody>
      </p:sp>
      <p:sp>
        <p:nvSpPr>
          <p:cNvPr id="6" name="Rectangle 5"/>
          <p:cNvSpPr/>
          <p:nvPr/>
        </p:nvSpPr>
        <p:spPr>
          <a:xfrm>
            <a:off x="228600" y="1920240"/>
            <a:ext cx="2651760" cy="42062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920240"/>
            <a:ext cx="2651760" cy="5029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938528"/>
            <a:ext cx="2468880" cy="457200"/>
          </a:xfrm>
          <a:prstGeom prst="rect">
            <a:avLst/>
          </a:prstGeom>
          <a:noFill/>
        </p:spPr>
        <p:txBody>
          <a:bodyPr wrap="square">
            <a:spAutoFit/>
          </a:bodyPr>
          <a:lstStyle/>
          <a:p>
            <a:pPr algn="l"/>
            <a:r>
              <a:rPr sz="1300" b="1" i="0">
                <a:solidFill>
                  <a:srgbClr val="1A1A1A"/>
                </a:solidFill>
              </a:rPr>
              <a:t>Stage 1
CT Ingestion</a:t>
            </a:r>
          </a:p>
        </p:txBody>
      </p:sp>
      <p:sp>
        <p:nvSpPr>
          <p:cNvPr id="9" name="TextBox 8"/>
          <p:cNvSpPr txBox="1"/>
          <p:nvPr/>
        </p:nvSpPr>
        <p:spPr>
          <a:xfrm>
            <a:off x="338328" y="2487168"/>
            <a:ext cx="2450592" cy="3474720"/>
          </a:xfrm>
          <a:prstGeom prst="rect">
            <a:avLst/>
          </a:prstGeom>
          <a:noFill/>
        </p:spPr>
        <p:txBody>
          <a:bodyPr wrap="square">
            <a:spAutoFit/>
          </a:bodyPr>
          <a:lstStyle/>
          <a:p>
            <a:pPr algn="l"/>
            <a:r>
              <a:rPr sz="1100" b="0" i="0">
                <a:solidFill>
                  <a:srgbClr val="1A1A1A"/>
                </a:solidFill>
              </a:rPr>
              <a:t>CT/CTA  →  HU→μ conversion  →  3D μ-volume
Vessel segmentation  →  wp.Mesh (collision)
Centerline (VMTK)  →  Dijkstra arrival map</a:t>
            </a:r>
          </a:p>
        </p:txBody>
      </p:sp>
      <p:sp>
        <p:nvSpPr>
          <p:cNvPr id="10" name="Rectangle 9"/>
          <p:cNvSpPr/>
          <p:nvPr/>
        </p:nvSpPr>
        <p:spPr>
          <a:xfrm>
            <a:off x="3246120" y="1920240"/>
            <a:ext cx="2651760" cy="42062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1920240"/>
            <a:ext cx="2651760" cy="5029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1938528"/>
            <a:ext cx="2468880" cy="457200"/>
          </a:xfrm>
          <a:prstGeom prst="rect">
            <a:avLst/>
          </a:prstGeom>
          <a:noFill/>
        </p:spPr>
        <p:txBody>
          <a:bodyPr wrap="square">
            <a:spAutoFit/>
          </a:bodyPr>
          <a:lstStyle/>
          <a:p>
            <a:pPr algn="l"/>
            <a:r>
              <a:rPr sz="1300" b="1" i="0">
                <a:solidFill>
                  <a:srgbClr val="1A1A1A"/>
                </a:solidFill>
              </a:rPr>
              <a:t>Stage 2
Sim Environment</a:t>
            </a:r>
          </a:p>
        </p:txBody>
      </p:sp>
      <p:sp>
        <p:nvSpPr>
          <p:cNvPr id="13" name="TextBox 12"/>
          <p:cNvSpPr txBox="1"/>
          <p:nvPr/>
        </p:nvSpPr>
        <p:spPr>
          <a:xfrm>
            <a:off x="3355848" y="2487168"/>
            <a:ext cx="2450592" cy="3474720"/>
          </a:xfrm>
          <a:prstGeom prst="rect">
            <a:avLst/>
          </a:prstGeom>
          <a:noFill/>
        </p:spPr>
        <p:txBody>
          <a:bodyPr wrap="square">
            <a:spAutoFit/>
          </a:bodyPr>
          <a:lstStyle/>
          <a:p>
            <a:pPr algn="l"/>
            <a:r>
              <a:rPr sz="1100" b="0" i="0">
                <a:solidFill>
                  <a:srgbClr val="1A1A1A"/>
                </a:solidFill>
              </a:rPr>
              <a:t>XCathRodSolver  (XPBD + vessel-mesh SDF)
Slang DRR renderer  (Beer-Lambert, inline catheter)
Unified loop: physics → render → RL obs</a:t>
            </a:r>
          </a:p>
        </p:txBody>
      </p:sp>
      <p:sp>
        <p:nvSpPr>
          <p:cNvPr id="14" name="Rectangle 13"/>
          <p:cNvSpPr/>
          <p:nvPr/>
        </p:nvSpPr>
        <p:spPr>
          <a:xfrm>
            <a:off x="6263640" y="1920240"/>
            <a:ext cx="2651760" cy="42062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920240"/>
            <a:ext cx="2651760" cy="5029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938528"/>
            <a:ext cx="2468880" cy="457200"/>
          </a:xfrm>
          <a:prstGeom prst="rect">
            <a:avLst/>
          </a:prstGeom>
          <a:noFill/>
        </p:spPr>
        <p:txBody>
          <a:bodyPr wrap="square">
            <a:spAutoFit/>
          </a:bodyPr>
          <a:lstStyle/>
          <a:p>
            <a:pPr algn="l"/>
            <a:r>
              <a:rPr sz="1300" b="1" i="0">
                <a:solidFill>
                  <a:srgbClr val="1A1A1A"/>
                </a:solidFill>
              </a:rPr>
              <a:t>Stage 3
RL Training</a:t>
            </a:r>
          </a:p>
        </p:txBody>
      </p:sp>
      <p:sp>
        <p:nvSpPr>
          <p:cNvPr id="17" name="TextBox 16"/>
          <p:cNvSpPr txBox="1"/>
          <p:nvPr/>
        </p:nvSpPr>
        <p:spPr>
          <a:xfrm>
            <a:off x="6373368" y="2487168"/>
            <a:ext cx="2450592" cy="3474720"/>
          </a:xfrm>
          <a:prstGeom prst="rect">
            <a:avLst/>
          </a:prstGeom>
          <a:noFill/>
        </p:spPr>
        <p:txBody>
          <a:bodyPr wrap="square">
            <a:spAutoFit/>
          </a:bodyPr>
          <a:lstStyle/>
          <a:p>
            <a:pPr algn="l"/>
            <a:r>
              <a:rPr sz="1100" b="0" i="0">
                <a:solidFill>
                  <a:srgbClr val="1A1A1A"/>
                </a:solidFill>
              </a:rPr>
              <a:t>RSL-RL PPO  |  512 parallel envs
State obs today  →  Pixel obs Sprint 2
GR00T-N IL + RL fine-tune</a:t>
            </a:r>
          </a:p>
        </p:txBody>
      </p:sp>
      <p:sp>
        <p:nvSpPr>
          <p:cNvPr id="18" name="Rectangle 17"/>
          <p:cNvSpPr/>
          <p:nvPr/>
        </p:nvSpPr>
        <p:spPr>
          <a:xfrm>
            <a:off x="9281160" y="1920240"/>
            <a:ext cx="2651760" cy="42062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81160" y="1920240"/>
            <a:ext cx="2651760" cy="50292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1938528"/>
            <a:ext cx="2468880" cy="457200"/>
          </a:xfrm>
          <a:prstGeom prst="rect">
            <a:avLst/>
          </a:prstGeom>
          <a:noFill/>
        </p:spPr>
        <p:txBody>
          <a:bodyPr wrap="square">
            <a:spAutoFit/>
          </a:bodyPr>
          <a:lstStyle/>
          <a:p>
            <a:pPr algn="l"/>
            <a:r>
              <a:rPr sz="1300" b="1" i="0">
                <a:solidFill>
                  <a:srgbClr val="1A1A1A"/>
                </a:solidFill>
              </a:rPr>
              <a:t>Stage 4
Deployment</a:t>
            </a:r>
          </a:p>
        </p:txBody>
      </p:sp>
      <p:sp>
        <p:nvSpPr>
          <p:cNvPr id="21" name="TextBox 20"/>
          <p:cNvSpPr txBox="1"/>
          <p:nvPr/>
        </p:nvSpPr>
        <p:spPr>
          <a:xfrm>
            <a:off x="9390888" y="2487168"/>
            <a:ext cx="2450592" cy="3474720"/>
          </a:xfrm>
          <a:prstGeom prst="rect">
            <a:avLst/>
          </a:prstGeom>
          <a:noFill/>
        </p:spPr>
        <p:txBody>
          <a:bodyPr wrap="square">
            <a:spAutoFit/>
          </a:bodyPr>
          <a:lstStyle/>
          <a:p>
            <a:pPr algn="l"/>
            <a:r>
              <a:rPr sz="1100" b="0" i="0">
                <a:solidFill>
                  <a:srgbClr val="1A1A1A"/>
                </a:solidFill>
              </a:rPr>
              <a:t>Holoscan IGX  |  &lt;10 ms inference
XCath robotic catheter  |  Safety layer
Sim-to-real via domain randomization</a:t>
            </a:r>
          </a:p>
        </p:txBody>
      </p:sp>
      <p:sp>
        <p:nvSpPr>
          <p:cNvPr id="22" name="TextBox 21"/>
          <p:cNvSpPr txBox="1"/>
          <p:nvPr/>
        </p:nvSpPr>
        <p:spPr>
          <a:xfrm>
            <a:off x="2926080" y="3749039"/>
            <a:ext cx="274320" cy="365760"/>
          </a:xfrm>
          <a:prstGeom prst="rect">
            <a:avLst/>
          </a:prstGeom>
          <a:noFill/>
        </p:spPr>
        <p:txBody>
          <a:bodyPr wrap="square">
            <a:spAutoFit/>
          </a:bodyPr>
          <a:lstStyle/>
          <a:p>
            <a:pPr algn="l"/>
            <a:r>
              <a:rPr sz="1800" b="1" i="0">
                <a:solidFill>
                  <a:srgbClr val="76B900"/>
                </a:solidFill>
              </a:rPr>
              <a:t>▶</a:t>
            </a:r>
          </a:p>
        </p:txBody>
      </p:sp>
      <p:sp>
        <p:nvSpPr>
          <p:cNvPr id="23" name="TextBox 22"/>
          <p:cNvSpPr txBox="1"/>
          <p:nvPr/>
        </p:nvSpPr>
        <p:spPr>
          <a:xfrm>
            <a:off x="5943600" y="3749039"/>
            <a:ext cx="274320" cy="365760"/>
          </a:xfrm>
          <a:prstGeom prst="rect">
            <a:avLst/>
          </a:prstGeom>
          <a:noFill/>
        </p:spPr>
        <p:txBody>
          <a:bodyPr wrap="square">
            <a:spAutoFit/>
          </a:bodyPr>
          <a:lstStyle/>
          <a:p>
            <a:pPr algn="l"/>
            <a:r>
              <a:rPr sz="1800" b="1" i="0">
                <a:solidFill>
                  <a:srgbClr val="76B900"/>
                </a:solidFill>
              </a:rPr>
              <a:t>▶</a:t>
            </a:r>
          </a:p>
        </p:txBody>
      </p:sp>
      <p:sp>
        <p:nvSpPr>
          <p:cNvPr id="24" name="TextBox 23"/>
          <p:cNvSpPr txBox="1"/>
          <p:nvPr/>
        </p:nvSpPr>
        <p:spPr>
          <a:xfrm>
            <a:off x="8961120" y="3749039"/>
            <a:ext cx="274320" cy="365760"/>
          </a:xfrm>
          <a:prstGeom prst="rect">
            <a:avLst/>
          </a:prstGeom>
          <a:noFill/>
        </p:spPr>
        <p:txBody>
          <a:bodyPr wrap="square">
            <a:spAutoFit/>
          </a:bodyPr>
          <a:lstStyle/>
          <a:p>
            <a:pPr algn="l"/>
            <a:r>
              <a:rPr sz="1800" b="1" i="0">
                <a:solidFill>
                  <a:srgbClr val="76B900"/>
                </a:solidFill>
              </a:rPr>
              <a:t>▶</a:t>
            </a:r>
          </a:p>
        </p:txBody>
      </p:sp>
      <p:sp>
        <p:nvSpPr>
          <p:cNvPr id="25" name="TextBox 24"/>
          <p:cNvSpPr txBox="1"/>
          <p:nvPr/>
        </p:nvSpPr>
        <p:spPr>
          <a:xfrm>
            <a:off x="274320" y="6263640"/>
            <a:ext cx="11612880" cy="457200"/>
          </a:xfrm>
          <a:prstGeom prst="rect">
            <a:avLst/>
          </a:prstGeom>
          <a:noFill/>
        </p:spPr>
        <p:txBody>
          <a:bodyPr wrap="square">
            <a:spAutoFit/>
          </a:bodyPr>
          <a:lstStyle/>
          <a:p>
            <a:pPr algn="l"/>
            <a:r>
              <a:rPr sz="1100" b="0" i="1">
                <a:solidFill>
                  <a:srgbClr val="555555"/>
                </a:solidFill>
              </a:rPr>
              <a:t>All four stages share one coordinate frame (CT-volume mm).  The same μ-volume fed to the renderer is derived from the same CT as the collision mesh — physics and imaging are always registered to the same patient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Unified Sim Loop — Per-Timestep Execution</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300" b="0" i="1">
                <a:solidFill>
                  <a:srgbClr val="555555"/>
                </a:solidFill>
              </a:rPr>
              <a:t>Five GPU-resident steps per frame.  No CPU↔GPU synchronization on the hot path.</a:t>
            </a:r>
          </a:p>
        </p:txBody>
      </p:sp>
      <p:sp>
        <p:nvSpPr>
          <p:cNvPr id="7" name="Rectangle 6"/>
          <p:cNvSpPr/>
          <p:nvPr/>
        </p:nvSpPr>
        <p:spPr>
          <a:xfrm>
            <a:off x="228600" y="1810512"/>
            <a:ext cx="594360" cy="8686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1856231"/>
            <a:ext cx="548640" cy="320040"/>
          </a:xfrm>
          <a:prstGeom prst="rect">
            <a:avLst/>
          </a:prstGeom>
          <a:noFill/>
        </p:spPr>
        <p:txBody>
          <a:bodyPr wrap="square">
            <a:spAutoFit/>
          </a:bodyPr>
          <a:lstStyle/>
          <a:p>
            <a:pPr algn="ctr"/>
            <a:r>
              <a:rPr sz="1100" b="1" i="0">
                <a:solidFill>
                  <a:srgbClr val="FFFFFF"/>
                </a:solidFill>
              </a:rPr>
              <a:t>Step 1</a:t>
            </a:r>
          </a:p>
        </p:txBody>
      </p:sp>
      <p:sp>
        <p:nvSpPr>
          <p:cNvPr id="9" name="TextBox 8"/>
          <p:cNvSpPr txBox="1"/>
          <p:nvPr/>
        </p:nvSpPr>
        <p:spPr>
          <a:xfrm>
            <a:off x="868680" y="1828800"/>
            <a:ext cx="2560320" cy="320040"/>
          </a:xfrm>
          <a:prstGeom prst="rect">
            <a:avLst/>
          </a:prstGeom>
          <a:noFill/>
        </p:spPr>
        <p:txBody>
          <a:bodyPr wrap="square">
            <a:spAutoFit/>
          </a:bodyPr>
          <a:lstStyle/>
          <a:p>
            <a:pPr algn="l"/>
            <a:r>
              <a:rPr sz="1300" b="1" i="0">
                <a:solidFill>
                  <a:srgbClr val="76B900"/>
                </a:solidFill>
              </a:rPr>
              <a:t>Root Control</a:t>
            </a:r>
          </a:p>
        </p:txBody>
      </p:sp>
      <p:sp>
        <p:nvSpPr>
          <p:cNvPr id="10" name="TextBox 9"/>
          <p:cNvSpPr txBox="1"/>
          <p:nvPr/>
        </p:nvSpPr>
        <p:spPr>
          <a:xfrm>
            <a:off x="868680" y="2130552"/>
            <a:ext cx="11064240" cy="594360"/>
          </a:xfrm>
          <a:prstGeom prst="rect">
            <a:avLst/>
          </a:prstGeom>
          <a:noFill/>
        </p:spPr>
        <p:txBody>
          <a:bodyPr wrap="square">
            <a:spAutoFit/>
          </a:bodyPr>
          <a:lstStyle/>
          <a:p>
            <a:pPr algn="l"/>
            <a:r>
              <a:rPr sz="1050" b="0" i="0">
                <a:solidFill>
                  <a:srgbClr val="1A1A1A"/>
                </a:solidFill>
              </a:rPr>
              <a:t>Proximal boundary condition updated via GPU kernel.
Insertion depth δ and rotation angle θ written directly to
the proximal particle position + orientation buffers.
Warp kernels: apply_proximal_control_gpu  /  set_root_orientation
Both are CUDA-graph capturable — zero CPU sync.</a:t>
            </a:r>
          </a:p>
        </p:txBody>
      </p:sp>
      <p:sp>
        <p:nvSpPr>
          <p:cNvPr id="11" name="Rectangle 10"/>
          <p:cNvSpPr/>
          <p:nvPr/>
        </p:nvSpPr>
        <p:spPr>
          <a:xfrm>
            <a:off x="228600" y="2770632"/>
            <a:ext cx="594360" cy="86868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2816352"/>
            <a:ext cx="548640" cy="320040"/>
          </a:xfrm>
          <a:prstGeom prst="rect">
            <a:avLst/>
          </a:prstGeom>
          <a:noFill/>
        </p:spPr>
        <p:txBody>
          <a:bodyPr wrap="square">
            <a:spAutoFit/>
          </a:bodyPr>
          <a:lstStyle/>
          <a:p>
            <a:pPr algn="ctr"/>
            <a:r>
              <a:rPr sz="1100" b="1" i="0">
                <a:solidFill>
                  <a:srgbClr val="FFFFFF"/>
                </a:solidFill>
              </a:rPr>
              <a:t>Step 2</a:t>
            </a:r>
          </a:p>
        </p:txBody>
      </p:sp>
      <p:sp>
        <p:nvSpPr>
          <p:cNvPr id="13" name="TextBox 12"/>
          <p:cNvSpPr txBox="1"/>
          <p:nvPr/>
        </p:nvSpPr>
        <p:spPr>
          <a:xfrm>
            <a:off x="868680" y="2788920"/>
            <a:ext cx="2560320" cy="320040"/>
          </a:xfrm>
          <a:prstGeom prst="rect">
            <a:avLst/>
          </a:prstGeom>
          <a:noFill/>
        </p:spPr>
        <p:txBody>
          <a:bodyPr wrap="square">
            <a:spAutoFit/>
          </a:bodyPr>
          <a:lstStyle/>
          <a:p>
            <a:pPr algn="l"/>
            <a:r>
              <a:rPr sz="1300" b="1" i="0">
                <a:solidFill>
                  <a:srgbClr val="00A0D0"/>
                </a:solidFill>
              </a:rPr>
              <a:t>Physics Step  (XPBD CUDA graph)</a:t>
            </a:r>
          </a:p>
        </p:txBody>
      </p:sp>
      <p:sp>
        <p:nvSpPr>
          <p:cNvPr id="14" name="TextBox 13"/>
          <p:cNvSpPr txBox="1"/>
          <p:nvPr/>
        </p:nvSpPr>
        <p:spPr>
          <a:xfrm>
            <a:off x="868680" y="3090672"/>
            <a:ext cx="11064240" cy="594360"/>
          </a:xfrm>
          <a:prstGeom prst="rect">
            <a:avLst/>
          </a:prstGeom>
          <a:noFill/>
        </p:spPr>
        <p:txBody>
          <a:bodyPr wrap="square">
            <a:spAutoFit/>
          </a:bodyPr>
          <a:lstStyle/>
          <a:p>
            <a:pPr algn="l"/>
            <a:r>
              <a:rPr sz="1050" b="0" i="0">
                <a:solidFill>
                  <a:srgbClr val="1A1A1A"/>
                </a:solidFill>
              </a:rPr>
              <a:t>CUDA graph replayed — entire N-substep loop fires as one graph node.
Each substep: predict → assemble JMJT → block-Thomas direct solve → apply Δx → integrate.
Vessel-mesh SDF + AABB collision constraints applied before/after solve.
1,300 Hz throughput per environment.  Scales to 512 envs via flat buffer offsets.</a:t>
            </a:r>
          </a:p>
        </p:txBody>
      </p:sp>
      <p:sp>
        <p:nvSpPr>
          <p:cNvPr id="15" name="Rectangle 14"/>
          <p:cNvSpPr/>
          <p:nvPr/>
        </p:nvSpPr>
        <p:spPr>
          <a:xfrm>
            <a:off x="228600" y="3730752"/>
            <a:ext cx="594360" cy="868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 y="3776472"/>
            <a:ext cx="548640" cy="320040"/>
          </a:xfrm>
          <a:prstGeom prst="rect">
            <a:avLst/>
          </a:prstGeom>
          <a:noFill/>
        </p:spPr>
        <p:txBody>
          <a:bodyPr wrap="square">
            <a:spAutoFit/>
          </a:bodyPr>
          <a:lstStyle/>
          <a:p>
            <a:pPr algn="ctr"/>
            <a:r>
              <a:rPr sz="1100" b="1" i="0">
                <a:solidFill>
                  <a:srgbClr val="FFFFFF"/>
                </a:solidFill>
              </a:rPr>
              <a:t>Step 3</a:t>
            </a:r>
          </a:p>
        </p:txBody>
      </p:sp>
      <p:sp>
        <p:nvSpPr>
          <p:cNvPr id="17" name="TextBox 16"/>
          <p:cNvSpPr txBox="1"/>
          <p:nvPr/>
        </p:nvSpPr>
        <p:spPr>
          <a:xfrm>
            <a:off x="868680" y="3749039"/>
            <a:ext cx="2560320" cy="320040"/>
          </a:xfrm>
          <a:prstGeom prst="rect">
            <a:avLst/>
          </a:prstGeom>
          <a:noFill/>
        </p:spPr>
        <p:txBody>
          <a:bodyPr wrap="square">
            <a:spAutoFit/>
          </a:bodyPr>
          <a:lstStyle/>
          <a:p>
            <a:pPr algn="l"/>
            <a:r>
              <a:rPr sz="1300" b="1" i="0">
                <a:solidFill>
                  <a:srgbClr val="E67E22"/>
                </a:solidFill>
              </a:rPr>
              <a:t>Segment Buffer Update</a:t>
            </a:r>
          </a:p>
        </p:txBody>
      </p:sp>
      <p:sp>
        <p:nvSpPr>
          <p:cNvPr id="18" name="TextBox 17"/>
          <p:cNvSpPr txBox="1"/>
          <p:nvPr/>
        </p:nvSpPr>
        <p:spPr>
          <a:xfrm>
            <a:off x="868680" y="4050791"/>
            <a:ext cx="11064240" cy="594360"/>
          </a:xfrm>
          <a:prstGeom prst="rect">
            <a:avLst/>
          </a:prstGeom>
          <a:noFill/>
        </p:spPr>
        <p:txBody>
          <a:bodyPr wrap="square">
            <a:spAutoFit/>
          </a:bodyPr>
          <a:lstStyle/>
          <a:p>
            <a:pPr algn="l"/>
            <a:r>
              <a:rPr sz="1050" b="0" i="0">
                <a:solidFill>
                  <a:srgbClr val="1A1A1A"/>
                </a:solidFill>
              </a:rPr>
              <a:t>Particle positions (N×3 float32, GPU-resident) written to
the renderer's CatheterSegmentData buffer (N×8 floats: xyz0, xyz1, radius, μ).
No host transfer.  No CT volume modification.</a:t>
            </a:r>
          </a:p>
        </p:txBody>
      </p:sp>
      <p:sp>
        <p:nvSpPr>
          <p:cNvPr id="19" name="Rectangle 18"/>
          <p:cNvSpPr/>
          <p:nvPr/>
        </p:nvSpPr>
        <p:spPr>
          <a:xfrm>
            <a:off x="228600" y="4690872"/>
            <a:ext cx="594360" cy="8686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4736592"/>
            <a:ext cx="548640" cy="320040"/>
          </a:xfrm>
          <a:prstGeom prst="rect">
            <a:avLst/>
          </a:prstGeom>
          <a:noFill/>
        </p:spPr>
        <p:txBody>
          <a:bodyPr wrap="square">
            <a:spAutoFit/>
          </a:bodyPr>
          <a:lstStyle/>
          <a:p>
            <a:pPr algn="ctr"/>
            <a:r>
              <a:rPr sz="1100" b="1" i="0">
                <a:solidFill>
                  <a:srgbClr val="FFFFFF"/>
                </a:solidFill>
              </a:rPr>
              <a:t>Step 4</a:t>
            </a:r>
          </a:p>
        </p:txBody>
      </p:sp>
      <p:sp>
        <p:nvSpPr>
          <p:cNvPr id="21" name="TextBox 20"/>
          <p:cNvSpPr txBox="1"/>
          <p:nvPr/>
        </p:nvSpPr>
        <p:spPr>
          <a:xfrm>
            <a:off x="868680" y="4709159"/>
            <a:ext cx="2560320" cy="320040"/>
          </a:xfrm>
          <a:prstGeom prst="rect">
            <a:avLst/>
          </a:prstGeom>
          <a:noFill/>
        </p:spPr>
        <p:txBody>
          <a:bodyPr wrap="square">
            <a:spAutoFit/>
          </a:bodyPr>
          <a:lstStyle/>
          <a:p>
            <a:pPr algn="l"/>
            <a:r>
              <a:rPr sz="1300" b="1" i="0">
                <a:solidFill>
                  <a:srgbClr val="9B59B6"/>
                </a:solidFill>
              </a:rPr>
              <a:t>Render Call  (Slang DRR)</a:t>
            </a:r>
          </a:p>
        </p:txBody>
      </p:sp>
      <p:sp>
        <p:nvSpPr>
          <p:cNvPr id="22" name="TextBox 21"/>
          <p:cNvSpPr txBox="1"/>
          <p:nvPr/>
        </p:nvSpPr>
        <p:spPr>
          <a:xfrm>
            <a:off x="868680" y="5010912"/>
            <a:ext cx="11064240" cy="594360"/>
          </a:xfrm>
          <a:prstGeom prst="rect">
            <a:avLst/>
          </a:prstGeom>
          <a:noFill/>
        </p:spPr>
        <p:txBody>
          <a:bodyPr wrap="square">
            <a:spAutoFit/>
          </a:bodyPr>
          <a:lstStyle/>
          <a:p>
            <a:pPr algn="l"/>
            <a:r>
              <a:rPr sz="1050" b="0" i="0">
                <a:solidFill>
                  <a:srgbClr val="1A1A1A"/>
                </a:solidFill>
              </a:rPr>
              <a:t>Ray-march kernel dispatched over H×W detector grid.
CT μ-volume is a static GPU texture — never reloaded per frame.
Catheter composited inline: μ_total(s) = μ_CT(s) + Σᵢ μᵢ · √(1−dᵢ²/rᵢ²)
Realism pipeline: Poisson noise → PSF → gamma → misregistration jitter.</a:t>
            </a:r>
          </a:p>
        </p:txBody>
      </p:sp>
      <p:sp>
        <p:nvSpPr>
          <p:cNvPr id="23" name="Rectangle 22"/>
          <p:cNvSpPr/>
          <p:nvPr/>
        </p:nvSpPr>
        <p:spPr>
          <a:xfrm>
            <a:off x="228600" y="5650992"/>
            <a:ext cx="594360" cy="8686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5696712"/>
            <a:ext cx="548640" cy="320040"/>
          </a:xfrm>
          <a:prstGeom prst="rect">
            <a:avLst/>
          </a:prstGeom>
          <a:noFill/>
        </p:spPr>
        <p:txBody>
          <a:bodyPr wrap="square">
            <a:spAutoFit/>
          </a:bodyPr>
          <a:lstStyle/>
          <a:p>
            <a:pPr algn="ctr"/>
            <a:r>
              <a:rPr sz="1100" b="1" i="0">
                <a:solidFill>
                  <a:srgbClr val="FFFFFF"/>
                </a:solidFill>
              </a:rPr>
              <a:t>Step 5</a:t>
            </a:r>
          </a:p>
        </p:txBody>
      </p:sp>
      <p:sp>
        <p:nvSpPr>
          <p:cNvPr id="25" name="TextBox 24"/>
          <p:cNvSpPr txBox="1"/>
          <p:nvPr/>
        </p:nvSpPr>
        <p:spPr>
          <a:xfrm>
            <a:off x="868680" y="5669279"/>
            <a:ext cx="2560320" cy="320040"/>
          </a:xfrm>
          <a:prstGeom prst="rect">
            <a:avLst/>
          </a:prstGeom>
          <a:noFill/>
        </p:spPr>
        <p:txBody>
          <a:bodyPr wrap="square">
            <a:spAutoFit/>
          </a:bodyPr>
          <a:lstStyle/>
          <a:p>
            <a:pPr algn="l"/>
            <a:r>
              <a:rPr sz="1300" b="1" i="0">
                <a:solidFill>
                  <a:srgbClr val="555555"/>
                </a:solidFill>
              </a:rPr>
              <a:t>Output</a:t>
            </a:r>
          </a:p>
        </p:txBody>
      </p:sp>
      <p:sp>
        <p:nvSpPr>
          <p:cNvPr id="26" name="TextBox 25"/>
          <p:cNvSpPr txBox="1"/>
          <p:nvPr/>
        </p:nvSpPr>
        <p:spPr>
          <a:xfrm>
            <a:off x="868680" y="5971031"/>
            <a:ext cx="11064240" cy="594360"/>
          </a:xfrm>
          <a:prstGeom prst="rect">
            <a:avLst/>
          </a:prstGeom>
          <a:noFill/>
        </p:spPr>
        <p:txBody>
          <a:bodyPr wrap="square">
            <a:spAutoFit/>
          </a:bodyPr>
          <a:lstStyle/>
          <a:p>
            <a:pPr algn="l"/>
            <a:r>
              <a:rPr sz="1050" b="0" i="0">
                <a:solidFill>
                  <a:srgbClr val="1A1A1A"/>
                </a:solidFill>
              </a:rPr>
              <a:t>Fluoroscopy frame (H×W float32, GPU tensor) → RL policy input.
Catheter state vector (tip xyz, orientation, insertion depth) → reward.
Both outputs GPU-resident.  No host round-trip.</a:t>
            </a:r>
          </a:p>
        </p:txBody>
      </p:sp>
      <p:sp>
        <p:nvSpPr>
          <p:cNvPr id="27" name="TextBox 26"/>
          <p:cNvSpPr txBox="1"/>
          <p:nvPr/>
        </p:nvSpPr>
        <p:spPr>
          <a:xfrm>
            <a:off x="274320" y="6492240"/>
            <a:ext cx="11612880" cy="274320"/>
          </a:xfrm>
          <a:prstGeom prst="rect">
            <a:avLst/>
          </a:prstGeom>
          <a:noFill/>
        </p:spPr>
        <p:txBody>
          <a:bodyPr wrap="square">
            <a:spAutoFit/>
          </a:bodyPr>
          <a:lstStyle/>
          <a:p>
            <a:pPr algn="l"/>
            <a:r>
              <a:rPr sz="1100" b="1" i="0">
                <a:solidFill>
                  <a:srgbClr val="76B900"/>
                </a:solidFill>
              </a:rPr>
              <a:t>Why this is fast:  CT volume never moves.  Only the N×8 catheter buffer changes per frame.  CUDA graph eliminates physics launch overhead.  ~63 FPS @ 256² / ~25 FPS @ 512² (A6000).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Newton Upstream Algorithms — Ported to Isaac Lab</a:t>
            </a:r>
          </a:p>
        </p:txBody>
      </p:sp>
      <p:sp>
        <p:nvSpPr>
          <p:cNvPr id="6" name="TextBox 5"/>
          <p:cNvSpPr txBox="1"/>
          <p:nvPr/>
        </p:nvSpPr>
        <p:spPr>
          <a:xfrm>
            <a:off x="274320" y="1463040"/>
            <a:ext cx="11612880" cy="411480"/>
          </a:xfrm>
          <a:prstGeom prst="rect">
            <a:avLst/>
          </a:prstGeom>
          <a:noFill/>
        </p:spPr>
        <p:txBody>
          <a:bodyPr wrap="square">
            <a:spAutoFit/>
          </a:bodyPr>
          <a:lstStyle/>
          <a:p>
            <a:pPr algn="l"/>
            <a:r>
              <a:rPr sz="1200" b="0" i="1">
                <a:solidFill>
                  <a:srgbClr val="555555"/>
                </a:solidFill>
              </a:rPr>
              <a:t>XPBDRodSolver is a faithful port of Newton's SolverXPBDRod (PR #1981).  Feature parity maintained — research advances in Newton propagate directly into the Isaac Lab training environment.</a:t>
            </a:r>
          </a:p>
        </p:txBody>
      </p:sp>
      <p:sp>
        <p:nvSpPr>
          <p:cNvPr id="7" name="TextBox 6"/>
          <p:cNvSpPr txBox="1"/>
          <p:nvPr/>
        </p:nvSpPr>
        <p:spPr>
          <a:xfrm>
            <a:off x="274320" y="1965960"/>
            <a:ext cx="5669280" cy="365760"/>
          </a:xfrm>
          <a:prstGeom prst="rect">
            <a:avLst/>
          </a:prstGeom>
          <a:noFill/>
        </p:spPr>
        <p:txBody>
          <a:bodyPr wrap="square">
            <a:spAutoFit/>
          </a:bodyPr>
          <a:lstStyle/>
          <a:p>
            <a:pPr algn="l"/>
            <a:r>
              <a:rPr sz="1600" b="1" i="0">
                <a:solidFill>
                  <a:srgbClr val="76B900"/>
                </a:solidFill>
              </a:rPr>
              <a:t>Core Algorithms Upstreamed</a:t>
            </a:r>
          </a:p>
        </p:txBody>
      </p:sp>
      <p:sp>
        <p:nvSpPr>
          <p:cNvPr id="8" name="Rectangle 7"/>
          <p:cNvSpPr/>
          <p:nvPr/>
        </p:nvSpPr>
        <p:spPr>
          <a:xfrm>
            <a:off x="274320" y="2359152"/>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368296"/>
            <a:ext cx="5394960" cy="256032"/>
          </a:xfrm>
          <a:prstGeom prst="rect">
            <a:avLst/>
          </a:prstGeom>
          <a:noFill/>
        </p:spPr>
        <p:txBody>
          <a:bodyPr wrap="square">
            <a:spAutoFit/>
          </a:bodyPr>
          <a:lstStyle/>
          <a:p>
            <a:pPr algn="l"/>
            <a:r>
              <a:rPr sz="1200" b="1" i="0">
                <a:solidFill>
                  <a:srgbClr val="1A1A1A"/>
                </a:solidFill>
              </a:rPr>
              <a:t>Block-Thomas Direct Solve</a:t>
            </a:r>
          </a:p>
        </p:txBody>
      </p:sp>
      <p:sp>
        <p:nvSpPr>
          <p:cNvPr id="10" name="TextBox 9"/>
          <p:cNvSpPr txBox="1"/>
          <p:nvPr/>
        </p:nvSpPr>
        <p:spPr>
          <a:xfrm>
            <a:off x="411480" y="2615184"/>
            <a:ext cx="5394960" cy="347472"/>
          </a:xfrm>
          <a:prstGeom prst="rect">
            <a:avLst/>
          </a:prstGeom>
          <a:noFill/>
        </p:spPr>
        <p:txBody>
          <a:bodyPr wrap="square">
            <a:spAutoFit/>
          </a:bodyPr>
          <a:lstStyle/>
          <a:p>
            <a:pPr algn="l"/>
            <a:r>
              <a:rPr sz="1050" b="0" i="0">
                <a:solidFill>
                  <a:srgbClr val="555555"/>
                </a:solidFill>
              </a:rPr>
              <a:t>Tridiagonal block factorization for the XPBD constraint system.
Linear in rod length O(N).  Numerically stable for stiff Cosserat rods.
Runs entirely on GPU — no LAPACK, no CPU fallback.</a:t>
            </a:r>
          </a:p>
        </p:txBody>
      </p:sp>
      <p:sp>
        <p:nvSpPr>
          <p:cNvPr id="11" name="Rectangle 10"/>
          <p:cNvSpPr/>
          <p:nvPr/>
        </p:nvSpPr>
        <p:spPr>
          <a:xfrm>
            <a:off x="274320" y="2980944"/>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990088"/>
            <a:ext cx="5394960" cy="256032"/>
          </a:xfrm>
          <a:prstGeom prst="rect">
            <a:avLst/>
          </a:prstGeom>
          <a:noFill/>
        </p:spPr>
        <p:txBody>
          <a:bodyPr wrap="square">
            <a:spAutoFit/>
          </a:bodyPr>
          <a:lstStyle/>
          <a:p>
            <a:pPr algn="l"/>
            <a:r>
              <a:rPr sz="1200" b="1" i="0">
                <a:solidFill>
                  <a:srgbClr val="1A1A1A"/>
                </a:solidFill>
              </a:rPr>
              <a:t>Split-Thomas Solve</a:t>
            </a:r>
          </a:p>
        </p:txBody>
      </p:sp>
      <p:sp>
        <p:nvSpPr>
          <p:cNvPr id="13" name="TextBox 12"/>
          <p:cNvSpPr txBox="1"/>
          <p:nvPr/>
        </p:nvSpPr>
        <p:spPr>
          <a:xfrm>
            <a:off x="411480" y="3236976"/>
            <a:ext cx="5394960" cy="347472"/>
          </a:xfrm>
          <a:prstGeom prst="rect">
            <a:avLst/>
          </a:prstGeom>
          <a:noFill/>
        </p:spPr>
        <p:txBody>
          <a:bodyPr wrap="square">
            <a:spAutoFit/>
          </a:bodyPr>
          <a:lstStyle/>
          <a:p>
            <a:pPr algn="l"/>
            <a:r>
              <a:rPr sz="1050" b="0" i="0">
                <a:solidFill>
                  <a:srgbClr val="555555"/>
                </a:solidFill>
              </a:rPr>
              <a:t>Decoupled positional and rotational Thomas passes.
Alternative backend selectable via XPBD_DIRECT_SOLVE_SPLIT_THOMAS.</a:t>
            </a:r>
          </a:p>
        </p:txBody>
      </p:sp>
      <p:sp>
        <p:nvSpPr>
          <p:cNvPr id="14" name="Rectangle 13"/>
          <p:cNvSpPr/>
          <p:nvPr/>
        </p:nvSpPr>
        <p:spPr>
          <a:xfrm>
            <a:off x="274320" y="3602736"/>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611880"/>
            <a:ext cx="5394960" cy="256032"/>
          </a:xfrm>
          <a:prstGeom prst="rect">
            <a:avLst/>
          </a:prstGeom>
          <a:noFill/>
        </p:spPr>
        <p:txBody>
          <a:bodyPr wrap="square">
            <a:spAutoFit/>
          </a:bodyPr>
          <a:lstStyle/>
          <a:p>
            <a:pPr algn="l"/>
            <a:r>
              <a:rPr sz="1200" b="1" i="0">
                <a:solidFill>
                  <a:srgbClr val="1A1A1A"/>
                </a:solidFill>
              </a:rPr>
              <a:t>Block-Jacobi Solve</a:t>
            </a:r>
          </a:p>
        </p:txBody>
      </p:sp>
      <p:sp>
        <p:nvSpPr>
          <p:cNvPr id="16" name="TextBox 15"/>
          <p:cNvSpPr txBox="1"/>
          <p:nvPr/>
        </p:nvSpPr>
        <p:spPr>
          <a:xfrm>
            <a:off x="411480" y="3858768"/>
            <a:ext cx="5394960" cy="347472"/>
          </a:xfrm>
          <a:prstGeom prst="rect">
            <a:avLst/>
          </a:prstGeom>
          <a:noFill/>
        </p:spPr>
        <p:txBody>
          <a:bodyPr wrap="square">
            <a:spAutoFit/>
          </a:bodyPr>
          <a:lstStyle/>
          <a:p>
            <a:pPr algn="l"/>
            <a:r>
              <a:rPr sz="1050" b="0" i="0">
                <a:solidFill>
                  <a:srgbClr val="555555"/>
                </a:solidFill>
              </a:rPr>
              <a:t>Parallel block-diagonal approximation.  Lower memory bandwidth.
Useful when block-Thomas bandwidth is the bottleneck at very high N.</a:t>
            </a:r>
          </a:p>
        </p:txBody>
      </p:sp>
      <p:sp>
        <p:nvSpPr>
          <p:cNvPr id="17" name="Rectangle 16"/>
          <p:cNvSpPr/>
          <p:nvPr/>
        </p:nvSpPr>
        <p:spPr>
          <a:xfrm>
            <a:off x="274320" y="4224528"/>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233672"/>
            <a:ext cx="5394960" cy="256032"/>
          </a:xfrm>
          <a:prstGeom prst="rect">
            <a:avLst/>
          </a:prstGeom>
          <a:noFill/>
        </p:spPr>
        <p:txBody>
          <a:bodyPr wrap="square">
            <a:spAutoFit/>
          </a:bodyPr>
          <a:lstStyle/>
          <a:p>
            <a:pPr algn="l"/>
            <a:r>
              <a:rPr sz="1200" b="1" i="0">
                <a:solidFill>
                  <a:srgbClr val="1A1A1A"/>
                </a:solidFill>
              </a:rPr>
              <a:t>Banded Cholesky Solve</a:t>
            </a:r>
          </a:p>
        </p:txBody>
      </p:sp>
      <p:sp>
        <p:nvSpPr>
          <p:cNvPr id="19" name="TextBox 18"/>
          <p:cNvSpPr txBox="1"/>
          <p:nvPr/>
        </p:nvSpPr>
        <p:spPr>
          <a:xfrm>
            <a:off x="411480" y="4480560"/>
            <a:ext cx="5394960" cy="347472"/>
          </a:xfrm>
          <a:prstGeom prst="rect">
            <a:avLst/>
          </a:prstGeom>
          <a:noFill/>
        </p:spPr>
        <p:txBody>
          <a:bodyPr wrap="square">
            <a:spAutoFit/>
          </a:bodyPr>
          <a:lstStyle/>
          <a:p>
            <a:pPr algn="l"/>
            <a:r>
              <a:rPr sz="1050" b="0" i="0">
                <a:solidFill>
                  <a:srgbClr val="555555"/>
                </a:solidFill>
              </a:rPr>
              <a:t>Half-bandwidth KD=11, leading dimension LDAB=34.
Exact Cholesky for small dense systems (N_dof ≤ 64).</a:t>
            </a:r>
          </a:p>
        </p:txBody>
      </p:sp>
      <p:sp>
        <p:nvSpPr>
          <p:cNvPr id="20" name="Rectangle 19"/>
          <p:cNvSpPr/>
          <p:nvPr/>
        </p:nvSpPr>
        <p:spPr>
          <a:xfrm>
            <a:off x="274320" y="4846320"/>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55464"/>
            <a:ext cx="5394960" cy="256032"/>
          </a:xfrm>
          <a:prstGeom prst="rect">
            <a:avLst/>
          </a:prstGeom>
          <a:noFill/>
        </p:spPr>
        <p:txBody>
          <a:bodyPr wrap="square">
            <a:spAutoFit/>
          </a:bodyPr>
          <a:lstStyle/>
          <a:p>
            <a:pPr algn="l"/>
            <a:r>
              <a:rPr sz="1200" b="1" i="0">
                <a:solidFill>
                  <a:srgbClr val="1A1A1A"/>
                </a:solidFill>
              </a:rPr>
              <a:t>Tiled Cholesky (GPU tile)</a:t>
            </a:r>
          </a:p>
        </p:txBody>
      </p:sp>
      <p:sp>
        <p:nvSpPr>
          <p:cNvPr id="22" name="TextBox 21"/>
          <p:cNvSpPr txBox="1"/>
          <p:nvPr/>
        </p:nvSpPr>
        <p:spPr>
          <a:xfrm>
            <a:off x="411480" y="5102352"/>
            <a:ext cx="5394960" cy="347472"/>
          </a:xfrm>
          <a:prstGeom prst="rect">
            <a:avLst/>
          </a:prstGeom>
          <a:noFill/>
        </p:spPr>
        <p:txBody>
          <a:bodyPr wrap="square">
            <a:spAutoFit/>
          </a:bodyPr>
          <a:lstStyle/>
          <a:p>
            <a:pPr algn="l"/>
            <a:r>
              <a:rPr sz="1050" b="0" i="0">
                <a:solidFill>
                  <a:srgbClr val="555555"/>
                </a:solidFill>
              </a:rPr>
              <a:t>wp.tile_load for small dense systems — fits in shared memory tile.
Avoids global memory round-trip for &lt;64-DOF sub-problems.</a:t>
            </a:r>
          </a:p>
        </p:txBody>
      </p:sp>
      <p:sp>
        <p:nvSpPr>
          <p:cNvPr id="23" name="Rectangle 22"/>
          <p:cNvSpPr/>
          <p:nvPr/>
        </p:nvSpPr>
        <p:spPr>
          <a:xfrm>
            <a:off x="274320" y="5468112"/>
            <a:ext cx="73152" cy="5669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5477255"/>
            <a:ext cx="5394960" cy="256032"/>
          </a:xfrm>
          <a:prstGeom prst="rect">
            <a:avLst/>
          </a:prstGeom>
          <a:noFill/>
        </p:spPr>
        <p:txBody>
          <a:bodyPr wrap="square">
            <a:spAutoFit/>
          </a:bodyPr>
          <a:lstStyle/>
          <a:p>
            <a:pPr algn="l"/>
            <a:r>
              <a:rPr sz="1200" b="1" i="0">
                <a:solidFill>
                  <a:srgbClr val="1A1A1A"/>
                </a:solidFill>
              </a:rPr>
              <a:t>Floor Collision</a:t>
            </a:r>
          </a:p>
        </p:txBody>
      </p:sp>
      <p:sp>
        <p:nvSpPr>
          <p:cNvPr id="25" name="TextBox 24"/>
          <p:cNvSpPr txBox="1"/>
          <p:nvPr/>
        </p:nvSpPr>
        <p:spPr>
          <a:xfrm>
            <a:off x="411480" y="5724144"/>
            <a:ext cx="5394960" cy="347472"/>
          </a:xfrm>
          <a:prstGeom prst="rect">
            <a:avLst/>
          </a:prstGeom>
          <a:noFill/>
        </p:spPr>
        <p:txBody>
          <a:bodyPr wrap="square">
            <a:spAutoFit/>
          </a:bodyPr>
          <a:lstStyle/>
          <a:p>
            <a:pPr algn="l"/>
            <a:r>
              <a:rPr sz="1050" b="0" i="0">
                <a:solidFill>
                  <a:srgbClr val="555555"/>
                </a:solidFill>
              </a:rPr>
              <a:t>Configurable restitution coefficient (0–1).
Applied as a position correction constraint — parity with Newton upstream.</a:t>
            </a:r>
          </a:p>
        </p:txBody>
      </p:sp>
      <p:sp>
        <p:nvSpPr>
          <p:cNvPr id="26" name="TextBox 25"/>
          <p:cNvSpPr txBox="1"/>
          <p:nvPr/>
        </p:nvSpPr>
        <p:spPr>
          <a:xfrm>
            <a:off x="6217920" y="1965960"/>
            <a:ext cx="5669280" cy="365760"/>
          </a:xfrm>
          <a:prstGeom prst="rect">
            <a:avLst/>
          </a:prstGeom>
          <a:noFill/>
        </p:spPr>
        <p:txBody>
          <a:bodyPr wrap="square">
            <a:spAutoFit/>
          </a:bodyPr>
          <a:lstStyle/>
          <a:p>
            <a:pPr algn="l"/>
            <a:r>
              <a:rPr sz="1600" b="1" i="0">
                <a:solidFill>
                  <a:srgbClr val="00A0D0"/>
                </a:solidFill>
              </a:rPr>
              <a:t>Vessel-Mesh Collision (XCathRodSolver)</a:t>
            </a:r>
          </a:p>
        </p:txBody>
      </p:sp>
      <p:sp>
        <p:nvSpPr>
          <p:cNvPr id="27" name="Rectangle 26"/>
          <p:cNvSpPr/>
          <p:nvPr/>
        </p:nvSpPr>
        <p:spPr>
          <a:xfrm>
            <a:off x="6217920" y="2359152"/>
            <a:ext cx="73152" cy="713232"/>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2368296"/>
            <a:ext cx="5577840" cy="256032"/>
          </a:xfrm>
          <a:prstGeom prst="rect">
            <a:avLst/>
          </a:prstGeom>
          <a:noFill/>
        </p:spPr>
        <p:txBody>
          <a:bodyPr wrap="square">
            <a:spAutoFit/>
          </a:bodyPr>
          <a:lstStyle/>
          <a:p>
            <a:pPr algn="l"/>
            <a:r>
              <a:rPr sz="1200" b="1" i="0">
                <a:solidFill>
                  <a:srgbClr val="1A1A1A"/>
                </a:solidFill>
              </a:rPr>
              <a:t>SDF Containment  (wp.mesh_query_point_sign_normal)</a:t>
            </a:r>
          </a:p>
        </p:txBody>
      </p:sp>
      <p:sp>
        <p:nvSpPr>
          <p:cNvPr id="29" name="TextBox 28"/>
          <p:cNvSpPr txBox="1"/>
          <p:nvPr/>
        </p:nvSpPr>
        <p:spPr>
          <a:xfrm>
            <a:off x="6355080" y="2615184"/>
            <a:ext cx="5577840" cy="475488"/>
          </a:xfrm>
          <a:prstGeom prst="rect">
            <a:avLst/>
          </a:prstGeom>
          <a:noFill/>
        </p:spPr>
        <p:txBody>
          <a:bodyPr wrap="square">
            <a:spAutoFit/>
          </a:bodyPr>
          <a:lstStyle/>
          <a:p>
            <a:pPr algn="l"/>
            <a:r>
              <a:rPr sz="1050" b="0" i="0">
                <a:solidFill>
                  <a:srgbClr val="555555"/>
                </a:solidFill>
              </a:rPr>
              <a:t>BVH query per particle.  Signed distance to nearest surface point.
Particles outside vessel lumen projected back along surface normal.
sign_scale=1.0, target_phi=−0.001 m (1 mm inside wall).</a:t>
            </a:r>
          </a:p>
        </p:txBody>
      </p:sp>
      <p:sp>
        <p:nvSpPr>
          <p:cNvPr id="30" name="Rectangle 29"/>
          <p:cNvSpPr/>
          <p:nvPr/>
        </p:nvSpPr>
        <p:spPr>
          <a:xfrm>
            <a:off x="6217920" y="3127248"/>
            <a:ext cx="73152" cy="713232"/>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3136391"/>
            <a:ext cx="5577840" cy="256032"/>
          </a:xfrm>
          <a:prstGeom prst="rect">
            <a:avLst/>
          </a:prstGeom>
          <a:noFill/>
        </p:spPr>
        <p:txBody>
          <a:bodyPr wrap="square">
            <a:spAutoFit/>
          </a:bodyPr>
          <a:lstStyle/>
          <a:p>
            <a:pPr algn="l"/>
            <a:r>
              <a:rPr sz="1200" b="1" i="0">
                <a:solidFill>
                  <a:srgbClr val="1A1A1A"/>
                </a:solidFill>
              </a:rPr>
              <a:t>AABB Broadphase  (wp.mesh_query_aabb)</a:t>
            </a:r>
          </a:p>
        </p:txBody>
      </p:sp>
      <p:sp>
        <p:nvSpPr>
          <p:cNvPr id="32" name="TextBox 31"/>
          <p:cNvSpPr txBox="1"/>
          <p:nvPr/>
        </p:nvSpPr>
        <p:spPr>
          <a:xfrm>
            <a:off x="6355080" y="3383280"/>
            <a:ext cx="5577840" cy="475488"/>
          </a:xfrm>
          <a:prstGeom prst="rect">
            <a:avLst/>
          </a:prstGeom>
          <a:noFill/>
        </p:spPr>
        <p:txBody>
          <a:bodyPr wrap="square">
            <a:spAutoFit/>
          </a:bodyPr>
          <a:lstStyle/>
          <a:p>
            <a:pPr algn="l"/>
            <a:r>
              <a:rPr sz="1050" b="0" i="0">
                <a:solidFill>
                  <a:srgbClr val="555555"/>
                </a:solidFill>
              </a:rPr>
              <a:t>Rod-segment bounding box queried against mesh triangle AABB tree.
Candidate triangle faces → vertex-triangle + rod-segment-to-edge contacts.
collision_iterations=2 per substep.</a:t>
            </a:r>
          </a:p>
        </p:txBody>
      </p:sp>
      <p:sp>
        <p:nvSpPr>
          <p:cNvPr id="33" name="Rectangle 32"/>
          <p:cNvSpPr/>
          <p:nvPr/>
        </p:nvSpPr>
        <p:spPr>
          <a:xfrm>
            <a:off x="6217920" y="3895344"/>
            <a:ext cx="73152" cy="713232"/>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3904487"/>
            <a:ext cx="5577840" cy="256032"/>
          </a:xfrm>
          <a:prstGeom prst="rect">
            <a:avLst/>
          </a:prstGeom>
          <a:noFill/>
        </p:spPr>
        <p:txBody>
          <a:bodyPr wrap="square">
            <a:spAutoFit/>
          </a:bodyPr>
          <a:lstStyle/>
          <a:p>
            <a:pPr algn="l"/>
            <a:r>
              <a:rPr sz="1200" b="1" i="0">
                <a:solidFill>
                  <a:srgbClr val="1A1A1A"/>
                </a:solidFill>
              </a:rPr>
              <a:t>Track-Guided Insertion</a:t>
            </a:r>
          </a:p>
        </p:txBody>
      </p:sp>
      <p:sp>
        <p:nvSpPr>
          <p:cNvPr id="35" name="TextBox 34"/>
          <p:cNvSpPr txBox="1"/>
          <p:nvPr/>
        </p:nvSpPr>
        <p:spPr>
          <a:xfrm>
            <a:off x="6355080" y="4151376"/>
            <a:ext cx="5577840" cy="475488"/>
          </a:xfrm>
          <a:prstGeom prst="rect">
            <a:avLst/>
          </a:prstGeom>
          <a:noFill/>
        </p:spPr>
        <p:txBody>
          <a:bodyPr wrap="square">
            <a:spAutoFit/>
          </a:bodyPr>
          <a:lstStyle/>
          <a:p>
            <a:pPr algn="l"/>
            <a:r>
              <a:rPr sz="1050" b="0" i="0">
                <a:solidFill>
                  <a:srgbClr val="555555"/>
                </a:solidFill>
              </a:rPr>
              <a:t>Non-tip particles projected to linear insertion axis.
track_start + track_dir + track_length define the sheath entry axis.
tip_num_edges controls how many distal segments are free to deflect.</a:t>
            </a:r>
          </a:p>
        </p:txBody>
      </p:sp>
      <p:sp>
        <p:nvSpPr>
          <p:cNvPr id="36" name="Rectangle 35"/>
          <p:cNvSpPr/>
          <p:nvPr/>
        </p:nvSpPr>
        <p:spPr>
          <a:xfrm>
            <a:off x="6217920" y="4663440"/>
            <a:ext cx="73152" cy="713232"/>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4672583"/>
            <a:ext cx="5577840" cy="256032"/>
          </a:xfrm>
          <a:prstGeom prst="rect">
            <a:avLst/>
          </a:prstGeom>
          <a:noFill/>
        </p:spPr>
        <p:txBody>
          <a:bodyPr wrap="square">
            <a:spAutoFit/>
          </a:bodyPr>
          <a:lstStyle/>
          <a:p>
            <a:pPr algn="l"/>
            <a:r>
              <a:rPr sz="1200" b="1" i="0">
                <a:solidFill>
                  <a:srgbClr val="1A1A1A"/>
                </a:solidFill>
              </a:rPr>
              <a:t>Constraint Hooks</a:t>
            </a:r>
          </a:p>
        </p:txBody>
      </p:sp>
      <p:sp>
        <p:nvSpPr>
          <p:cNvPr id="38" name="TextBox 37"/>
          <p:cNvSpPr txBox="1"/>
          <p:nvPr/>
        </p:nvSpPr>
        <p:spPr>
          <a:xfrm>
            <a:off x="6355080" y="4919472"/>
            <a:ext cx="5577840" cy="475488"/>
          </a:xfrm>
          <a:prstGeom prst="rect">
            <a:avLst/>
          </a:prstGeom>
          <a:noFill/>
        </p:spPr>
        <p:txBody>
          <a:bodyPr wrap="square">
            <a:spAutoFit/>
          </a:bodyPr>
          <a:lstStyle/>
          <a:p>
            <a:pPr algn="l"/>
            <a:r>
              <a:rPr sz="1050" b="0" i="0">
                <a:solidFill>
                  <a:srgbClr val="555555"/>
                </a:solidFill>
              </a:rPr>
              <a:t>_pre_constraints_hook: vessel SDF applied before XPBD stretch/bend.
_post_constraints_hook: AABB edge contacts applied after XPBD solve.
Extensible — additional constraint classes can be injected here.</a:t>
            </a:r>
          </a:p>
        </p:txBody>
      </p:sp>
      <p:sp>
        <p:nvSpPr>
          <p:cNvPr id="39" name="Rectangle 38"/>
          <p:cNvSpPr/>
          <p:nvPr/>
        </p:nvSpPr>
        <p:spPr>
          <a:xfrm>
            <a:off x="6217920" y="5431536"/>
            <a:ext cx="73152" cy="713232"/>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5440679"/>
            <a:ext cx="5577840" cy="256032"/>
          </a:xfrm>
          <a:prstGeom prst="rect">
            <a:avLst/>
          </a:prstGeom>
          <a:noFill/>
        </p:spPr>
        <p:txBody>
          <a:bodyPr wrap="square">
            <a:spAutoFit/>
          </a:bodyPr>
          <a:lstStyle/>
          <a:p>
            <a:pPr algn="l"/>
            <a:r>
              <a:rPr sz="1200" b="1" i="0">
                <a:solidFill>
                  <a:srgbClr val="1A1A1A"/>
                </a:solidFill>
              </a:rPr>
              <a:t>CUDA-Graph Compatible</a:t>
            </a:r>
          </a:p>
        </p:txBody>
      </p:sp>
      <p:sp>
        <p:nvSpPr>
          <p:cNvPr id="41" name="TextBox 40"/>
          <p:cNvSpPr txBox="1"/>
          <p:nvPr/>
        </p:nvSpPr>
        <p:spPr>
          <a:xfrm>
            <a:off x="6355080" y="5687568"/>
            <a:ext cx="5577840" cy="475488"/>
          </a:xfrm>
          <a:prstGeom prst="rect">
            <a:avLst/>
          </a:prstGeom>
          <a:noFill/>
        </p:spPr>
        <p:txBody>
          <a:bodyPr wrap="square">
            <a:spAutoFit/>
          </a:bodyPr>
          <a:lstStyle/>
          <a:p>
            <a:pPr algn="l"/>
            <a:r>
              <a:rPr sz="1050" b="0" i="0">
                <a:solidFill>
                  <a:srgbClr val="555555"/>
                </a:solidFill>
              </a:rPr>
              <a:t>All collision kernels are Warp kernels captured inside the same
CUDA graph as the XPBD substep loop.  Zero CPU sync per substep.</a:t>
            </a:r>
          </a:p>
        </p:txBody>
      </p:sp>
      <p:sp>
        <p:nvSpPr>
          <p:cNvPr id="42" name="Rectangle 41"/>
          <p:cNvSpPr/>
          <p:nvPr/>
        </p:nvSpPr>
        <p:spPr>
          <a:xfrm>
            <a:off x="6126480" y="1965960"/>
            <a:ext cx="36576" cy="47548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Multi-Environment Batched Physics — 512 Parallel Rods</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All N environments dispatched in a single Warp kernel launch and a single CUDA graph replay.  No per-environment CPU synchronization.</a:t>
            </a:r>
          </a:p>
        </p:txBody>
      </p:sp>
      <p:sp>
        <p:nvSpPr>
          <p:cNvPr id="7" name="TextBox 6"/>
          <p:cNvSpPr txBox="1"/>
          <p:nvPr/>
        </p:nvSpPr>
        <p:spPr>
          <a:xfrm>
            <a:off x="274320" y="1920240"/>
            <a:ext cx="7315200" cy="347472"/>
          </a:xfrm>
          <a:prstGeom prst="rect">
            <a:avLst/>
          </a:prstGeom>
          <a:noFill/>
        </p:spPr>
        <p:txBody>
          <a:bodyPr wrap="square">
            <a:spAutoFit/>
          </a:bodyPr>
          <a:lstStyle/>
          <a:p>
            <a:pPr algn="l"/>
            <a:r>
              <a:rPr sz="1600" b="1" i="0">
                <a:solidFill>
                  <a:srgbClr val="76B900"/>
                </a:solidFill>
              </a:rPr>
              <a:t>How Batching Works</a:t>
            </a:r>
          </a:p>
        </p:txBody>
      </p:sp>
      <p:sp>
        <p:nvSpPr>
          <p:cNvPr id="8" name="Rectangle 7"/>
          <p:cNvSpPr/>
          <p:nvPr/>
        </p:nvSpPr>
        <p:spPr>
          <a:xfrm>
            <a:off x="274320" y="2432304"/>
            <a:ext cx="73152"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359152"/>
            <a:ext cx="7132320" cy="384048"/>
          </a:xfrm>
          <a:prstGeom prst="rect">
            <a:avLst/>
          </a:prstGeom>
          <a:noFill/>
        </p:spPr>
        <p:txBody>
          <a:bodyPr wrap="square">
            <a:spAutoFit/>
          </a:bodyPr>
          <a:lstStyle/>
          <a:p>
            <a:pPr algn="l"/>
            <a:r>
              <a:rPr sz="1200" b="0" i="0">
                <a:solidFill>
                  <a:srgbClr val="1A1A1A"/>
                </a:solidFill>
              </a:rPr>
              <a:t>_BatchedWorkspace allocates flat contiguous GPU buffers:  positions[total_particles × 3],  orientations[total_particles × 4].</a:t>
            </a:r>
          </a:p>
        </p:txBody>
      </p:sp>
      <p:sp>
        <p:nvSpPr>
          <p:cNvPr id="10" name="Rectangle 9"/>
          <p:cNvSpPr/>
          <p:nvPr/>
        </p:nvSpPr>
        <p:spPr>
          <a:xfrm>
            <a:off x="274320" y="2889504"/>
            <a:ext cx="73152"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816352"/>
            <a:ext cx="7132320" cy="384048"/>
          </a:xfrm>
          <a:prstGeom prst="rect">
            <a:avLst/>
          </a:prstGeom>
          <a:noFill/>
        </p:spPr>
        <p:txBody>
          <a:bodyPr wrap="square">
            <a:spAutoFit/>
          </a:bodyPr>
          <a:lstStyle/>
          <a:p>
            <a:pPr algn="l"/>
            <a:r>
              <a:rPr sz="1200" b="0" i="0">
                <a:solidFill>
                  <a:srgbClr val="1A1A1A"/>
                </a:solidFill>
              </a:rPr>
              <a:t>rod_offsets[r] and edge_offsets[r] give each environment's slice — one kernel launch processes all rods in parallel without branching.</a:t>
            </a:r>
          </a:p>
        </p:txBody>
      </p:sp>
      <p:sp>
        <p:nvSpPr>
          <p:cNvPr id="12" name="Rectangle 11"/>
          <p:cNvSpPr/>
          <p:nvPr/>
        </p:nvSpPr>
        <p:spPr>
          <a:xfrm>
            <a:off x="274320" y="3346704"/>
            <a:ext cx="73152"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273552"/>
            <a:ext cx="7132320" cy="384048"/>
          </a:xfrm>
          <a:prstGeom prst="rect">
            <a:avLst/>
          </a:prstGeom>
          <a:noFill/>
        </p:spPr>
        <p:txBody>
          <a:bodyPr wrap="square">
            <a:spAutoFit/>
          </a:bodyPr>
          <a:lstStyle/>
          <a:p>
            <a:pPr algn="l"/>
            <a:r>
              <a:rPr sz="1200" b="0" i="0">
                <a:solidFill>
                  <a:srgbClr val="1A1A1A"/>
                </a:solidFill>
              </a:rPr>
              <a:t>CUDA-graph capture covers the entire multi-environment substep loop.  wp.ScopedCapture on first step() call; wp.capture_launch on all subsequent calls.</a:t>
            </a:r>
          </a:p>
        </p:txBody>
      </p:sp>
      <p:sp>
        <p:nvSpPr>
          <p:cNvPr id="14" name="Rectangle 13"/>
          <p:cNvSpPr/>
          <p:nvPr/>
        </p:nvSpPr>
        <p:spPr>
          <a:xfrm>
            <a:off x="274320" y="3803904"/>
            <a:ext cx="73152"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730752"/>
            <a:ext cx="7132320" cy="384048"/>
          </a:xfrm>
          <a:prstGeom prst="rect">
            <a:avLst/>
          </a:prstGeom>
          <a:noFill/>
        </p:spPr>
        <p:txBody>
          <a:bodyPr wrap="square">
            <a:spAutoFit/>
          </a:bodyPr>
          <a:lstStyle/>
          <a:p>
            <a:pPr algn="l"/>
            <a:r>
              <a:rPr sz="1200" b="0" i="0">
                <a:solidFill>
                  <a:srgbClr val="1A1A1A"/>
                </a:solidFill>
              </a:rPr>
              <a:t>GPU-side proximal control:  apply_proximal_control_gpu and set_root_orientation are Warp kernels — safe to capture inside the CUDA graph, zero CPU sync on hot path.</a:t>
            </a:r>
          </a:p>
        </p:txBody>
      </p:sp>
      <p:sp>
        <p:nvSpPr>
          <p:cNvPr id="16" name="Rectangle 15"/>
          <p:cNvSpPr/>
          <p:nvPr/>
        </p:nvSpPr>
        <p:spPr>
          <a:xfrm>
            <a:off x="274320" y="4261104"/>
            <a:ext cx="73152"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187952"/>
            <a:ext cx="7132320" cy="384048"/>
          </a:xfrm>
          <a:prstGeom prst="rect">
            <a:avLst/>
          </a:prstGeom>
          <a:noFill/>
        </p:spPr>
        <p:txBody>
          <a:bodyPr wrap="square">
            <a:spAutoFit/>
          </a:bodyPr>
          <a:lstStyle/>
          <a:p>
            <a:pPr algn="l"/>
            <a:r>
              <a:rPr sz="1200" b="0" i="0">
                <a:solidFill>
                  <a:srgbClr val="1A1A1A"/>
                </a:solidFill>
              </a:rPr>
              <a:t>Memory cost scales linearly with N (particle count × envs).  Compute cost is dominated by the block-Thomas solve — nearly O(N×envs) with the flat buffer layout.</a:t>
            </a:r>
          </a:p>
        </p:txBody>
      </p:sp>
      <p:sp>
        <p:nvSpPr>
          <p:cNvPr id="18" name="TextBox 17"/>
          <p:cNvSpPr txBox="1"/>
          <p:nvPr/>
        </p:nvSpPr>
        <p:spPr>
          <a:xfrm>
            <a:off x="274320" y="4800600"/>
            <a:ext cx="7315200" cy="347472"/>
          </a:xfrm>
          <a:prstGeom prst="rect">
            <a:avLst/>
          </a:prstGeom>
          <a:noFill/>
        </p:spPr>
        <p:txBody>
          <a:bodyPr wrap="square">
            <a:spAutoFit/>
          </a:bodyPr>
          <a:lstStyle/>
          <a:p>
            <a:pPr algn="l"/>
            <a:r>
              <a:rPr sz="1600" b="1" i="0">
                <a:solidFill>
                  <a:srgbClr val="00A0D0"/>
                </a:solidFill>
              </a:rPr>
              <a:t>Batched Rendering</a:t>
            </a:r>
          </a:p>
        </p:txBody>
      </p:sp>
      <p:sp>
        <p:nvSpPr>
          <p:cNvPr id="19" name="Rectangle 18"/>
          <p:cNvSpPr/>
          <p:nvPr/>
        </p:nvSpPr>
        <p:spPr>
          <a:xfrm>
            <a:off x="274320" y="5266944"/>
            <a:ext cx="73152" cy="20116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5193792"/>
            <a:ext cx="7132320" cy="384048"/>
          </a:xfrm>
          <a:prstGeom prst="rect">
            <a:avLst/>
          </a:prstGeom>
          <a:noFill/>
        </p:spPr>
        <p:txBody>
          <a:bodyPr wrap="square">
            <a:spAutoFit/>
          </a:bodyPr>
          <a:lstStyle/>
          <a:p>
            <a:pPr algn="l"/>
            <a:r>
              <a:rPr sz="1200" b="0" i="0">
                <a:solidFill>
                  <a:srgbClr val="1A1A1A"/>
                </a:solidFill>
              </a:rPr>
              <a:t>renderDRR_forward_batched: single Slang dispatch.  dispatchThreadID.z indexes the environment.</a:t>
            </a:r>
          </a:p>
        </p:txBody>
      </p:sp>
      <p:sp>
        <p:nvSpPr>
          <p:cNvPr id="21" name="Rectangle 20"/>
          <p:cNvSpPr/>
          <p:nvPr/>
        </p:nvSpPr>
        <p:spPr>
          <a:xfrm>
            <a:off x="274320" y="5724144"/>
            <a:ext cx="73152" cy="20116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5650992"/>
            <a:ext cx="7132320" cy="384048"/>
          </a:xfrm>
          <a:prstGeom prst="rect">
            <a:avLst/>
          </a:prstGeom>
          <a:noFill/>
        </p:spPr>
        <p:txBody>
          <a:bodyPr wrap="square">
            <a:spAutoFit/>
          </a:bodyPr>
          <a:lstStyle/>
          <a:p>
            <a:pPr algn="l"/>
            <a:r>
              <a:rPr sz="1200" b="0" i="0">
                <a:solidFill>
                  <a:srgbClr val="1A1A1A"/>
                </a:solidFill>
              </a:rPr>
              <a:t>Per-environment catheter geometry packed into a flat StructuredBuffer&lt;CatheterSegment&gt; with per-env offset + count indices — different catheter per env, single kernel.</a:t>
            </a:r>
          </a:p>
        </p:txBody>
      </p:sp>
      <p:sp>
        <p:nvSpPr>
          <p:cNvPr id="23" name="Rectangle 22"/>
          <p:cNvSpPr/>
          <p:nvPr/>
        </p:nvSpPr>
        <p:spPr>
          <a:xfrm>
            <a:off x="274320" y="6181344"/>
            <a:ext cx="73152" cy="20116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6108192"/>
            <a:ext cx="7132320" cy="384048"/>
          </a:xfrm>
          <a:prstGeom prst="rect">
            <a:avLst/>
          </a:prstGeom>
          <a:noFill/>
        </p:spPr>
        <p:txBody>
          <a:bodyPr wrap="square">
            <a:spAutoFit/>
          </a:bodyPr>
          <a:lstStyle/>
          <a:p>
            <a:pPr algn="l"/>
            <a:r>
              <a:rPr sz="1200" b="0" i="0">
                <a:solidFill>
                  <a:srgbClr val="1A1A1A"/>
                </a:solidFill>
              </a:rPr>
              <a:t>L2 cache bottleneck at N&gt;8: shared 3D μ-volume exceeds L2 capacity.  Sprint 2 fix: Texture2DArray caches one depth slice per env in L2.</a:t>
            </a:r>
          </a:p>
        </p:txBody>
      </p:sp>
      <p:sp>
        <p:nvSpPr>
          <p:cNvPr id="25" name="TextBox 24"/>
          <p:cNvSpPr txBox="1"/>
          <p:nvPr/>
        </p:nvSpPr>
        <p:spPr>
          <a:xfrm>
            <a:off x="7863840" y="1920240"/>
            <a:ext cx="4114800" cy="347472"/>
          </a:xfrm>
          <a:prstGeom prst="rect">
            <a:avLst/>
          </a:prstGeom>
          <a:noFill/>
        </p:spPr>
        <p:txBody>
          <a:bodyPr wrap="square">
            <a:spAutoFit/>
          </a:bodyPr>
          <a:lstStyle/>
          <a:p>
            <a:pPr algn="l"/>
            <a:r>
              <a:rPr sz="1400" b="1" i="0">
                <a:solidFill>
                  <a:srgbClr val="76B900"/>
                </a:solidFill>
              </a:rPr>
              <a:t>Performance  (NVIDIA A6000)</a:t>
            </a:r>
          </a:p>
        </p:txBody>
      </p:sp>
      <p:sp>
        <p:nvSpPr>
          <p:cNvPr id="26" name="Rectangle 25"/>
          <p:cNvSpPr/>
          <p:nvPr/>
        </p:nvSpPr>
        <p:spPr>
          <a:xfrm>
            <a:off x="7863840" y="2377440"/>
            <a:ext cx="173736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9560" y="2395728"/>
            <a:ext cx="1645919" cy="246888"/>
          </a:xfrm>
          <a:prstGeom prst="rect">
            <a:avLst/>
          </a:prstGeom>
          <a:noFill/>
        </p:spPr>
        <p:txBody>
          <a:bodyPr wrap="square">
            <a:spAutoFit/>
          </a:bodyPr>
          <a:lstStyle/>
          <a:p>
            <a:pPr algn="l"/>
            <a:r>
              <a:rPr sz="1200" b="1" i="0">
                <a:solidFill>
                  <a:srgbClr val="1A1A1A"/>
                </a:solidFill>
              </a:rPr>
              <a:t>Component</a:t>
            </a:r>
          </a:p>
        </p:txBody>
      </p:sp>
      <p:sp>
        <p:nvSpPr>
          <p:cNvPr id="28" name="Rectangle 27"/>
          <p:cNvSpPr/>
          <p:nvPr/>
        </p:nvSpPr>
        <p:spPr>
          <a:xfrm>
            <a:off x="9601200" y="2377440"/>
            <a:ext cx="105156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46920" y="2395728"/>
            <a:ext cx="960119" cy="246888"/>
          </a:xfrm>
          <a:prstGeom prst="rect">
            <a:avLst/>
          </a:prstGeom>
          <a:noFill/>
        </p:spPr>
        <p:txBody>
          <a:bodyPr wrap="square">
            <a:spAutoFit/>
          </a:bodyPr>
          <a:lstStyle/>
          <a:p>
            <a:pPr algn="l"/>
            <a:r>
              <a:rPr sz="1200" b="1" i="0">
                <a:solidFill>
                  <a:srgbClr val="1A1A1A"/>
                </a:solidFill>
              </a:rPr>
              <a:t>Throughput</a:t>
            </a:r>
          </a:p>
        </p:txBody>
      </p:sp>
      <p:sp>
        <p:nvSpPr>
          <p:cNvPr id="30" name="Rectangle 29"/>
          <p:cNvSpPr/>
          <p:nvPr/>
        </p:nvSpPr>
        <p:spPr>
          <a:xfrm>
            <a:off x="10652760" y="2377440"/>
            <a:ext cx="141732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98480" y="2395728"/>
            <a:ext cx="1325880" cy="246888"/>
          </a:xfrm>
          <a:prstGeom prst="rect">
            <a:avLst/>
          </a:prstGeom>
          <a:noFill/>
        </p:spPr>
        <p:txBody>
          <a:bodyPr wrap="square">
            <a:spAutoFit/>
          </a:bodyPr>
          <a:lstStyle/>
          <a:p>
            <a:pPr algn="l"/>
            <a:r>
              <a:rPr sz="1200" b="1" i="0">
                <a:solidFill>
                  <a:srgbClr val="1A1A1A"/>
                </a:solidFill>
              </a:rPr>
              <a:t>Status</a:t>
            </a:r>
          </a:p>
        </p:txBody>
      </p:sp>
      <p:sp>
        <p:nvSpPr>
          <p:cNvPr id="32" name="Rectangle 31"/>
          <p:cNvSpPr/>
          <p:nvPr/>
        </p:nvSpPr>
        <p:spPr>
          <a:xfrm>
            <a:off x="7863840" y="2670048"/>
            <a:ext cx="17373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09560" y="2688336"/>
            <a:ext cx="1645919" cy="246888"/>
          </a:xfrm>
          <a:prstGeom prst="rect">
            <a:avLst/>
          </a:prstGeom>
          <a:noFill/>
        </p:spPr>
        <p:txBody>
          <a:bodyPr wrap="square">
            <a:spAutoFit/>
          </a:bodyPr>
          <a:lstStyle/>
          <a:p>
            <a:pPr algn="l"/>
            <a:r>
              <a:rPr sz="1100" b="0" i="0">
                <a:solidFill>
                  <a:srgbClr val="1A1A1A"/>
                </a:solidFill>
              </a:rPr>
              <a:t>Physics — 1 env</a:t>
            </a:r>
          </a:p>
        </p:txBody>
      </p:sp>
      <p:sp>
        <p:nvSpPr>
          <p:cNvPr id="34" name="Rectangle 33"/>
          <p:cNvSpPr/>
          <p:nvPr/>
        </p:nvSpPr>
        <p:spPr>
          <a:xfrm>
            <a:off x="9601200" y="2670048"/>
            <a:ext cx="1051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46920" y="2688336"/>
            <a:ext cx="960119" cy="246888"/>
          </a:xfrm>
          <a:prstGeom prst="rect">
            <a:avLst/>
          </a:prstGeom>
          <a:noFill/>
        </p:spPr>
        <p:txBody>
          <a:bodyPr wrap="square">
            <a:spAutoFit/>
          </a:bodyPr>
          <a:lstStyle/>
          <a:p>
            <a:pPr algn="l"/>
            <a:r>
              <a:rPr sz="1100" b="0" i="0">
                <a:solidFill>
                  <a:srgbClr val="1A1A1A"/>
                </a:solidFill>
              </a:rPr>
              <a:t>1,300 Hz</a:t>
            </a:r>
          </a:p>
        </p:txBody>
      </p:sp>
      <p:sp>
        <p:nvSpPr>
          <p:cNvPr id="36" name="Rectangle 35"/>
          <p:cNvSpPr/>
          <p:nvPr/>
        </p:nvSpPr>
        <p:spPr>
          <a:xfrm>
            <a:off x="10652760" y="2670048"/>
            <a:ext cx="14173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98480" y="2688336"/>
            <a:ext cx="1325880" cy="246888"/>
          </a:xfrm>
          <a:prstGeom prst="rect">
            <a:avLst/>
          </a:prstGeom>
          <a:noFill/>
        </p:spPr>
        <p:txBody>
          <a:bodyPr wrap="square">
            <a:spAutoFit/>
          </a:bodyPr>
          <a:lstStyle/>
          <a:p>
            <a:pPr algn="l"/>
            <a:r>
              <a:rPr sz="1100" b="0" i="0">
                <a:solidFill>
                  <a:srgbClr val="1A1A1A"/>
                </a:solidFill>
              </a:rPr>
              <a:t>✓ Target met</a:t>
            </a:r>
          </a:p>
        </p:txBody>
      </p:sp>
      <p:sp>
        <p:nvSpPr>
          <p:cNvPr id="38" name="Rectangle 37"/>
          <p:cNvSpPr/>
          <p:nvPr/>
        </p:nvSpPr>
        <p:spPr>
          <a:xfrm>
            <a:off x="7863840" y="2962656"/>
            <a:ext cx="17373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09560" y="2980944"/>
            <a:ext cx="1645919" cy="246888"/>
          </a:xfrm>
          <a:prstGeom prst="rect">
            <a:avLst/>
          </a:prstGeom>
          <a:noFill/>
        </p:spPr>
        <p:txBody>
          <a:bodyPr wrap="square">
            <a:spAutoFit/>
          </a:bodyPr>
          <a:lstStyle/>
          <a:p>
            <a:pPr algn="l"/>
            <a:r>
              <a:rPr sz="1100" b="0" i="0">
                <a:solidFill>
                  <a:srgbClr val="1A1A1A"/>
                </a:solidFill>
              </a:rPr>
              <a:t>Physics — 512 envs</a:t>
            </a:r>
          </a:p>
        </p:txBody>
      </p:sp>
      <p:sp>
        <p:nvSpPr>
          <p:cNvPr id="40" name="Rectangle 39"/>
          <p:cNvSpPr/>
          <p:nvPr/>
        </p:nvSpPr>
        <p:spPr>
          <a:xfrm>
            <a:off x="9601200" y="2962656"/>
            <a:ext cx="1051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46920" y="2980944"/>
            <a:ext cx="960119" cy="246888"/>
          </a:xfrm>
          <a:prstGeom prst="rect">
            <a:avLst/>
          </a:prstGeom>
          <a:noFill/>
        </p:spPr>
        <p:txBody>
          <a:bodyPr wrap="square">
            <a:spAutoFit/>
          </a:bodyPr>
          <a:lstStyle/>
          <a:p>
            <a:pPr algn="l"/>
            <a:r>
              <a:rPr sz="1100" b="0" i="0">
                <a:solidFill>
                  <a:srgbClr val="1A1A1A"/>
                </a:solidFill>
              </a:rPr>
              <a:t>~60 Hz</a:t>
            </a:r>
          </a:p>
        </p:txBody>
      </p:sp>
      <p:sp>
        <p:nvSpPr>
          <p:cNvPr id="42" name="Rectangle 41"/>
          <p:cNvSpPr/>
          <p:nvPr/>
        </p:nvSpPr>
        <p:spPr>
          <a:xfrm>
            <a:off x="10652760" y="2962656"/>
            <a:ext cx="141732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98480" y="2980944"/>
            <a:ext cx="1325880" cy="246888"/>
          </a:xfrm>
          <a:prstGeom prst="rect">
            <a:avLst/>
          </a:prstGeom>
          <a:noFill/>
        </p:spPr>
        <p:txBody>
          <a:bodyPr wrap="square">
            <a:spAutoFit/>
          </a:bodyPr>
          <a:lstStyle/>
          <a:p>
            <a:pPr algn="l"/>
            <a:r>
              <a:rPr sz="1100" b="0" i="0">
                <a:solidFill>
                  <a:srgbClr val="1A1A1A"/>
                </a:solidFill>
              </a:rPr>
              <a:t>✓ Target met</a:t>
            </a:r>
          </a:p>
        </p:txBody>
      </p:sp>
      <p:sp>
        <p:nvSpPr>
          <p:cNvPr id="44" name="Rectangle 43"/>
          <p:cNvSpPr/>
          <p:nvPr/>
        </p:nvSpPr>
        <p:spPr>
          <a:xfrm>
            <a:off x="7863840" y="3255264"/>
            <a:ext cx="17373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09560" y="3273552"/>
            <a:ext cx="1645919" cy="246888"/>
          </a:xfrm>
          <a:prstGeom prst="rect">
            <a:avLst/>
          </a:prstGeom>
          <a:noFill/>
        </p:spPr>
        <p:txBody>
          <a:bodyPr wrap="square">
            <a:spAutoFit/>
          </a:bodyPr>
          <a:lstStyle/>
          <a:p>
            <a:pPr algn="l"/>
            <a:r>
              <a:rPr sz="1100" b="0" i="0">
                <a:solidFill>
                  <a:srgbClr val="1A1A1A"/>
                </a:solidFill>
              </a:rPr>
              <a:t>Render — 256²  1 env</a:t>
            </a:r>
          </a:p>
        </p:txBody>
      </p:sp>
      <p:sp>
        <p:nvSpPr>
          <p:cNvPr id="46" name="Rectangle 45"/>
          <p:cNvSpPr/>
          <p:nvPr/>
        </p:nvSpPr>
        <p:spPr>
          <a:xfrm>
            <a:off x="9601200" y="3255264"/>
            <a:ext cx="1051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20" y="3273552"/>
            <a:ext cx="960119" cy="246888"/>
          </a:xfrm>
          <a:prstGeom prst="rect">
            <a:avLst/>
          </a:prstGeom>
          <a:noFill/>
        </p:spPr>
        <p:txBody>
          <a:bodyPr wrap="square">
            <a:spAutoFit/>
          </a:bodyPr>
          <a:lstStyle/>
          <a:p>
            <a:pPr algn="l"/>
            <a:r>
              <a:rPr sz="1100" b="0" i="0">
                <a:solidFill>
                  <a:srgbClr val="1A1A1A"/>
                </a:solidFill>
              </a:rPr>
              <a:t>~263 FPS</a:t>
            </a:r>
          </a:p>
        </p:txBody>
      </p:sp>
      <p:sp>
        <p:nvSpPr>
          <p:cNvPr id="48" name="Rectangle 47"/>
          <p:cNvSpPr/>
          <p:nvPr/>
        </p:nvSpPr>
        <p:spPr>
          <a:xfrm>
            <a:off x="10652760" y="3255264"/>
            <a:ext cx="14173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98480" y="3273552"/>
            <a:ext cx="1325880" cy="246888"/>
          </a:xfrm>
          <a:prstGeom prst="rect">
            <a:avLst/>
          </a:prstGeom>
          <a:noFill/>
        </p:spPr>
        <p:txBody>
          <a:bodyPr wrap="square">
            <a:spAutoFit/>
          </a:bodyPr>
          <a:lstStyle/>
          <a:p>
            <a:pPr algn="l"/>
            <a:r>
              <a:rPr sz="1100" b="0" i="0">
                <a:solidFill>
                  <a:srgbClr val="1A1A1A"/>
                </a:solidFill>
              </a:rPr>
              <a:t>Interactive demo</a:t>
            </a:r>
          </a:p>
        </p:txBody>
      </p:sp>
      <p:sp>
        <p:nvSpPr>
          <p:cNvPr id="50" name="Rectangle 49"/>
          <p:cNvSpPr/>
          <p:nvPr/>
        </p:nvSpPr>
        <p:spPr>
          <a:xfrm>
            <a:off x="7863840" y="3547872"/>
            <a:ext cx="17373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09560" y="3566160"/>
            <a:ext cx="1645919" cy="246888"/>
          </a:xfrm>
          <a:prstGeom prst="rect">
            <a:avLst/>
          </a:prstGeom>
          <a:noFill/>
        </p:spPr>
        <p:txBody>
          <a:bodyPr wrap="square">
            <a:spAutoFit/>
          </a:bodyPr>
          <a:lstStyle/>
          <a:p>
            <a:pPr algn="l"/>
            <a:r>
              <a:rPr sz="1100" b="0" i="0">
                <a:solidFill>
                  <a:srgbClr val="1A1A1A"/>
                </a:solidFill>
              </a:rPr>
              <a:t>Render — 512²  1 env</a:t>
            </a:r>
          </a:p>
        </p:txBody>
      </p:sp>
      <p:sp>
        <p:nvSpPr>
          <p:cNvPr id="52" name="Rectangle 51"/>
          <p:cNvSpPr/>
          <p:nvPr/>
        </p:nvSpPr>
        <p:spPr>
          <a:xfrm>
            <a:off x="9601200" y="3547872"/>
            <a:ext cx="1051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20" y="3566160"/>
            <a:ext cx="960119" cy="246888"/>
          </a:xfrm>
          <a:prstGeom prst="rect">
            <a:avLst/>
          </a:prstGeom>
          <a:noFill/>
        </p:spPr>
        <p:txBody>
          <a:bodyPr wrap="square">
            <a:spAutoFit/>
          </a:bodyPr>
          <a:lstStyle/>
          <a:p>
            <a:pPr algn="l"/>
            <a:r>
              <a:rPr sz="1100" b="0" i="0">
                <a:solidFill>
                  <a:srgbClr val="1A1A1A"/>
                </a:solidFill>
              </a:rPr>
              <a:t>~25 FPS</a:t>
            </a:r>
          </a:p>
        </p:txBody>
      </p:sp>
      <p:sp>
        <p:nvSpPr>
          <p:cNvPr id="54" name="Rectangle 53"/>
          <p:cNvSpPr/>
          <p:nvPr/>
        </p:nvSpPr>
        <p:spPr>
          <a:xfrm>
            <a:off x="10652760" y="3547872"/>
            <a:ext cx="141732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98480" y="3566160"/>
            <a:ext cx="1325880" cy="246888"/>
          </a:xfrm>
          <a:prstGeom prst="rect">
            <a:avLst/>
          </a:prstGeom>
          <a:noFill/>
        </p:spPr>
        <p:txBody>
          <a:bodyPr wrap="square">
            <a:spAutoFit/>
          </a:bodyPr>
          <a:lstStyle/>
          <a:p>
            <a:pPr algn="l"/>
            <a:r>
              <a:rPr sz="1100" b="0" i="0">
                <a:solidFill>
                  <a:srgbClr val="1A1A1A"/>
                </a:solidFill>
              </a:rPr>
              <a:t>Standalone bench</a:t>
            </a:r>
          </a:p>
        </p:txBody>
      </p:sp>
      <p:sp>
        <p:nvSpPr>
          <p:cNvPr id="56" name="Rectangle 55"/>
          <p:cNvSpPr/>
          <p:nvPr/>
        </p:nvSpPr>
        <p:spPr>
          <a:xfrm>
            <a:off x="7863840" y="3840480"/>
            <a:ext cx="17373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09560" y="3858768"/>
            <a:ext cx="1645919" cy="246888"/>
          </a:xfrm>
          <a:prstGeom prst="rect">
            <a:avLst/>
          </a:prstGeom>
          <a:noFill/>
        </p:spPr>
        <p:txBody>
          <a:bodyPr wrap="square">
            <a:spAutoFit/>
          </a:bodyPr>
          <a:lstStyle/>
          <a:p>
            <a:pPr algn="l"/>
            <a:r>
              <a:rPr sz="1100" b="0" i="0">
                <a:solidFill>
                  <a:srgbClr val="1A1A1A"/>
                </a:solidFill>
              </a:rPr>
              <a:t>Render — 512²  N≤4</a:t>
            </a:r>
          </a:p>
        </p:txBody>
      </p:sp>
      <p:sp>
        <p:nvSpPr>
          <p:cNvPr id="58" name="Rectangle 57"/>
          <p:cNvSpPr/>
          <p:nvPr/>
        </p:nvSpPr>
        <p:spPr>
          <a:xfrm>
            <a:off x="9601200" y="3840480"/>
            <a:ext cx="1051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46920" y="3858768"/>
            <a:ext cx="960119" cy="246888"/>
          </a:xfrm>
          <a:prstGeom prst="rect">
            <a:avLst/>
          </a:prstGeom>
          <a:noFill/>
        </p:spPr>
        <p:txBody>
          <a:bodyPr wrap="square">
            <a:spAutoFit/>
          </a:bodyPr>
          <a:lstStyle/>
          <a:p>
            <a:pPr algn="l"/>
            <a:r>
              <a:rPr sz="1100" b="0" i="0">
                <a:solidFill>
                  <a:srgbClr val="1A1A1A"/>
                </a:solidFill>
              </a:rPr>
              <a:t>~25 FPS</a:t>
            </a:r>
          </a:p>
        </p:txBody>
      </p:sp>
      <p:sp>
        <p:nvSpPr>
          <p:cNvPr id="60" name="Rectangle 59"/>
          <p:cNvSpPr/>
          <p:nvPr/>
        </p:nvSpPr>
        <p:spPr>
          <a:xfrm>
            <a:off x="10652760" y="3840480"/>
            <a:ext cx="14173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98480" y="3858768"/>
            <a:ext cx="1325880" cy="246888"/>
          </a:xfrm>
          <a:prstGeom prst="rect">
            <a:avLst/>
          </a:prstGeom>
          <a:noFill/>
        </p:spPr>
        <p:txBody>
          <a:bodyPr wrap="square">
            <a:spAutoFit/>
          </a:bodyPr>
          <a:lstStyle/>
          <a:p>
            <a:pPr algn="l"/>
            <a:r>
              <a:rPr sz="1100" b="0" i="0">
                <a:solidFill>
                  <a:srgbClr val="1A1A1A"/>
                </a:solidFill>
              </a:rPr>
              <a:t>Production today</a:t>
            </a:r>
          </a:p>
        </p:txBody>
      </p:sp>
      <p:sp>
        <p:nvSpPr>
          <p:cNvPr id="62" name="Rectangle 61"/>
          <p:cNvSpPr/>
          <p:nvPr/>
        </p:nvSpPr>
        <p:spPr>
          <a:xfrm>
            <a:off x="7863840" y="4133087"/>
            <a:ext cx="17373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09560" y="4151375"/>
            <a:ext cx="1645919" cy="246888"/>
          </a:xfrm>
          <a:prstGeom prst="rect">
            <a:avLst/>
          </a:prstGeom>
          <a:noFill/>
        </p:spPr>
        <p:txBody>
          <a:bodyPr wrap="square">
            <a:spAutoFit/>
          </a:bodyPr>
          <a:lstStyle/>
          <a:p>
            <a:pPr algn="l"/>
            <a:r>
              <a:rPr sz="1100" b="0" i="0">
                <a:solidFill>
                  <a:srgbClr val="1A1A1A"/>
                </a:solidFill>
              </a:rPr>
              <a:t>Render — 512²  N=8+</a:t>
            </a:r>
          </a:p>
        </p:txBody>
      </p:sp>
      <p:sp>
        <p:nvSpPr>
          <p:cNvPr id="64" name="Rectangle 63"/>
          <p:cNvSpPr/>
          <p:nvPr/>
        </p:nvSpPr>
        <p:spPr>
          <a:xfrm>
            <a:off x="9601200" y="4133087"/>
            <a:ext cx="1051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46920" y="4151375"/>
            <a:ext cx="960119" cy="246888"/>
          </a:xfrm>
          <a:prstGeom prst="rect">
            <a:avLst/>
          </a:prstGeom>
          <a:noFill/>
        </p:spPr>
        <p:txBody>
          <a:bodyPr wrap="square">
            <a:spAutoFit/>
          </a:bodyPr>
          <a:lstStyle/>
          <a:p>
            <a:pPr algn="l"/>
            <a:r>
              <a:rPr sz="1100" b="0" i="0">
                <a:solidFill>
                  <a:srgbClr val="1A1A1A"/>
                </a:solidFill>
              </a:rPr>
              <a:t>Degrades</a:t>
            </a:r>
          </a:p>
        </p:txBody>
      </p:sp>
      <p:sp>
        <p:nvSpPr>
          <p:cNvPr id="66" name="Rectangle 65"/>
          <p:cNvSpPr/>
          <p:nvPr/>
        </p:nvSpPr>
        <p:spPr>
          <a:xfrm>
            <a:off x="10652760" y="4133087"/>
            <a:ext cx="141732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698480" y="4151375"/>
            <a:ext cx="1325880" cy="246888"/>
          </a:xfrm>
          <a:prstGeom prst="rect">
            <a:avLst/>
          </a:prstGeom>
          <a:noFill/>
        </p:spPr>
        <p:txBody>
          <a:bodyPr wrap="square">
            <a:spAutoFit/>
          </a:bodyPr>
          <a:lstStyle/>
          <a:p>
            <a:pPr algn="l"/>
            <a:r>
              <a:rPr sz="1100" b="0" i="0">
                <a:solidFill>
                  <a:srgbClr val="1A1A1A"/>
                </a:solidFill>
              </a:rPr>
              <a:t>Sprint 2 fix</a:t>
            </a:r>
          </a:p>
        </p:txBody>
      </p:sp>
      <p:sp>
        <p:nvSpPr>
          <p:cNvPr id="68" name="Rectangle 67"/>
          <p:cNvSpPr/>
          <p:nvPr/>
        </p:nvSpPr>
        <p:spPr>
          <a:xfrm>
            <a:off x="7863840" y="4425696"/>
            <a:ext cx="17373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09560" y="4443983"/>
            <a:ext cx="1645919" cy="246888"/>
          </a:xfrm>
          <a:prstGeom prst="rect">
            <a:avLst/>
          </a:prstGeom>
          <a:noFill/>
        </p:spPr>
        <p:txBody>
          <a:bodyPr wrap="square">
            <a:spAutoFit/>
          </a:bodyPr>
          <a:lstStyle/>
          <a:p>
            <a:pPr algn="l"/>
            <a:r>
              <a:rPr sz="1100" b="0" i="0">
                <a:solidFill>
                  <a:srgbClr val="1A1A1A"/>
                </a:solidFill>
              </a:rPr>
              <a:t>Full loop (256²)</a:t>
            </a:r>
          </a:p>
        </p:txBody>
      </p:sp>
      <p:sp>
        <p:nvSpPr>
          <p:cNvPr id="70" name="Rectangle 69"/>
          <p:cNvSpPr/>
          <p:nvPr/>
        </p:nvSpPr>
        <p:spPr>
          <a:xfrm>
            <a:off x="9601200" y="4425696"/>
            <a:ext cx="1051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46920" y="4443983"/>
            <a:ext cx="960119" cy="246888"/>
          </a:xfrm>
          <a:prstGeom prst="rect">
            <a:avLst/>
          </a:prstGeom>
          <a:noFill/>
        </p:spPr>
        <p:txBody>
          <a:bodyPr wrap="square">
            <a:spAutoFit/>
          </a:bodyPr>
          <a:lstStyle/>
          <a:p>
            <a:pPr algn="l"/>
            <a:r>
              <a:rPr sz="1100" b="0" i="0">
                <a:solidFill>
                  <a:srgbClr val="1A1A1A"/>
                </a:solidFill>
              </a:rPr>
              <a:t>~63 FPS</a:t>
            </a:r>
          </a:p>
        </p:txBody>
      </p:sp>
      <p:sp>
        <p:nvSpPr>
          <p:cNvPr id="72" name="Rectangle 71"/>
          <p:cNvSpPr/>
          <p:nvPr/>
        </p:nvSpPr>
        <p:spPr>
          <a:xfrm>
            <a:off x="10652760" y="4425696"/>
            <a:ext cx="14173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698480" y="4443983"/>
            <a:ext cx="1325880" cy="246888"/>
          </a:xfrm>
          <a:prstGeom prst="rect">
            <a:avLst/>
          </a:prstGeom>
          <a:noFill/>
        </p:spPr>
        <p:txBody>
          <a:bodyPr wrap="square">
            <a:spAutoFit/>
          </a:bodyPr>
          <a:lstStyle/>
          <a:p>
            <a:pPr algn="l"/>
            <a:r>
              <a:rPr sz="1100" b="0" i="0">
                <a:solidFill>
                  <a:srgbClr val="1A1A1A"/>
                </a:solidFill>
              </a:rPr>
              <a:t>Physics+render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Fluoroscopy Rendering — Compositing Paths</a:t>
            </a:r>
          </a:p>
        </p:txBody>
      </p:sp>
      <p:sp>
        <p:nvSpPr>
          <p:cNvPr id="6" name="Rectangle 5"/>
          <p:cNvSpPr/>
          <p:nvPr/>
        </p:nvSpPr>
        <p:spPr>
          <a:xfrm>
            <a:off x="228600" y="1874519"/>
            <a:ext cx="2011680" cy="13258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65960"/>
            <a:ext cx="1920240" cy="640080"/>
          </a:xfrm>
          <a:prstGeom prst="rect">
            <a:avLst/>
          </a:prstGeom>
          <a:noFill/>
        </p:spPr>
        <p:txBody>
          <a:bodyPr wrap="square">
            <a:spAutoFit/>
          </a:bodyPr>
          <a:lstStyle/>
          <a:p>
            <a:pPr algn="ctr"/>
            <a:r>
              <a:rPr sz="1300" b="1" i="0">
                <a:solidFill>
                  <a:srgbClr val="FFFFFF"/>
                </a:solidFill>
              </a:rPr>
              <a:t>Slang GPU
(unified loop)</a:t>
            </a:r>
          </a:p>
        </p:txBody>
      </p:sp>
      <p:sp>
        <p:nvSpPr>
          <p:cNvPr id="8" name="TextBox 7"/>
          <p:cNvSpPr txBox="1"/>
          <p:nvPr/>
        </p:nvSpPr>
        <p:spPr>
          <a:xfrm>
            <a:off x="274320" y="2624327"/>
            <a:ext cx="1920240" cy="530352"/>
          </a:xfrm>
          <a:prstGeom prst="rect">
            <a:avLst/>
          </a:prstGeom>
          <a:noFill/>
        </p:spPr>
        <p:txBody>
          <a:bodyPr wrap="square">
            <a:spAutoFit/>
          </a:bodyPr>
          <a:lstStyle/>
          <a:p>
            <a:pPr algn="ctr"/>
            <a:r>
              <a:rPr sz="1100" b="0" i="0">
                <a:solidFill>
                  <a:srgbClr val="FFFFFF"/>
                </a:solidFill>
              </a:rPr>
              <a:t>~63 FPS @ 256×256
~25 FPS @ 512×512
(NVIDIA A6000)</a:t>
            </a:r>
          </a:p>
        </p:txBody>
      </p:sp>
      <p:sp>
        <p:nvSpPr>
          <p:cNvPr id="9" name="Rectangle 8"/>
          <p:cNvSpPr/>
          <p:nvPr/>
        </p:nvSpPr>
        <p:spPr>
          <a:xfrm>
            <a:off x="2286000" y="1874519"/>
            <a:ext cx="9646920" cy="132588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1920239"/>
            <a:ext cx="9464040" cy="1234440"/>
          </a:xfrm>
          <a:prstGeom prst="rect">
            <a:avLst/>
          </a:prstGeom>
          <a:noFill/>
        </p:spPr>
        <p:txBody>
          <a:bodyPr wrap="square">
            <a:spAutoFit/>
          </a:bodyPr>
          <a:lstStyle/>
          <a:p>
            <a:pPr algn="l"/>
            <a:r>
              <a:rPr sz="1150" b="0" i="0">
                <a:solidFill>
                  <a:srgbClr val="1A1A1A"/>
                </a:solidFill>
              </a:rPr>
              <a:t>Fused volume + catheter Beer-Lambert in single GPU ray march.
Catheter composited inline: μ_total(s) = μ_CT(s) + Σᵢ μᵢ·√(1−dᵢ²/rᵢ²)
Static CT μ-volume on GPU texture.  Only catheter segment buffer changes per frame.
Post-processing on same GPU timeline: Poisson → PSF → gamma → jitter.</a:t>
            </a:r>
          </a:p>
        </p:txBody>
      </p:sp>
      <p:sp>
        <p:nvSpPr>
          <p:cNvPr id="11" name="Rectangle 10"/>
          <p:cNvSpPr/>
          <p:nvPr/>
        </p:nvSpPr>
        <p:spPr>
          <a:xfrm>
            <a:off x="228600" y="3319272"/>
            <a:ext cx="2011680" cy="13258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410712"/>
            <a:ext cx="1920240" cy="640080"/>
          </a:xfrm>
          <a:prstGeom prst="rect">
            <a:avLst/>
          </a:prstGeom>
          <a:noFill/>
        </p:spPr>
        <p:txBody>
          <a:bodyPr wrap="square">
            <a:spAutoFit/>
          </a:bodyPr>
          <a:lstStyle/>
          <a:p>
            <a:pPr algn="ctr"/>
            <a:r>
              <a:rPr sz="1300" b="1" i="0">
                <a:solidFill>
                  <a:srgbClr val="FFFFFF"/>
                </a:solidFill>
              </a:rPr>
              <a:t>CPU Beer-Lambert
(reference path)</a:t>
            </a:r>
          </a:p>
        </p:txBody>
      </p:sp>
      <p:sp>
        <p:nvSpPr>
          <p:cNvPr id="13" name="TextBox 12"/>
          <p:cNvSpPr txBox="1"/>
          <p:nvPr/>
        </p:nvSpPr>
        <p:spPr>
          <a:xfrm>
            <a:off x="274320" y="4069080"/>
            <a:ext cx="1920240" cy="530352"/>
          </a:xfrm>
          <a:prstGeom prst="rect">
            <a:avLst/>
          </a:prstGeom>
          <a:noFill/>
        </p:spPr>
        <p:txBody>
          <a:bodyPr wrap="square">
            <a:spAutoFit/>
          </a:bodyPr>
          <a:lstStyle/>
          <a:p>
            <a:pPr algn="ctr"/>
            <a:r>
              <a:rPr sz="1100" b="0" i="0">
                <a:solidFill>
                  <a:srgbClr val="FFFFFF"/>
                </a:solidFill>
              </a:rPr>
              <a:t>~2–5 FPS
(NumPy, CPU)
Reference only</a:t>
            </a:r>
          </a:p>
        </p:txBody>
      </p:sp>
      <p:sp>
        <p:nvSpPr>
          <p:cNvPr id="14" name="Rectangle 13"/>
          <p:cNvSpPr/>
          <p:nvPr/>
        </p:nvSpPr>
        <p:spPr>
          <a:xfrm>
            <a:off x="2286000" y="3319272"/>
            <a:ext cx="9646920" cy="1325880"/>
          </a:xfrm>
          <a:prstGeom prst="rect">
            <a:avLst/>
          </a:prstGeom>
          <a:solidFill>
            <a:srgbClr val="F2F2F2"/>
          </a:solidFill>
          <a:ln w="952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0" y="3364991"/>
            <a:ext cx="9464040" cy="1234440"/>
          </a:xfrm>
          <a:prstGeom prst="rect">
            <a:avLst/>
          </a:prstGeom>
          <a:noFill/>
        </p:spPr>
        <p:txBody>
          <a:bodyPr wrap="square">
            <a:spAutoFit/>
          </a:bodyPr>
          <a:lstStyle/>
          <a:p>
            <a:pPr algn="l"/>
            <a:r>
              <a:rPr sz="1150" b="0" i="0">
                <a:solidFill>
                  <a:srgbClr val="1A1A1A"/>
                </a:solidFill>
              </a:rPr>
              <a:t>NumPy ray-march for offline ground-truth generation and renderer validation.
Per-segment cylinder chord:  t(d) = 2·√(r²−d²)  for d&lt;r,  else 0.
Final: I = I₀·exp(−Σᵢ μᵢ·chord_norm(u,v))
Post-processing: scatter convolution → Poisson → PSF → gamma  (realism.py, CPU NumPy).
NOT on the RL training path — for validation and visual QA only.</a:t>
            </a:r>
          </a:p>
        </p:txBody>
      </p:sp>
      <p:sp>
        <p:nvSpPr>
          <p:cNvPr id="16" name="Rectangle 15"/>
          <p:cNvSpPr/>
          <p:nvPr/>
        </p:nvSpPr>
        <p:spPr>
          <a:xfrm>
            <a:off x="228600" y="4764024"/>
            <a:ext cx="2011680" cy="132588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855464"/>
            <a:ext cx="1920240" cy="640080"/>
          </a:xfrm>
          <a:prstGeom prst="rect">
            <a:avLst/>
          </a:prstGeom>
          <a:noFill/>
        </p:spPr>
        <p:txBody>
          <a:bodyPr wrap="square">
            <a:spAutoFit/>
          </a:bodyPr>
          <a:lstStyle/>
          <a:p>
            <a:pPr algn="ctr"/>
            <a:r>
              <a:rPr sz="1300" b="1" i="0">
                <a:solidFill>
                  <a:srgbClr val="FFFFFF"/>
                </a:solidFill>
              </a:rPr>
              <a:t>Isaac Lab USD quad
(planned — Sprint 2)</a:t>
            </a:r>
          </a:p>
        </p:txBody>
      </p:sp>
      <p:sp>
        <p:nvSpPr>
          <p:cNvPr id="18" name="TextBox 17"/>
          <p:cNvSpPr txBox="1"/>
          <p:nvPr/>
        </p:nvSpPr>
        <p:spPr>
          <a:xfrm>
            <a:off x="274320" y="5513832"/>
            <a:ext cx="1920240" cy="530352"/>
          </a:xfrm>
          <a:prstGeom prst="rect">
            <a:avLst/>
          </a:prstGeom>
          <a:noFill/>
        </p:spPr>
        <p:txBody>
          <a:bodyPr wrap="square">
            <a:spAutoFit/>
          </a:bodyPr>
          <a:lstStyle/>
          <a:p>
            <a:pPr algn="ctr"/>
            <a:r>
              <a:rPr sz="1100" b="0" i="0">
                <a:solidFill>
                  <a:srgbClr val="FFFFFF"/>
                </a:solidFill>
              </a:rPr>
              <a:t>Real-time (RTX)
Planned
Sprint 2</a:t>
            </a:r>
          </a:p>
        </p:txBody>
      </p:sp>
      <p:sp>
        <p:nvSpPr>
          <p:cNvPr id="19" name="Rectangle 18"/>
          <p:cNvSpPr/>
          <p:nvPr/>
        </p:nvSpPr>
        <p:spPr>
          <a:xfrm>
            <a:off x="2286000" y="4764024"/>
            <a:ext cx="9646920" cy="1325880"/>
          </a:xfrm>
          <a:prstGeom prst="rect">
            <a:avLst/>
          </a:prstGeom>
          <a:solidFill>
            <a:srgbClr val="F2F2F2"/>
          </a:solidFill>
          <a:ln w="9525">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0" y="4809744"/>
            <a:ext cx="9464040" cy="1234440"/>
          </a:xfrm>
          <a:prstGeom prst="rect">
            <a:avLst/>
          </a:prstGeom>
          <a:noFill/>
        </p:spPr>
        <p:txBody>
          <a:bodyPr wrap="square">
            <a:spAutoFit/>
          </a:bodyPr>
          <a:lstStyle/>
          <a:p>
            <a:pPr algn="l"/>
            <a:r>
              <a:rPr sz="1150" b="0" i="0">
                <a:solidFill>
                  <a:srgbClr val="1A1A1A"/>
                </a:solidFill>
              </a:rPr>
              <a:t>DRR backdrop texture applied to a 3D USD quad in Omniverse viewport.
Capsule prims for catheter markers.  RTX path tracing for photoreal scatter.
Intended for visual QA and demo purposes — not for RL training data.</a:t>
            </a:r>
          </a:p>
        </p:txBody>
      </p:sp>
      <p:sp>
        <p:nvSpPr>
          <p:cNvPr id="21" name="Rectangle 20"/>
          <p:cNvSpPr/>
          <p:nvPr/>
        </p:nvSpPr>
        <p:spPr>
          <a:xfrm>
            <a:off x="228600" y="6291072"/>
            <a:ext cx="11704320" cy="43891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309360"/>
            <a:ext cx="11521440" cy="402336"/>
          </a:xfrm>
          <a:prstGeom prst="rect">
            <a:avLst/>
          </a:prstGeom>
          <a:noFill/>
        </p:spPr>
        <p:txBody>
          <a:bodyPr wrap="square">
            <a:spAutoFit/>
          </a:bodyPr>
          <a:lstStyle/>
          <a:p>
            <a:pPr algn="l"/>
            <a:r>
              <a:rPr sz="1100" b="1" i="0">
                <a:solidFill>
                  <a:srgbClr val="76B900"/>
                </a:solidFill>
              </a:rPr>
              <a:t>Key property:  Catheter attenuation is additive in the exponent — μ_total = μ_CT + μ_catheter — so the catheter attenuates rather than occludes.  Self-crossings produce physically correct increased opacity.  Background anatomy remains visible through the catheter wire (exp(−μ) &lt; 1, &gt;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Beer-Lambert Catheter Compositing — Algorithm Detail</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Per-sample-point inline compositing inside the GPU ray march.  Same Beer-Lambert integral for CT and catheter — no separate compositing pass.</a:t>
            </a:r>
          </a:p>
        </p:txBody>
      </p:sp>
      <p:sp>
        <p:nvSpPr>
          <p:cNvPr id="7" name="Rectangle 6"/>
          <p:cNvSpPr/>
          <p:nvPr/>
        </p:nvSpPr>
        <p:spPr>
          <a:xfrm>
            <a:off x="228600" y="1874519"/>
            <a:ext cx="502920" cy="8686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2075688"/>
            <a:ext cx="502920" cy="457200"/>
          </a:xfrm>
          <a:prstGeom prst="rect">
            <a:avLst/>
          </a:prstGeom>
          <a:noFill/>
        </p:spPr>
        <p:txBody>
          <a:bodyPr wrap="square">
            <a:spAutoFit/>
          </a:bodyPr>
          <a:lstStyle/>
          <a:p>
            <a:pPr algn="ctr"/>
            <a:r>
              <a:rPr sz="2000" b="1" i="0">
                <a:solidFill>
                  <a:srgbClr val="FFFFFF"/>
                </a:solidFill>
              </a:rPr>
              <a:t>1</a:t>
            </a:r>
          </a:p>
        </p:txBody>
      </p:sp>
      <p:sp>
        <p:nvSpPr>
          <p:cNvPr id="9" name="TextBox 8"/>
          <p:cNvSpPr txBox="1"/>
          <p:nvPr/>
        </p:nvSpPr>
        <p:spPr>
          <a:xfrm>
            <a:off x="804672" y="1892807"/>
            <a:ext cx="2743200" cy="329184"/>
          </a:xfrm>
          <a:prstGeom prst="rect">
            <a:avLst/>
          </a:prstGeom>
          <a:noFill/>
        </p:spPr>
        <p:txBody>
          <a:bodyPr wrap="square">
            <a:spAutoFit/>
          </a:bodyPr>
          <a:lstStyle/>
          <a:p>
            <a:pPr algn="l"/>
            <a:r>
              <a:rPr sz="1300" b="1" i="0">
                <a:solidFill>
                  <a:srgbClr val="76B900"/>
                </a:solidFill>
              </a:rPr>
              <a:t>DRR Background</a:t>
            </a:r>
          </a:p>
        </p:txBody>
      </p:sp>
      <p:sp>
        <p:nvSpPr>
          <p:cNvPr id="10" name="TextBox 9"/>
          <p:cNvSpPr txBox="1"/>
          <p:nvPr/>
        </p:nvSpPr>
        <p:spPr>
          <a:xfrm>
            <a:off x="804672" y="2221991"/>
            <a:ext cx="11155680" cy="548640"/>
          </a:xfrm>
          <a:prstGeom prst="rect">
            <a:avLst/>
          </a:prstGeom>
          <a:noFill/>
        </p:spPr>
        <p:txBody>
          <a:bodyPr wrap="square">
            <a:spAutoFit/>
          </a:bodyPr>
          <a:lstStyle/>
          <a:p>
            <a:pPr algn="l"/>
            <a:r>
              <a:rPr sz="1050" b="0" i="0">
                <a:solidFill>
                  <a:srgbClr val="1A1A1A"/>
                </a:solidFill>
              </a:rPr>
              <a:t>Ray march through 3D CT μ-volume (GPU texture, static per patient).
Fixed-step integration: I_DRR = I₀·exp(−∫μ_CT(s) ds)
HU→μ piecewise linear map.  Dense bone ~0.3–0.5 mm⁻¹.  Air ~0.0 mm⁻¹.</a:t>
            </a:r>
          </a:p>
        </p:txBody>
      </p:sp>
      <p:sp>
        <p:nvSpPr>
          <p:cNvPr id="11" name="Rectangle 10"/>
          <p:cNvSpPr/>
          <p:nvPr/>
        </p:nvSpPr>
        <p:spPr>
          <a:xfrm>
            <a:off x="228600" y="2807208"/>
            <a:ext cx="502920" cy="86868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3008376"/>
            <a:ext cx="502920" cy="457200"/>
          </a:xfrm>
          <a:prstGeom prst="rect">
            <a:avLst/>
          </a:prstGeom>
          <a:noFill/>
        </p:spPr>
        <p:txBody>
          <a:bodyPr wrap="square">
            <a:spAutoFit/>
          </a:bodyPr>
          <a:lstStyle/>
          <a:p>
            <a:pPr algn="ctr"/>
            <a:r>
              <a:rPr sz="2000" b="1" i="0">
                <a:solidFill>
                  <a:srgbClr val="FFFFFF"/>
                </a:solidFill>
              </a:rPr>
              <a:t>2</a:t>
            </a:r>
          </a:p>
        </p:txBody>
      </p:sp>
      <p:sp>
        <p:nvSpPr>
          <p:cNvPr id="13" name="TextBox 12"/>
          <p:cNvSpPr txBox="1"/>
          <p:nvPr/>
        </p:nvSpPr>
        <p:spPr>
          <a:xfrm>
            <a:off x="804672" y="2825496"/>
            <a:ext cx="2743200" cy="329184"/>
          </a:xfrm>
          <a:prstGeom prst="rect">
            <a:avLst/>
          </a:prstGeom>
          <a:noFill/>
        </p:spPr>
        <p:txBody>
          <a:bodyPr wrap="square">
            <a:spAutoFit/>
          </a:bodyPr>
          <a:lstStyle/>
          <a:p>
            <a:pPr algn="l"/>
            <a:r>
              <a:rPr sz="1300" b="1" i="0">
                <a:solidFill>
                  <a:srgbClr val="00A0D0"/>
                </a:solidFill>
              </a:rPr>
              <a:t>Catheter Segment Buffer</a:t>
            </a:r>
          </a:p>
        </p:txBody>
      </p:sp>
      <p:sp>
        <p:nvSpPr>
          <p:cNvPr id="14" name="TextBox 13"/>
          <p:cNvSpPr txBox="1"/>
          <p:nvPr/>
        </p:nvSpPr>
        <p:spPr>
          <a:xfrm>
            <a:off x="804672" y="3154679"/>
            <a:ext cx="11155680" cy="548640"/>
          </a:xfrm>
          <a:prstGeom prst="rect">
            <a:avLst/>
          </a:prstGeom>
          <a:noFill/>
        </p:spPr>
        <p:txBody>
          <a:bodyPr wrap="square">
            <a:spAutoFit/>
          </a:bodyPr>
          <a:lstStyle/>
          <a:p>
            <a:pPr algn="l"/>
            <a:r>
              <a:rPr sz="1050" b="0" i="0">
                <a:solidFill>
                  <a:srgbClr val="1A1A1A"/>
                </a:solidFill>
              </a:rPr>
              <a:t>Physics particle positions (N×3 float32) written to GPU segment buffer.
Each segment: (xyz_proximal, xyz_distal, radius, μ) — 8 floats.
Per-segment μ profile: tungsten marker 3.0, NiTi shaft 0.8, polymer tip 0.15, Pt marker 5.0.</a:t>
            </a:r>
          </a:p>
        </p:txBody>
      </p:sp>
      <p:sp>
        <p:nvSpPr>
          <p:cNvPr id="15" name="Rectangle 14"/>
          <p:cNvSpPr/>
          <p:nvPr/>
        </p:nvSpPr>
        <p:spPr>
          <a:xfrm>
            <a:off x="228600" y="3739896"/>
            <a:ext cx="502920" cy="868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 y="3941063"/>
            <a:ext cx="502920" cy="457200"/>
          </a:xfrm>
          <a:prstGeom prst="rect">
            <a:avLst/>
          </a:prstGeom>
          <a:noFill/>
        </p:spPr>
        <p:txBody>
          <a:bodyPr wrap="square">
            <a:spAutoFit/>
          </a:bodyPr>
          <a:lstStyle/>
          <a:p>
            <a:pPr algn="ctr"/>
            <a:r>
              <a:rPr sz="2000" b="1" i="0">
                <a:solidFill>
                  <a:srgbClr val="FFFFFF"/>
                </a:solidFill>
              </a:rPr>
              <a:t>3</a:t>
            </a:r>
          </a:p>
        </p:txBody>
      </p:sp>
      <p:sp>
        <p:nvSpPr>
          <p:cNvPr id="17" name="TextBox 16"/>
          <p:cNvSpPr txBox="1"/>
          <p:nvPr/>
        </p:nvSpPr>
        <p:spPr>
          <a:xfrm>
            <a:off x="804672" y="3758183"/>
            <a:ext cx="2743200" cy="329184"/>
          </a:xfrm>
          <a:prstGeom prst="rect">
            <a:avLst/>
          </a:prstGeom>
          <a:noFill/>
        </p:spPr>
        <p:txBody>
          <a:bodyPr wrap="square">
            <a:spAutoFit/>
          </a:bodyPr>
          <a:lstStyle/>
          <a:p>
            <a:pPr algn="l"/>
            <a:r>
              <a:rPr sz="1300" b="1" i="0">
                <a:solidFill>
                  <a:srgbClr val="E67E22"/>
                </a:solidFill>
              </a:rPr>
              <a:t>Inline Perpendicular Test</a:t>
            </a:r>
          </a:p>
        </p:txBody>
      </p:sp>
      <p:sp>
        <p:nvSpPr>
          <p:cNvPr id="18" name="TextBox 17"/>
          <p:cNvSpPr txBox="1"/>
          <p:nvPr/>
        </p:nvSpPr>
        <p:spPr>
          <a:xfrm>
            <a:off x="804672" y="4087368"/>
            <a:ext cx="11155680" cy="548640"/>
          </a:xfrm>
          <a:prstGeom prst="rect">
            <a:avLst/>
          </a:prstGeom>
          <a:noFill/>
        </p:spPr>
        <p:txBody>
          <a:bodyPr wrap="square">
            <a:spAutoFit/>
          </a:bodyPr>
          <a:lstStyle/>
          <a:p>
            <a:pPr algn="l"/>
            <a:r>
              <a:rPr sz="1050" b="0" i="0">
                <a:solidFill>
                  <a:srgbClr val="1A1A1A"/>
                </a:solidFill>
              </a:rPr>
              <a:t>At each ray sample point s, for each catheter segment i:
  d_i = perpendicular distance from s to segment axis
  if d_i &lt; r_i:  contribute μᵢ·√(1−dᵢ²/rᵢ²) to running integral
The √(1−d²/r²) factor is a chord-length weight — exact for a circular cross-section.</a:t>
            </a:r>
          </a:p>
        </p:txBody>
      </p:sp>
      <p:sp>
        <p:nvSpPr>
          <p:cNvPr id="19" name="Rectangle 18"/>
          <p:cNvSpPr/>
          <p:nvPr/>
        </p:nvSpPr>
        <p:spPr>
          <a:xfrm>
            <a:off x="228600" y="4672583"/>
            <a:ext cx="502920" cy="8686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4873751"/>
            <a:ext cx="502920" cy="457200"/>
          </a:xfrm>
          <a:prstGeom prst="rect">
            <a:avLst/>
          </a:prstGeom>
          <a:noFill/>
        </p:spPr>
        <p:txBody>
          <a:bodyPr wrap="square">
            <a:spAutoFit/>
          </a:bodyPr>
          <a:lstStyle/>
          <a:p>
            <a:pPr algn="ctr"/>
            <a:r>
              <a:rPr sz="2000" b="1" i="0">
                <a:solidFill>
                  <a:srgbClr val="FFFFFF"/>
                </a:solidFill>
              </a:rPr>
              <a:t>4</a:t>
            </a:r>
          </a:p>
        </p:txBody>
      </p:sp>
      <p:sp>
        <p:nvSpPr>
          <p:cNvPr id="21" name="TextBox 20"/>
          <p:cNvSpPr txBox="1"/>
          <p:nvPr/>
        </p:nvSpPr>
        <p:spPr>
          <a:xfrm>
            <a:off x="804672" y="4690871"/>
            <a:ext cx="2743200" cy="329184"/>
          </a:xfrm>
          <a:prstGeom prst="rect">
            <a:avLst/>
          </a:prstGeom>
          <a:noFill/>
        </p:spPr>
        <p:txBody>
          <a:bodyPr wrap="square">
            <a:spAutoFit/>
          </a:bodyPr>
          <a:lstStyle/>
          <a:p>
            <a:pPr algn="l"/>
            <a:r>
              <a:rPr sz="1300" b="1" i="0">
                <a:solidFill>
                  <a:srgbClr val="9B59B6"/>
                </a:solidFill>
              </a:rPr>
              <a:t>Fused Integral</a:t>
            </a:r>
          </a:p>
        </p:txBody>
      </p:sp>
      <p:sp>
        <p:nvSpPr>
          <p:cNvPr id="22" name="TextBox 21"/>
          <p:cNvSpPr txBox="1"/>
          <p:nvPr/>
        </p:nvSpPr>
        <p:spPr>
          <a:xfrm>
            <a:off x="804672" y="5020055"/>
            <a:ext cx="11155680" cy="548640"/>
          </a:xfrm>
          <a:prstGeom prst="rect">
            <a:avLst/>
          </a:prstGeom>
          <a:noFill/>
        </p:spPr>
        <p:txBody>
          <a:bodyPr wrap="square">
            <a:spAutoFit/>
          </a:bodyPr>
          <a:lstStyle/>
          <a:p>
            <a:pPr algn="l"/>
            <a:r>
              <a:rPr sz="1050" b="0" i="0">
                <a:solidFill>
                  <a:srgbClr val="1A1A1A"/>
                </a:solidFill>
              </a:rPr>
              <a:t>μ_total(s) = μ_CT(s) + Σᵢ μᵢ·√(1−dᵢ²/rᵢ²)
I_final = I₀·exp(−∫μ_total(s) ds)
Catheter and CT share one exponent — no separate compositing pass, no alpha blending.</a:t>
            </a:r>
          </a:p>
        </p:txBody>
      </p:sp>
      <p:sp>
        <p:nvSpPr>
          <p:cNvPr id="23" name="Rectangle 22"/>
          <p:cNvSpPr/>
          <p:nvPr/>
        </p:nvSpPr>
        <p:spPr>
          <a:xfrm>
            <a:off x="228600" y="5605271"/>
            <a:ext cx="502920" cy="86868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 y="5806439"/>
            <a:ext cx="502920" cy="457200"/>
          </a:xfrm>
          <a:prstGeom prst="rect">
            <a:avLst/>
          </a:prstGeom>
          <a:noFill/>
        </p:spPr>
        <p:txBody>
          <a:bodyPr wrap="square">
            <a:spAutoFit/>
          </a:bodyPr>
          <a:lstStyle/>
          <a:p>
            <a:pPr algn="ctr"/>
            <a:r>
              <a:rPr sz="2000" b="1" i="0">
                <a:solidFill>
                  <a:srgbClr val="FFFFFF"/>
                </a:solidFill>
              </a:rPr>
              <a:t>5</a:t>
            </a:r>
          </a:p>
        </p:txBody>
      </p:sp>
      <p:sp>
        <p:nvSpPr>
          <p:cNvPr id="25" name="TextBox 24"/>
          <p:cNvSpPr txBox="1"/>
          <p:nvPr/>
        </p:nvSpPr>
        <p:spPr>
          <a:xfrm>
            <a:off x="804672" y="5623559"/>
            <a:ext cx="2743200" cy="329184"/>
          </a:xfrm>
          <a:prstGeom prst="rect">
            <a:avLst/>
          </a:prstGeom>
          <a:noFill/>
        </p:spPr>
        <p:txBody>
          <a:bodyPr wrap="square">
            <a:spAutoFit/>
          </a:bodyPr>
          <a:lstStyle/>
          <a:p>
            <a:pPr algn="l"/>
            <a:r>
              <a:rPr sz="1300" b="1" i="0">
                <a:solidFill>
                  <a:srgbClr val="16A085"/>
                </a:solidFill>
              </a:rPr>
              <a:t>Detector Realism</a:t>
            </a:r>
          </a:p>
        </p:txBody>
      </p:sp>
      <p:sp>
        <p:nvSpPr>
          <p:cNvPr id="26" name="TextBox 25"/>
          <p:cNvSpPr txBox="1"/>
          <p:nvPr/>
        </p:nvSpPr>
        <p:spPr>
          <a:xfrm>
            <a:off x="804672" y="5952743"/>
            <a:ext cx="11155680" cy="548640"/>
          </a:xfrm>
          <a:prstGeom prst="rect">
            <a:avLst/>
          </a:prstGeom>
          <a:noFill/>
        </p:spPr>
        <p:txBody>
          <a:bodyPr wrap="square">
            <a:spAutoFit/>
          </a:bodyPr>
          <a:lstStyle/>
          <a:p>
            <a:pPr algn="l"/>
            <a:r>
              <a:rPr sz="1050" b="0" i="0">
                <a:solidFill>
                  <a:srgbClr val="1A1A1A"/>
                </a:solidFill>
              </a:rPr>
              <a:t>Poisson quantum noise (photon count N_ph → Poisson(N_ph·I))
PSF convolution (Gaussian σ=0.7 px — scintillator light spread)
Gamma correction + misregistration jitter (σ_rot=0.05°, σ_trans=0.1 mm)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Stage 1 — CT Ingestion Pipeline</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Runs once per patient anatomy.  Produces two GPU-resident assets that every downstream stage depends on.</a:t>
            </a:r>
          </a:p>
        </p:txBody>
      </p:sp>
      <p:sp>
        <p:nvSpPr>
          <p:cNvPr id="7" name="Rectangle 6"/>
          <p:cNvSpPr/>
          <p:nvPr/>
        </p:nvSpPr>
        <p:spPr>
          <a:xfrm>
            <a:off x="274320" y="1920240"/>
            <a:ext cx="2103120" cy="16916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920240"/>
            <a:ext cx="210312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965960"/>
            <a:ext cx="1965960" cy="347472"/>
          </a:xfrm>
          <a:prstGeom prst="rect">
            <a:avLst/>
          </a:prstGeom>
          <a:noFill/>
        </p:spPr>
        <p:txBody>
          <a:bodyPr wrap="square">
            <a:spAutoFit/>
          </a:bodyPr>
          <a:lstStyle/>
          <a:p>
            <a:pPr algn="l"/>
            <a:r>
              <a:rPr sz="1100" b="1" i="0">
                <a:solidFill>
                  <a:srgbClr val="FFFFFF"/>
                </a:solidFill>
              </a:rPr>
              <a:t>CT / CTA Input
(DICOM / NIfTI)</a:t>
            </a:r>
          </a:p>
        </p:txBody>
      </p:sp>
      <p:sp>
        <p:nvSpPr>
          <p:cNvPr id="10" name="TextBox 9"/>
          <p:cNvSpPr txBox="1"/>
          <p:nvPr/>
        </p:nvSpPr>
        <p:spPr>
          <a:xfrm>
            <a:off x="347472" y="2377440"/>
            <a:ext cx="1965960" cy="1188720"/>
          </a:xfrm>
          <a:prstGeom prst="rect">
            <a:avLst/>
          </a:prstGeom>
          <a:noFill/>
        </p:spPr>
        <p:txBody>
          <a:bodyPr wrap="square">
            <a:spAutoFit/>
          </a:bodyPr>
          <a:lstStyle/>
          <a:p>
            <a:pPr algn="l"/>
            <a:r>
              <a:rPr sz="1050" b="0" i="0">
                <a:solidFill>
                  <a:srgbClr val="1A1A1A"/>
                </a:solidFill>
              </a:rPr>
              <a:t>Raw 3D Hounsfield Unit volume from clinical scanner.</a:t>
            </a:r>
          </a:p>
        </p:txBody>
      </p:sp>
      <p:sp>
        <p:nvSpPr>
          <p:cNvPr id="11" name="Rectangle 10"/>
          <p:cNvSpPr/>
          <p:nvPr/>
        </p:nvSpPr>
        <p:spPr>
          <a:xfrm>
            <a:off x="2560320" y="1920240"/>
            <a:ext cx="2103120" cy="1691640"/>
          </a:xfrm>
          <a:prstGeom prst="rect">
            <a:avLst/>
          </a:prstGeom>
          <a:solidFill>
            <a:srgbClr val="F2F2F2"/>
          </a:solidFill>
          <a:ln w="952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0" y="1920240"/>
            <a:ext cx="2103120" cy="41148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33472" y="1965960"/>
            <a:ext cx="1965960" cy="347472"/>
          </a:xfrm>
          <a:prstGeom prst="rect">
            <a:avLst/>
          </a:prstGeom>
          <a:noFill/>
        </p:spPr>
        <p:txBody>
          <a:bodyPr wrap="square">
            <a:spAutoFit/>
          </a:bodyPr>
          <a:lstStyle/>
          <a:p>
            <a:pPr algn="l"/>
            <a:r>
              <a:rPr sz="1100" b="1" i="0">
                <a:solidFill>
                  <a:srgbClr val="FFFFFF"/>
                </a:solidFill>
              </a:rPr>
              <a:t>HU → μ Conversion</a:t>
            </a:r>
          </a:p>
        </p:txBody>
      </p:sp>
      <p:sp>
        <p:nvSpPr>
          <p:cNvPr id="14" name="TextBox 13"/>
          <p:cNvSpPr txBox="1"/>
          <p:nvPr/>
        </p:nvSpPr>
        <p:spPr>
          <a:xfrm>
            <a:off x="2633472" y="2377440"/>
            <a:ext cx="1965960" cy="1188720"/>
          </a:xfrm>
          <a:prstGeom prst="rect">
            <a:avLst/>
          </a:prstGeom>
          <a:noFill/>
        </p:spPr>
        <p:txBody>
          <a:bodyPr wrap="square">
            <a:spAutoFit/>
          </a:bodyPr>
          <a:lstStyle/>
          <a:p>
            <a:pPr algn="l"/>
            <a:r>
              <a:rPr sz="1050" b="0" i="0">
                <a:solidFill>
                  <a:srgbClr val="1A1A1A"/>
                </a:solidFill>
              </a:rPr>
              <a:t>Piecewise-linear map: HU[−1000,3000] → μ[0, 0.5] mm⁻¹.
Dense bone ~0.3–0.5.  Soft tissue ~0.02–0.05.  Air ~0.0.</a:t>
            </a:r>
          </a:p>
        </p:txBody>
      </p:sp>
      <p:sp>
        <p:nvSpPr>
          <p:cNvPr id="15" name="Rectangle 14"/>
          <p:cNvSpPr/>
          <p:nvPr/>
        </p:nvSpPr>
        <p:spPr>
          <a:xfrm>
            <a:off x="4846320" y="1920240"/>
            <a:ext cx="2103120" cy="16916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46320" y="1920240"/>
            <a:ext cx="210312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9472" y="1965960"/>
            <a:ext cx="1965960" cy="347472"/>
          </a:xfrm>
          <a:prstGeom prst="rect">
            <a:avLst/>
          </a:prstGeom>
          <a:noFill/>
        </p:spPr>
        <p:txBody>
          <a:bodyPr wrap="square">
            <a:spAutoFit/>
          </a:bodyPr>
          <a:lstStyle/>
          <a:p>
            <a:pPr algn="l"/>
            <a:r>
              <a:rPr sz="1100" b="1" i="0">
                <a:solidFill>
                  <a:srgbClr val="FFFFFF"/>
                </a:solidFill>
              </a:rPr>
              <a:t>μ Volume (3D tensor)</a:t>
            </a:r>
          </a:p>
        </p:txBody>
      </p:sp>
      <p:sp>
        <p:nvSpPr>
          <p:cNvPr id="18" name="TextBox 17"/>
          <p:cNvSpPr txBox="1"/>
          <p:nvPr/>
        </p:nvSpPr>
        <p:spPr>
          <a:xfrm>
            <a:off x="4919472" y="2377440"/>
            <a:ext cx="1965960" cy="1188720"/>
          </a:xfrm>
          <a:prstGeom prst="rect">
            <a:avLst/>
          </a:prstGeom>
          <a:noFill/>
        </p:spPr>
        <p:txBody>
          <a:bodyPr wrap="square">
            <a:spAutoFit/>
          </a:bodyPr>
          <a:lstStyle/>
          <a:p>
            <a:pPr algn="l"/>
            <a:r>
              <a:rPr sz="1050" b="0" i="0">
                <a:solidFill>
                  <a:srgbClr val="1A1A1A"/>
                </a:solidFill>
              </a:rPr>
              <a:t>Uploaded to GPU texture once.  Static for entire training session.
→ Fed to Slang DRR renderer every frame.</a:t>
            </a:r>
          </a:p>
        </p:txBody>
      </p:sp>
      <p:sp>
        <p:nvSpPr>
          <p:cNvPr id="19" name="Rectangle 18"/>
          <p:cNvSpPr/>
          <p:nvPr/>
        </p:nvSpPr>
        <p:spPr>
          <a:xfrm>
            <a:off x="7132320" y="1920240"/>
            <a:ext cx="2103120" cy="1691640"/>
          </a:xfrm>
          <a:prstGeom prst="rect">
            <a:avLst/>
          </a:prstGeom>
          <a:solidFill>
            <a:srgbClr val="F2F2F2"/>
          </a:solidFill>
          <a:ln w="9525">
            <a:solidFill>
              <a:srgbClr val="00A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0" y="1920240"/>
            <a:ext cx="2103120" cy="41148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05472" y="1965960"/>
            <a:ext cx="1965960" cy="347472"/>
          </a:xfrm>
          <a:prstGeom prst="rect">
            <a:avLst/>
          </a:prstGeom>
          <a:noFill/>
        </p:spPr>
        <p:txBody>
          <a:bodyPr wrap="square">
            <a:spAutoFit/>
          </a:bodyPr>
          <a:lstStyle/>
          <a:p>
            <a:pPr algn="l"/>
            <a:r>
              <a:rPr sz="1100" b="1" i="0">
                <a:solidFill>
                  <a:srgbClr val="FFFFFF"/>
                </a:solidFill>
              </a:rPr>
              <a:t>Vessel Segmentation</a:t>
            </a:r>
          </a:p>
        </p:txBody>
      </p:sp>
      <p:sp>
        <p:nvSpPr>
          <p:cNvPr id="22" name="TextBox 21"/>
          <p:cNvSpPr txBox="1"/>
          <p:nvPr/>
        </p:nvSpPr>
        <p:spPr>
          <a:xfrm>
            <a:off x="7205472" y="2377440"/>
            <a:ext cx="1965960" cy="1188720"/>
          </a:xfrm>
          <a:prstGeom prst="rect">
            <a:avLst/>
          </a:prstGeom>
          <a:noFill/>
        </p:spPr>
        <p:txBody>
          <a:bodyPr wrap="square">
            <a:spAutoFit/>
          </a:bodyPr>
          <a:lstStyle/>
          <a:p>
            <a:pPr algn="l"/>
            <a:r>
              <a:rPr sz="1050" b="0" i="0">
                <a:solidFill>
                  <a:srgbClr val="1A1A1A"/>
                </a:solidFill>
              </a:rPr>
              <a:t>HU threshold on contrast-enhanced CT (vessels ~100–300 HU above baseline).
→ Binary vessel mask.</a:t>
            </a:r>
          </a:p>
        </p:txBody>
      </p:sp>
      <p:sp>
        <p:nvSpPr>
          <p:cNvPr id="23" name="Rectangle 22"/>
          <p:cNvSpPr/>
          <p:nvPr/>
        </p:nvSpPr>
        <p:spPr>
          <a:xfrm>
            <a:off x="4846320" y="3840480"/>
            <a:ext cx="2103120" cy="169164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46320" y="3840480"/>
            <a:ext cx="210312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9472" y="3886200"/>
            <a:ext cx="1965960" cy="347472"/>
          </a:xfrm>
          <a:prstGeom prst="rect">
            <a:avLst/>
          </a:prstGeom>
          <a:noFill/>
        </p:spPr>
        <p:txBody>
          <a:bodyPr wrap="square">
            <a:spAutoFit/>
          </a:bodyPr>
          <a:lstStyle/>
          <a:p>
            <a:pPr algn="l"/>
            <a:r>
              <a:rPr sz="1100" b="1" i="0">
                <a:solidFill>
                  <a:srgbClr val="FFFFFF"/>
                </a:solidFill>
              </a:rPr>
              <a:t>Mesh Generation</a:t>
            </a:r>
          </a:p>
        </p:txBody>
      </p:sp>
      <p:sp>
        <p:nvSpPr>
          <p:cNvPr id="26" name="TextBox 25"/>
          <p:cNvSpPr txBox="1"/>
          <p:nvPr/>
        </p:nvSpPr>
        <p:spPr>
          <a:xfrm>
            <a:off x="4919472" y="4297680"/>
            <a:ext cx="1965960" cy="1188720"/>
          </a:xfrm>
          <a:prstGeom prst="rect">
            <a:avLst/>
          </a:prstGeom>
          <a:noFill/>
        </p:spPr>
        <p:txBody>
          <a:bodyPr wrap="square">
            <a:spAutoFit/>
          </a:bodyPr>
          <a:lstStyle/>
          <a:p>
            <a:pPr algn="l"/>
            <a:r>
              <a:rPr sz="1050" b="0" i="0">
                <a:solidFill>
                  <a:srgbClr val="1A1A1A"/>
                </a:solidFill>
              </a:rPr>
              <a:t>Marching Cubes / VTK on binary mask → polygon mesh.
Converted to warp.Mesh (metres).  → Collision geometry for XCathRodSolver.</a:t>
            </a:r>
          </a:p>
        </p:txBody>
      </p:sp>
      <p:sp>
        <p:nvSpPr>
          <p:cNvPr id="27" name="Rectangle 26"/>
          <p:cNvSpPr/>
          <p:nvPr/>
        </p:nvSpPr>
        <p:spPr>
          <a:xfrm>
            <a:off x="7132320" y="3840480"/>
            <a:ext cx="2103120" cy="1691640"/>
          </a:xfrm>
          <a:prstGeom prst="rect">
            <a:avLst/>
          </a:prstGeom>
          <a:solidFill>
            <a:srgbClr val="F2F2F2"/>
          </a:solidFill>
          <a:ln w="9525">
            <a:solidFill>
              <a:srgbClr val="00A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0" y="3840480"/>
            <a:ext cx="2103120" cy="41148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05472" y="3886200"/>
            <a:ext cx="1965960" cy="347472"/>
          </a:xfrm>
          <a:prstGeom prst="rect">
            <a:avLst/>
          </a:prstGeom>
          <a:noFill/>
        </p:spPr>
        <p:txBody>
          <a:bodyPr wrap="square">
            <a:spAutoFit/>
          </a:bodyPr>
          <a:lstStyle/>
          <a:p>
            <a:pPr algn="l"/>
            <a:r>
              <a:rPr sz="1100" b="1" i="0">
                <a:solidFill>
                  <a:srgbClr val="FFFFFF"/>
                </a:solidFill>
              </a:rPr>
              <a:t>Centerline Extraction</a:t>
            </a:r>
          </a:p>
        </p:txBody>
      </p:sp>
      <p:sp>
        <p:nvSpPr>
          <p:cNvPr id="30" name="TextBox 29"/>
          <p:cNvSpPr txBox="1"/>
          <p:nvPr/>
        </p:nvSpPr>
        <p:spPr>
          <a:xfrm>
            <a:off x="7205472" y="4297680"/>
            <a:ext cx="1965960" cy="1188720"/>
          </a:xfrm>
          <a:prstGeom prst="rect">
            <a:avLst/>
          </a:prstGeom>
          <a:noFill/>
        </p:spPr>
        <p:txBody>
          <a:bodyPr wrap="square">
            <a:spAutoFit/>
          </a:bodyPr>
          <a:lstStyle/>
          <a:p>
            <a:pPr algn="l"/>
            <a:r>
              <a:rPr sz="1050" b="0" i="0">
                <a:solidFill>
                  <a:srgbClr val="1A1A1A"/>
                </a:solidFill>
              </a:rPr>
              <a:t>VMTK centerline skeleton from vessel mask.
→ CenterlineGraph (nodes + edges).
→ Dijkstra arrival map for temporal bolus dynamics.</a:t>
            </a:r>
          </a:p>
        </p:txBody>
      </p:sp>
      <p:sp>
        <p:nvSpPr>
          <p:cNvPr id="31" name="TextBox 30"/>
          <p:cNvSpPr txBox="1"/>
          <p:nvPr/>
        </p:nvSpPr>
        <p:spPr>
          <a:xfrm>
            <a:off x="274320" y="6035040"/>
            <a:ext cx="11612880" cy="658368"/>
          </a:xfrm>
          <a:prstGeom prst="rect">
            <a:avLst/>
          </a:prstGeom>
          <a:noFill/>
        </p:spPr>
        <p:txBody>
          <a:bodyPr wrap="square">
            <a:spAutoFit/>
          </a:bodyPr>
          <a:lstStyle/>
          <a:p>
            <a:pPr algn="l"/>
            <a:r>
              <a:rPr sz="1200" b="1" i="0">
                <a:solidFill>
                  <a:srgbClr val="76B900"/>
                </a:solidFill>
              </a:rPr>
              <a:t>Key:  The CT volume is a static 3D texture on the GPU.  Only the catheter geometry buffer changes frame-to-frame.  This is why the renderer can run at 25–63 FPS — no per-frame CT reconstruction.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DSA Pipeline + Temporal Bolus Dynamics</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4-step Digital Subtraction Angiography.  Gamma-variate contrast kinetics + Dijkstra arrival map.</a:t>
            </a:r>
          </a:p>
        </p:txBody>
      </p:sp>
      <p:sp>
        <p:nvSpPr>
          <p:cNvPr id="7" name="Rectangle 6"/>
          <p:cNvSpPr/>
          <p:nvPr/>
        </p:nvSpPr>
        <p:spPr>
          <a:xfrm>
            <a:off x="228600" y="1920240"/>
            <a:ext cx="2743200" cy="201168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920240"/>
            <a:ext cx="27432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947672"/>
            <a:ext cx="2560320" cy="347472"/>
          </a:xfrm>
          <a:prstGeom prst="rect">
            <a:avLst/>
          </a:prstGeom>
          <a:noFill/>
        </p:spPr>
        <p:txBody>
          <a:bodyPr wrap="square">
            <a:spAutoFit/>
          </a:bodyPr>
          <a:lstStyle/>
          <a:p>
            <a:pPr algn="l"/>
            <a:r>
              <a:rPr sz="1300" b="1" i="0">
                <a:solidFill>
                  <a:srgbClr val="FFFFFF"/>
                </a:solidFill>
              </a:rPr>
              <a:t>1. Mask DRR</a:t>
            </a:r>
          </a:p>
        </p:txBody>
      </p:sp>
      <p:sp>
        <p:nvSpPr>
          <p:cNvPr id="10" name="TextBox 9"/>
          <p:cNvSpPr txBox="1"/>
          <p:nvPr/>
        </p:nvSpPr>
        <p:spPr>
          <a:xfrm>
            <a:off x="320040" y="2377440"/>
            <a:ext cx="2578608" cy="1508760"/>
          </a:xfrm>
          <a:prstGeom prst="rect">
            <a:avLst/>
          </a:prstGeom>
          <a:noFill/>
        </p:spPr>
        <p:txBody>
          <a:bodyPr wrap="square">
            <a:spAutoFit/>
          </a:bodyPr>
          <a:lstStyle/>
          <a:p>
            <a:pPr algn="l"/>
            <a:r>
              <a:rPr sz="1050" b="0" i="0">
                <a:solidFill>
                  <a:srgbClr val="1A1A1A"/>
                </a:solidFill>
              </a:rPr>
              <a:t>Render anatomy without contrast (before injection).
C-arm pose recorded precisely.</a:t>
            </a:r>
          </a:p>
        </p:txBody>
      </p:sp>
      <p:sp>
        <p:nvSpPr>
          <p:cNvPr id="11" name="TextBox 10"/>
          <p:cNvSpPr txBox="1"/>
          <p:nvPr/>
        </p:nvSpPr>
        <p:spPr>
          <a:xfrm>
            <a:off x="3008376" y="2651760"/>
            <a:ext cx="228600" cy="365760"/>
          </a:xfrm>
          <a:prstGeom prst="rect">
            <a:avLst/>
          </a:prstGeom>
          <a:noFill/>
        </p:spPr>
        <p:txBody>
          <a:bodyPr wrap="square">
            <a:spAutoFit/>
          </a:bodyPr>
          <a:lstStyle/>
          <a:p>
            <a:pPr algn="l"/>
            <a:r>
              <a:rPr sz="1600" b="1" i="0">
                <a:solidFill>
                  <a:srgbClr val="76B900"/>
                </a:solidFill>
              </a:rPr>
              <a:t>▶</a:t>
            </a:r>
          </a:p>
        </p:txBody>
      </p:sp>
      <p:sp>
        <p:nvSpPr>
          <p:cNvPr id="12" name="Rectangle 11"/>
          <p:cNvSpPr/>
          <p:nvPr/>
        </p:nvSpPr>
        <p:spPr>
          <a:xfrm>
            <a:off x="3227832" y="1920240"/>
            <a:ext cx="2743200" cy="2011680"/>
          </a:xfrm>
          <a:prstGeom prst="rect">
            <a:avLst/>
          </a:prstGeom>
          <a:solidFill>
            <a:srgbClr val="F2F2F2"/>
          </a:solidFill>
          <a:ln w="9525">
            <a:solidFill>
              <a:srgbClr val="00A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1920240"/>
            <a:ext cx="2743200" cy="41148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9272" y="1947672"/>
            <a:ext cx="2560320" cy="347472"/>
          </a:xfrm>
          <a:prstGeom prst="rect">
            <a:avLst/>
          </a:prstGeom>
          <a:noFill/>
        </p:spPr>
        <p:txBody>
          <a:bodyPr wrap="square">
            <a:spAutoFit/>
          </a:bodyPr>
          <a:lstStyle/>
          <a:p>
            <a:pPr algn="l"/>
            <a:r>
              <a:rPr sz="1300" b="1" i="0">
                <a:solidFill>
                  <a:srgbClr val="FFFFFF"/>
                </a:solidFill>
              </a:rPr>
              <a:t>2. Contrast DRR</a:t>
            </a:r>
          </a:p>
        </p:txBody>
      </p:sp>
      <p:sp>
        <p:nvSpPr>
          <p:cNvPr id="15" name="TextBox 14"/>
          <p:cNvSpPr txBox="1"/>
          <p:nvPr/>
        </p:nvSpPr>
        <p:spPr>
          <a:xfrm>
            <a:off x="3319272" y="2377440"/>
            <a:ext cx="2578608" cy="1508760"/>
          </a:xfrm>
          <a:prstGeom prst="rect">
            <a:avLst/>
          </a:prstGeom>
          <a:noFill/>
        </p:spPr>
        <p:txBody>
          <a:bodyPr wrap="square">
            <a:spAutoFit/>
          </a:bodyPr>
          <a:lstStyle/>
          <a:p>
            <a:pPr algn="l"/>
            <a:r>
              <a:rPr sz="1050" b="0" i="0">
                <a:solidFill>
                  <a:srgbClr val="1A1A1A"/>
                </a:solidFill>
              </a:rPr>
              <a:t>Inject bolus:  Δμ(v,t) = μ_iodine · C(t − T(v)) · vessel_mask(v)
C(t): gamma-variate  c_peak·(t/t_peak)^α·exp(α(1−t/t_peak))
T(v): per-voxel arrival time from Dijkstra on CenterlineGraph.</a:t>
            </a:r>
          </a:p>
        </p:txBody>
      </p:sp>
      <p:sp>
        <p:nvSpPr>
          <p:cNvPr id="16" name="TextBox 15"/>
          <p:cNvSpPr txBox="1"/>
          <p:nvPr/>
        </p:nvSpPr>
        <p:spPr>
          <a:xfrm>
            <a:off x="6007608" y="2651760"/>
            <a:ext cx="228600" cy="365760"/>
          </a:xfrm>
          <a:prstGeom prst="rect">
            <a:avLst/>
          </a:prstGeom>
          <a:noFill/>
        </p:spPr>
        <p:txBody>
          <a:bodyPr wrap="square">
            <a:spAutoFit/>
          </a:bodyPr>
          <a:lstStyle/>
          <a:p>
            <a:pPr algn="l"/>
            <a:r>
              <a:rPr sz="1600" b="1" i="0">
                <a:solidFill>
                  <a:srgbClr val="00A0D0"/>
                </a:solidFill>
              </a:rPr>
              <a:t>▶</a:t>
            </a:r>
          </a:p>
        </p:txBody>
      </p:sp>
      <p:sp>
        <p:nvSpPr>
          <p:cNvPr id="17" name="Rectangle 16"/>
          <p:cNvSpPr/>
          <p:nvPr/>
        </p:nvSpPr>
        <p:spPr>
          <a:xfrm>
            <a:off x="6227064" y="1920240"/>
            <a:ext cx="2743200" cy="2011680"/>
          </a:xfrm>
          <a:prstGeom prst="rect">
            <a:avLst/>
          </a:prstGeom>
          <a:solidFill>
            <a:srgbClr val="F2F2F2"/>
          </a:solidFill>
          <a:ln w="952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27064" y="1920240"/>
            <a:ext cx="274320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8503" y="1947672"/>
            <a:ext cx="2560320" cy="347472"/>
          </a:xfrm>
          <a:prstGeom prst="rect">
            <a:avLst/>
          </a:prstGeom>
          <a:noFill/>
        </p:spPr>
        <p:txBody>
          <a:bodyPr wrap="square">
            <a:spAutoFit/>
          </a:bodyPr>
          <a:lstStyle/>
          <a:p>
            <a:pPr algn="l"/>
            <a:r>
              <a:rPr sz="1300" b="1" i="0">
                <a:solidFill>
                  <a:srgbClr val="FFFFFF"/>
                </a:solidFill>
              </a:rPr>
              <a:t>3. Scatter + Jitter</a:t>
            </a:r>
          </a:p>
        </p:txBody>
      </p:sp>
      <p:sp>
        <p:nvSpPr>
          <p:cNvPr id="20" name="TextBox 19"/>
          <p:cNvSpPr txBox="1"/>
          <p:nvPr/>
        </p:nvSpPr>
        <p:spPr>
          <a:xfrm>
            <a:off x="6318503" y="2377440"/>
            <a:ext cx="2578608" cy="1508760"/>
          </a:xfrm>
          <a:prstGeom prst="rect">
            <a:avLst/>
          </a:prstGeom>
          <a:noFill/>
        </p:spPr>
        <p:txBody>
          <a:bodyPr wrap="square">
            <a:spAutoFit/>
          </a:bodyPr>
          <a:lstStyle/>
          <a:p>
            <a:pPr algn="l"/>
            <a:r>
              <a:rPr sz="1050" b="0" i="0">
                <a:solidFill>
                  <a:srgbClr val="1A1A1A"/>
                </a:solidFill>
              </a:rPr>
              <a:t>apply_scatter() adds Compton scatter haze.
apply_misregistration(): σ_rot=0.05°, σ_trans=0.1 mm — simulates patient motion.
Critical: introduces bone-edge residuals that monoenergetic rendering suppresses.</a:t>
            </a:r>
          </a:p>
        </p:txBody>
      </p:sp>
      <p:sp>
        <p:nvSpPr>
          <p:cNvPr id="21" name="TextBox 20"/>
          <p:cNvSpPr txBox="1"/>
          <p:nvPr/>
        </p:nvSpPr>
        <p:spPr>
          <a:xfrm>
            <a:off x="9006840" y="2651760"/>
            <a:ext cx="228600" cy="365760"/>
          </a:xfrm>
          <a:prstGeom prst="rect">
            <a:avLst/>
          </a:prstGeom>
          <a:noFill/>
        </p:spPr>
        <p:txBody>
          <a:bodyPr wrap="square">
            <a:spAutoFit/>
          </a:bodyPr>
          <a:lstStyle/>
          <a:p>
            <a:pPr algn="l"/>
            <a:r>
              <a:rPr sz="1600" b="1" i="0">
                <a:solidFill>
                  <a:srgbClr val="E67E22"/>
                </a:solidFill>
              </a:rPr>
              <a:t>▶</a:t>
            </a:r>
          </a:p>
        </p:txBody>
      </p:sp>
      <p:sp>
        <p:nvSpPr>
          <p:cNvPr id="22" name="Rectangle 21"/>
          <p:cNvSpPr/>
          <p:nvPr/>
        </p:nvSpPr>
        <p:spPr>
          <a:xfrm>
            <a:off x="9226296" y="1920240"/>
            <a:ext cx="2743200" cy="2011680"/>
          </a:xfrm>
          <a:prstGeom prst="rect">
            <a:avLst/>
          </a:prstGeom>
          <a:solidFill>
            <a:srgbClr val="F2F2F2"/>
          </a:solidFill>
          <a:ln w="9525">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26296" y="1920240"/>
            <a:ext cx="2743200" cy="4114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17736" y="1947672"/>
            <a:ext cx="2560320" cy="347472"/>
          </a:xfrm>
          <a:prstGeom prst="rect">
            <a:avLst/>
          </a:prstGeom>
          <a:noFill/>
        </p:spPr>
        <p:txBody>
          <a:bodyPr wrap="square">
            <a:spAutoFit/>
          </a:bodyPr>
          <a:lstStyle/>
          <a:p>
            <a:pPr algn="l"/>
            <a:r>
              <a:rPr sz="1300" b="1" i="0">
                <a:solidFill>
                  <a:srgbClr val="FFFFFF"/>
                </a:solidFill>
              </a:rPr>
              <a:t>4. Subtract + Post</a:t>
            </a:r>
          </a:p>
        </p:txBody>
      </p:sp>
      <p:sp>
        <p:nvSpPr>
          <p:cNvPr id="25" name="TextBox 24"/>
          <p:cNvSpPr txBox="1"/>
          <p:nvPr/>
        </p:nvSpPr>
        <p:spPr>
          <a:xfrm>
            <a:off x="9317736" y="2377440"/>
            <a:ext cx="2578608" cy="1508760"/>
          </a:xfrm>
          <a:prstGeom prst="rect">
            <a:avLst/>
          </a:prstGeom>
          <a:noFill/>
        </p:spPr>
        <p:txBody>
          <a:bodyPr wrap="square">
            <a:spAutoFit/>
          </a:bodyPr>
          <a:lstStyle/>
          <a:p>
            <a:pPr algn="l"/>
            <a:r>
              <a:rPr sz="1050" b="0" i="0">
                <a:solidFill>
                  <a:srgbClr val="1A1A1A"/>
                </a:solidFill>
              </a:rPr>
              <a:t>DSA = contrast_DRR − mask_DRR  (in log domain).
Post-process: normalize → gamma → clip → vessel boost (μ×factor on mask).</a:t>
            </a:r>
          </a:p>
        </p:txBody>
      </p:sp>
      <p:sp>
        <p:nvSpPr>
          <p:cNvPr id="26" name="TextBox 25"/>
          <p:cNvSpPr txBox="1"/>
          <p:nvPr/>
        </p:nvSpPr>
        <p:spPr>
          <a:xfrm>
            <a:off x="274320" y="4096512"/>
            <a:ext cx="11612880" cy="347472"/>
          </a:xfrm>
          <a:prstGeom prst="rect">
            <a:avLst/>
          </a:prstGeom>
          <a:noFill/>
        </p:spPr>
        <p:txBody>
          <a:bodyPr wrap="square">
            <a:spAutoFit/>
          </a:bodyPr>
          <a:lstStyle/>
          <a:p>
            <a:pPr algn="l"/>
            <a:r>
              <a:rPr sz="1500" b="1" i="0">
                <a:solidFill>
                  <a:srgbClr val="AA6600"/>
                </a:solidFill>
              </a:rPr>
              <a:t>XCath Bolus Validation Results  (not yet merged into fluorosim)</a:t>
            </a:r>
          </a:p>
        </p:txBody>
      </p:sp>
      <p:sp>
        <p:nvSpPr>
          <p:cNvPr id="27" name="TextBox 26"/>
          <p:cNvSpPr txBox="1"/>
          <p:nvPr/>
        </p:nvSpPr>
        <p:spPr>
          <a:xfrm>
            <a:off x="274320" y="4480560"/>
            <a:ext cx="11612880" cy="594360"/>
          </a:xfrm>
          <a:prstGeom prst="rect">
            <a:avLst/>
          </a:prstGeom>
          <a:noFill/>
        </p:spPr>
        <p:txBody>
          <a:bodyPr wrap="square">
            <a:spAutoFit/>
          </a:bodyPr>
          <a:lstStyle/>
          <a:p>
            <a:pPr algn="l"/>
            <a:r>
              <a:rPr sz="1100" b="0" i="1">
                <a:solidFill>
                  <a:srgbClr val="1A1A1A"/>
                </a:solidFill>
              </a:rPr>
              <a:t>XCath validated Hagen-Poiseuille (power=2.0) and Feeding Trunk Excision (F-8) against real clinical DSA.  These results are algorithmically proven but the code changes are not yet merged into the fluorosim repo.  Current fluorosim uses Dijkstra with simple edge weights and multi-root injection.  Merge target: Sprint 2.</a:t>
            </a:r>
          </a:p>
        </p:txBody>
      </p:sp>
      <p:sp>
        <p:nvSpPr>
          <p:cNvPr id="28" name="Rectangle 27"/>
          <p:cNvSpPr/>
          <p:nvPr/>
        </p:nvSpPr>
        <p:spPr>
          <a:xfrm>
            <a:off x="274320" y="5148072"/>
            <a:ext cx="201168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166359"/>
            <a:ext cx="1920240" cy="246888"/>
          </a:xfrm>
          <a:prstGeom prst="rect">
            <a:avLst/>
          </a:prstGeom>
          <a:noFill/>
        </p:spPr>
        <p:txBody>
          <a:bodyPr wrap="square">
            <a:spAutoFit/>
          </a:bodyPr>
          <a:lstStyle/>
          <a:p>
            <a:pPr algn="l"/>
            <a:r>
              <a:rPr sz="1200" b="1" i="0">
                <a:solidFill>
                  <a:srgbClr val="1A1A1A"/>
                </a:solidFill>
              </a:rPr>
              <a:t>Metric</a:t>
            </a:r>
          </a:p>
        </p:txBody>
      </p:sp>
      <p:sp>
        <p:nvSpPr>
          <p:cNvPr id="30" name="Rectangle 29"/>
          <p:cNvSpPr/>
          <p:nvPr/>
        </p:nvSpPr>
        <p:spPr>
          <a:xfrm>
            <a:off x="2286000" y="5148072"/>
            <a:ext cx="233172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31720" y="5166359"/>
            <a:ext cx="2240279" cy="246888"/>
          </a:xfrm>
          <a:prstGeom prst="rect">
            <a:avLst/>
          </a:prstGeom>
          <a:noFill/>
        </p:spPr>
        <p:txBody>
          <a:bodyPr wrap="square">
            <a:spAutoFit/>
          </a:bodyPr>
          <a:lstStyle/>
          <a:p>
            <a:pPr algn="l"/>
            <a:r>
              <a:rPr sz="1200" b="1" i="0">
                <a:solidFill>
                  <a:srgbClr val="1A1A1A"/>
                </a:solidFill>
              </a:rPr>
              <a:t>Current fluorosim</a:t>
            </a:r>
          </a:p>
        </p:txBody>
      </p:sp>
      <p:sp>
        <p:nvSpPr>
          <p:cNvPr id="32" name="Rectangle 31"/>
          <p:cNvSpPr/>
          <p:nvPr/>
        </p:nvSpPr>
        <p:spPr>
          <a:xfrm>
            <a:off x="4617720" y="5148072"/>
            <a:ext cx="297180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5166359"/>
            <a:ext cx="2880360" cy="246888"/>
          </a:xfrm>
          <a:prstGeom prst="rect">
            <a:avLst/>
          </a:prstGeom>
          <a:noFill/>
        </p:spPr>
        <p:txBody>
          <a:bodyPr wrap="square">
            <a:spAutoFit/>
          </a:bodyPr>
          <a:lstStyle/>
          <a:p>
            <a:pPr algn="l"/>
            <a:r>
              <a:rPr sz="1200" b="1" i="0">
                <a:solidFill>
                  <a:srgbClr val="1A1A1A"/>
                </a:solidFill>
              </a:rPr>
              <a:t>XCath validated (not merged)</a:t>
            </a:r>
          </a:p>
        </p:txBody>
      </p:sp>
      <p:sp>
        <p:nvSpPr>
          <p:cNvPr id="34" name="Rectangle 33"/>
          <p:cNvSpPr/>
          <p:nvPr/>
        </p:nvSpPr>
        <p:spPr>
          <a:xfrm>
            <a:off x="7589520" y="5148072"/>
            <a:ext cx="2496312"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35240" y="5166359"/>
            <a:ext cx="2404872" cy="246888"/>
          </a:xfrm>
          <a:prstGeom prst="rect">
            <a:avLst/>
          </a:prstGeom>
          <a:noFill/>
        </p:spPr>
        <p:txBody>
          <a:bodyPr wrap="square">
            <a:spAutoFit/>
          </a:bodyPr>
          <a:lstStyle/>
          <a:p>
            <a:pPr algn="l"/>
            <a:r>
              <a:rPr sz="1200" b="1" i="0">
                <a:solidFill>
                  <a:srgbClr val="1A1A1A"/>
                </a:solidFill>
              </a:rPr>
              <a:t>Real DSA</a:t>
            </a:r>
          </a:p>
        </p:txBody>
      </p:sp>
      <p:sp>
        <p:nvSpPr>
          <p:cNvPr id="36" name="Rectangle 35"/>
          <p:cNvSpPr/>
          <p:nvPr/>
        </p:nvSpPr>
        <p:spPr>
          <a:xfrm>
            <a:off x="274320" y="5440680"/>
            <a:ext cx="20116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5458968"/>
            <a:ext cx="1920240" cy="246888"/>
          </a:xfrm>
          <a:prstGeom prst="rect">
            <a:avLst/>
          </a:prstGeom>
          <a:noFill/>
        </p:spPr>
        <p:txBody>
          <a:bodyPr wrap="square">
            <a:spAutoFit/>
          </a:bodyPr>
          <a:lstStyle/>
          <a:p>
            <a:pPr algn="l"/>
            <a:r>
              <a:rPr sz="1100" b="0" i="0">
                <a:solidFill>
                  <a:srgbClr val="1A1A1A"/>
                </a:solidFill>
              </a:rPr>
              <a:t>Bolus delay</a:t>
            </a:r>
          </a:p>
        </p:txBody>
      </p:sp>
      <p:sp>
        <p:nvSpPr>
          <p:cNvPr id="38" name="Rectangle 37"/>
          <p:cNvSpPr/>
          <p:nvPr/>
        </p:nvSpPr>
        <p:spPr>
          <a:xfrm>
            <a:off x="2286000" y="5440680"/>
            <a:ext cx="23317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31720" y="5458968"/>
            <a:ext cx="2240279" cy="246888"/>
          </a:xfrm>
          <a:prstGeom prst="rect">
            <a:avLst/>
          </a:prstGeom>
          <a:noFill/>
        </p:spPr>
        <p:txBody>
          <a:bodyPr wrap="square">
            <a:spAutoFit/>
          </a:bodyPr>
          <a:lstStyle/>
          <a:p>
            <a:pPr algn="l"/>
            <a:r>
              <a:rPr sz="1100" b="0" i="0">
                <a:solidFill>
                  <a:srgbClr val="1A1A1A"/>
                </a:solidFill>
              </a:rPr>
              <a:t>Not calibrated</a:t>
            </a:r>
          </a:p>
        </p:txBody>
      </p:sp>
      <p:sp>
        <p:nvSpPr>
          <p:cNvPr id="40" name="Rectangle 39"/>
          <p:cNvSpPr/>
          <p:nvPr/>
        </p:nvSpPr>
        <p:spPr>
          <a:xfrm>
            <a:off x="4617720" y="5440680"/>
            <a:ext cx="297180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63440" y="5458968"/>
            <a:ext cx="2880360" cy="246888"/>
          </a:xfrm>
          <a:prstGeom prst="rect">
            <a:avLst/>
          </a:prstGeom>
          <a:noFill/>
        </p:spPr>
        <p:txBody>
          <a:bodyPr wrap="square">
            <a:spAutoFit/>
          </a:bodyPr>
          <a:lstStyle/>
          <a:p>
            <a:pPr algn="l"/>
            <a:r>
              <a:rPr sz="1100" b="0" i="0">
                <a:solidFill>
                  <a:srgbClr val="1A1A1A"/>
                </a:solidFill>
              </a:rPr>
              <a:t>1.90 s  (Hagen-Poiseuille)</a:t>
            </a:r>
          </a:p>
        </p:txBody>
      </p:sp>
      <p:sp>
        <p:nvSpPr>
          <p:cNvPr id="42" name="Rectangle 41"/>
          <p:cNvSpPr/>
          <p:nvPr/>
        </p:nvSpPr>
        <p:spPr>
          <a:xfrm>
            <a:off x="7589520" y="5440680"/>
            <a:ext cx="249631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35240" y="5458968"/>
            <a:ext cx="2404872" cy="246888"/>
          </a:xfrm>
          <a:prstGeom prst="rect">
            <a:avLst/>
          </a:prstGeom>
          <a:noFill/>
        </p:spPr>
        <p:txBody>
          <a:bodyPr wrap="square">
            <a:spAutoFit/>
          </a:bodyPr>
          <a:lstStyle/>
          <a:p>
            <a:pPr algn="l"/>
            <a:r>
              <a:rPr sz="1100" b="0" i="0">
                <a:solidFill>
                  <a:srgbClr val="1A1A1A"/>
                </a:solidFill>
              </a:rPr>
              <a:t>2.13 s</a:t>
            </a:r>
          </a:p>
        </p:txBody>
      </p:sp>
      <p:sp>
        <p:nvSpPr>
          <p:cNvPr id="44" name="Rectangle 43"/>
          <p:cNvSpPr/>
          <p:nvPr/>
        </p:nvSpPr>
        <p:spPr>
          <a:xfrm>
            <a:off x="274320" y="5733288"/>
            <a:ext cx="20116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 y="5751575"/>
            <a:ext cx="1920240" cy="246888"/>
          </a:xfrm>
          <a:prstGeom prst="rect">
            <a:avLst/>
          </a:prstGeom>
          <a:noFill/>
        </p:spPr>
        <p:txBody>
          <a:bodyPr wrap="square">
            <a:spAutoFit/>
          </a:bodyPr>
          <a:lstStyle/>
          <a:p>
            <a:pPr algn="l"/>
            <a:r>
              <a:rPr sz="1100" b="0" i="0">
                <a:solidFill>
                  <a:srgbClr val="1A1A1A"/>
                </a:solidFill>
              </a:rPr>
              <a:t>Peak delay error</a:t>
            </a:r>
          </a:p>
        </p:txBody>
      </p:sp>
      <p:sp>
        <p:nvSpPr>
          <p:cNvPr id="46" name="Rectangle 45"/>
          <p:cNvSpPr/>
          <p:nvPr/>
        </p:nvSpPr>
        <p:spPr>
          <a:xfrm>
            <a:off x="2286000" y="5733288"/>
            <a:ext cx="233172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31720" y="5751575"/>
            <a:ext cx="2240279" cy="246888"/>
          </a:xfrm>
          <a:prstGeom prst="rect">
            <a:avLst/>
          </a:prstGeom>
          <a:noFill/>
        </p:spPr>
        <p:txBody>
          <a:bodyPr wrap="square">
            <a:spAutoFit/>
          </a:bodyPr>
          <a:lstStyle/>
          <a:p>
            <a:pPr algn="l"/>
            <a:r>
              <a:rPr sz="1100" b="0" i="0">
                <a:solidFill>
                  <a:srgbClr val="1A1A1A"/>
                </a:solidFill>
              </a:rPr>
              <a:t>—</a:t>
            </a:r>
          </a:p>
        </p:txBody>
      </p:sp>
      <p:sp>
        <p:nvSpPr>
          <p:cNvPr id="48" name="Rectangle 47"/>
          <p:cNvSpPr/>
          <p:nvPr/>
        </p:nvSpPr>
        <p:spPr>
          <a:xfrm>
            <a:off x="4617720" y="5733288"/>
            <a:ext cx="297180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63440" y="5751575"/>
            <a:ext cx="2880360" cy="246888"/>
          </a:xfrm>
          <a:prstGeom prst="rect">
            <a:avLst/>
          </a:prstGeom>
          <a:noFill/>
        </p:spPr>
        <p:txBody>
          <a:bodyPr wrap="square">
            <a:spAutoFit/>
          </a:bodyPr>
          <a:lstStyle/>
          <a:p>
            <a:pPr algn="l"/>
            <a:r>
              <a:rPr sz="1100" b="0" i="0">
                <a:solidFill>
                  <a:srgbClr val="1A1A1A"/>
                </a:solidFill>
              </a:rPr>
              <a:t>11%  (was 2.6×)</a:t>
            </a:r>
          </a:p>
        </p:txBody>
      </p:sp>
      <p:sp>
        <p:nvSpPr>
          <p:cNvPr id="50" name="Rectangle 49"/>
          <p:cNvSpPr/>
          <p:nvPr/>
        </p:nvSpPr>
        <p:spPr>
          <a:xfrm>
            <a:off x="7589520" y="5733288"/>
            <a:ext cx="249631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35240" y="5751575"/>
            <a:ext cx="2404872" cy="246888"/>
          </a:xfrm>
          <a:prstGeom prst="rect">
            <a:avLst/>
          </a:prstGeom>
          <a:noFill/>
        </p:spPr>
        <p:txBody>
          <a:bodyPr wrap="square">
            <a:spAutoFit/>
          </a:bodyPr>
          <a:lstStyle/>
          <a:p>
            <a:pPr algn="l"/>
            <a:r>
              <a:rPr sz="1100" b="0" i="0">
                <a:solidFill>
                  <a:srgbClr val="1A1A1A"/>
                </a:solidFill>
              </a:rPr>
              <a:t>—</a:t>
            </a:r>
          </a:p>
        </p:txBody>
      </p:sp>
      <p:sp>
        <p:nvSpPr>
          <p:cNvPr id="52" name="Rectangle 51"/>
          <p:cNvSpPr/>
          <p:nvPr/>
        </p:nvSpPr>
        <p:spPr>
          <a:xfrm>
            <a:off x="274320" y="6025896"/>
            <a:ext cx="20116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040" y="6044183"/>
            <a:ext cx="1920240" cy="246888"/>
          </a:xfrm>
          <a:prstGeom prst="rect">
            <a:avLst/>
          </a:prstGeom>
          <a:noFill/>
        </p:spPr>
        <p:txBody>
          <a:bodyPr wrap="square">
            <a:spAutoFit/>
          </a:bodyPr>
          <a:lstStyle/>
          <a:p>
            <a:pPr algn="l"/>
            <a:r>
              <a:rPr sz="1100" b="0" i="0">
                <a:solidFill>
                  <a:srgbClr val="1A1A1A"/>
                </a:solidFill>
              </a:rPr>
              <a:t>Distal MCA vel.</a:t>
            </a:r>
          </a:p>
        </p:txBody>
      </p:sp>
      <p:sp>
        <p:nvSpPr>
          <p:cNvPr id="54" name="Rectangle 53"/>
          <p:cNvSpPr/>
          <p:nvPr/>
        </p:nvSpPr>
        <p:spPr>
          <a:xfrm>
            <a:off x="2286000" y="6025896"/>
            <a:ext cx="233172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331720" y="6044183"/>
            <a:ext cx="2240279" cy="246888"/>
          </a:xfrm>
          <a:prstGeom prst="rect">
            <a:avLst/>
          </a:prstGeom>
          <a:noFill/>
        </p:spPr>
        <p:txBody>
          <a:bodyPr wrap="square">
            <a:spAutoFit/>
          </a:bodyPr>
          <a:lstStyle/>
          <a:p>
            <a:pPr algn="l"/>
            <a:r>
              <a:rPr sz="1100" b="0" i="0">
                <a:solidFill>
                  <a:srgbClr val="1A1A1A"/>
                </a:solidFill>
              </a:rPr>
              <a:t>Not modelled</a:t>
            </a:r>
          </a:p>
        </p:txBody>
      </p:sp>
      <p:sp>
        <p:nvSpPr>
          <p:cNvPr id="56" name="Rectangle 55"/>
          <p:cNvSpPr/>
          <p:nvPr/>
        </p:nvSpPr>
        <p:spPr>
          <a:xfrm>
            <a:off x="4617720" y="6025896"/>
            <a:ext cx="297180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6044183"/>
            <a:ext cx="2880360" cy="246888"/>
          </a:xfrm>
          <a:prstGeom prst="rect">
            <a:avLst/>
          </a:prstGeom>
          <a:noFill/>
        </p:spPr>
        <p:txBody>
          <a:bodyPr wrap="square">
            <a:spAutoFit/>
          </a:bodyPr>
          <a:lstStyle/>
          <a:p>
            <a:pPr algn="l"/>
            <a:r>
              <a:rPr sz="1100" b="0" i="0">
                <a:solidFill>
                  <a:srgbClr val="1A1A1A"/>
                </a:solidFill>
              </a:rPr>
              <a:t>25% ICA  (viscous resist.)</a:t>
            </a:r>
          </a:p>
        </p:txBody>
      </p:sp>
      <p:sp>
        <p:nvSpPr>
          <p:cNvPr id="58" name="Rectangle 57"/>
          <p:cNvSpPr/>
          <p:nvPr/>
        </p:nvSpPr>
        <p:spPr>
          <a:xfrm>
            <a:off x="7589520" y="6025896"/>
            <a:ext cx="249631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635240" y="6044183"/>
            <a:ext cx="2404872" cy="246888"/>
          </a:xfrm>
          <a:prstGeom prst="rect">
            <a:avLst/>
          </a:prstGeom>
          <a:noFill/>
        </p:spPr>
        <p:txBody>
          <a:bodyPr wrap="square">
            <a:spAutoFit/>
          </a:bodyPr>
          <a:lstStyle/>
          <a:p>
            <a:pPr algn="l"/>
            <a:r>
              <a:rPr sz="1100" b="0" i="0">
                <a:solidFill>
                  <a:srgbClr val="1A1A1A"/>
                </a:solidFill>
              </a:rPr>
              <a:t>Realistic</a:t>
            </a:r>
          </a:p>
        </p:txBody>
      </p:sp>
      <p:sp>
        <p:nvSpPr>
          <p:cNvPr id="60" name="Rectangle 59"/>
          <p:cNvSpPr/>
          <p:nvPr/>
        </p:nvSpPr>
        <p:spPr>
          <a:xfrm>
            <a:off x="274320" y="6318504"/>
            <a:ext cx="20116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0040" y="6336792"/>
            <a:ext cx="1920240" cy="246888"/>
          </a:xfrm>
          <a:prstGeom prst="rect">
            <a:avLst/>
          </a:prstGeom>
          <a:noFill/>
        </p:spPr>
        <p:txBody>
          <a:bodyPr wrap="square">
            <a:spAutoFit/>
          </a:bodyPr>
          <a:lstStyle/>
          <a:p>
            <a:pPr algn="l"/>
            <a:r>
              <a:rPr sz="1100" b="0" i="0">
                <a:solidFill>
                  <a:srgbClr val="1A1A1A"/>
                </a:solidFill>
              </a:rPr>
              <a:t>Injection coverage</a:t>
            </a:r>
          </a:p>
        </p:txBody>
      </p:sp>
      <p:sp>
        <p:nvSpPr>
          <p:cNvPr id="62" name="Rectangle 61"/>
          <p:cNvSpPr/>
          <p:nvPr/>
        </p:nvSpPr>
        <p:spPr>
          <a:xfrm>
            <a:off x="2286000" y="6318504"/>
            <a:ext cx="233172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31720" y="6336792"/>
            <a:ext cx="2240279" cy="246888"/>
          </a:xfrm>
          <a:prstGeom prst="rect">
            <a:avLst/>
          </a:prstGeom>
          <a:noFill/>
        </p:spPr>
        <p:txBody>
          <a:bodyPr wrap="square">
            <a:spAutoFit/>
          </a:bodyPr>
          <a:lstStyle/>
          <a:p>
            <a:pPr algn="l"/>
            <a:r>
              <a:rPr sz="1100" b="0" i="0">
                <a:solidFill>
                  <a:srgbClr val="1A1A1A"/>
                </a:solidFill>
              </a:rPr>
              <a:t>All roots</a:t>
            </a:r>
          </a:p>
        </p:txBody>
      </p:sp>
      <p:sp>
        <p:nvSpPr>
          <p:cNvPr id="64" name="Rectangle 63"/>
          <p:cNvSpPr/>
          <p:nvPr/>
        </p:nvSpPr>
        <p:spPr>
          <a:xfrm>
            <a:off x="4617720" y="6318504"/>
            <a:ext cx="297180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63440" y="6336792"/>
            <a:ext cx="2880360" cy="246888"/>
          </a:xfrm>
          <a:prstGeom prst="rect">
            <a:avLst/>
          </a:prstGeom>
          <a:noFill/>
        </p:spPr>
        <p:txBody>
          <a:bodyPr wrap="square">
            <a:spAutoFit/>
          </a:bodyPr>
          <a:lstStyle/>
          <a:p>
            <a:pPr algn="l"/>
            <a:r>
              <a:rPr sz="1100" b="0" i="0">
                <a:solidFill>
                  <a:srgbClr val="1A1A1A"/>
                </a:solidFill>
              </a:rPr>
              <a:t>43.1%  (F-8 selective)</a:t>
            </a:r>
          </a:p>
        </p:txBody>
      </p:sp>
      <p:sp>
        <p:nvSpPr>
          <p:cNvPr id="66" name="Rectangle 65"/>
          <p:cNvSpPr/>
          <p:nvPr/>
        </p:nvSpPr>
        <p:spPr>
          <a:xfrm>
            <a:off x="7589520" y="6318504"/>
            <a:ext cx="249631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635240" y="6336792"/>
            <a:ext cx="2404872" cy="246888"/>
          </a:xfrm>
          <a:prstGeom prst="rect">
            <a:avLst/>
          </a:prstGeom>
          <a:noFill/>
        </p:spPr>
        <p:txBody>
          <a:bodyPr wrap="square">
            <a:spAutoFit/>
          </a:bodyPr>
          <a:lstStyle/>
          <a:p>
            <a:pPr algn="l"/>
            <a:r>
              <a:rPr sz="1100" b="0" i="0">
                <a:solidFill>
                  <a:srgbClr val="1A1A1A"/>
                </a:solidFill>
              </a:rPr>
              <a:t>ICA territory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Performance Baseline  (NVIDIA A6000)</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300" b="0" i="1">
                <a:solidFill>
                  <a:srgbClr val="555555"/>
                </a:solidFill>
              </a:rPr>
              <a:t>Physics is solved.  Rendering is the diagnosed remaining constraint with a clear engineering path.</a:t>
            </a:r>
          </a:p>
        </p:txBody>
      </p:sp>
      <p:sp>
        <p:nvSpPr>
          <p:cNvPr id="7" name="Rectangle 6"/>
          <p:cNvSpPr/>
          <p:nvPr/>
        </p:nvSpPr>
        <p:spPr>
          <a:xfrm>
            <a:off x="228600" y="1874519"/>
            <a:ext cx="292608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92807"/>
            <a:ext cx="2834640" cy="246888"/>
          </a:xfrm>
          <a:prstGeom prst="rect">
            <a:avLst/>
          </a:prstGeom>
          <a:noFill/>
        </p:spPr>
        <p:txBody>
          <a:bodyPr wrap="square">
            <a:spAutoFit/>
          </a:bodyPr>
          <a:lstStyle/>
          <a:p>
            <a:pPr algn="l"/>
            <a:r>
              <a:rPr sz="1200" b="1" i="0">
                <a:solidFill>
                  <a:srgbClr val="1A1A1A"/>
                </a:solidFill>
              </a:rPr>
              <a:t>Component</a:t>
            </a:r>
          </a:p>
        </p:txBody>
      </p:sp>
      <p:sp>
        <p:nvSpPr>
          <p:cNvPr id="9" name="Rectangle 8"/>
          <p:cNvSpPr/>
          <p:nvPr/>
        </p:nvSpPr>
        <p:spPr>
          <a:xfrm>
            <a:off x="3154680" y="1874519"/>
            <a:ext cx="219456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892807"/>
            <a:ext cx="2103120" cy="246888"/>
          </a:xfrm>
          <a:prstGeom prst="rect">
            <a:avLst/>
          </a:prstGeom>
          <a:noFill/>
        </p:spPr>
        <p:txBody>
          <a:bodyPr wrap="square">
            <a:spAutoFit/>
          </a:bodyPr>
          <a:lstStyle/>
          <a:p>
            <a:pPr algn="l"/>
            <a:r>
              <a:rPr sz="1200" b="1" i="0">
                <a:solidFill>
                  <a:srgbClr val="1A1A1A"/>
                </a:solidFill>
              </a:rPr>
              <a:t>Resolution / Scale</a:t>
            </a:r>
          </a:p>
        </p:txBody>
      </p:sp>
      <p:sp>
        <p:nvSpPr>
          <p:cNvPr id="11" name="Rectangle 10"/>
          <p:cNvSpPr/>
          <p:nvPr/>
        </p:nvSpPr>
        <p:spPr>
          <a:xfrm>
            <a:off x="5349240" y="1874519"/>
            <a:ext cx="155448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59" y="1892807"/>
            <a:ext cx="1463039" cy="246888"/>
          </a:xfrm>
          <a:prstGeom prst="rect">
            <a:avLst/>
          </a:prstGeom>
          <a:noFill/>
        </p:spPr>
        <p:txBody>
          <a:bodyPr wrap="square">
            <a:spAutoFit/>
          </a:bodyPr>
          <a:lstStyle/>
          <a:p>
            <a:pPr algn="l"/>
            <a:r>
              <a:rPr sz="1200" b="1" i="0">
                <a:solidFill>
                  <a:srgbClr val="1A1A1A"/>
                </a:solidFill>
              </a:rPr>
              <a:t>Throughput</a:t>
            </a:r>
          </a:p>
        </p:txBody>
      </p:sp>
      <p:sp>
        <p:nvSpPr>
          <p:cNvPr id="13" name="Rectangle 12"/>
          <p:cNvSpPr/>
          <p:nvPr/>
        </p:nvSpPr>
        <p:spPr>
          <a:xfrm>
            <a:off x="6903720" y="1874519"/>
            <a:ext cx="146304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1892807"/>
            <a:ext cx="1371600" cy="246888"/>
          </a:xfrm>
          <a:prstGeom prst="rect">
            <a:avLst/>
          </a:prstGeom>
          <a:noFill/>
        </p:spPr>
        <p:txBody>
          <a:bodyPr wrap="square">
            <a:spAutoFit/>
          </a:bodyPr>
          <a:lstStyle/>
          <a:p>
            <a:pPr algn="l"/>
            <a:r>
              <a:rPr sz="1200" b="1" i="0">
                <a:solidFill>
                  <a:srgbClr val="1A1A1A"/>
                </a:solidFill>
              </a:rPr>
              <a:t>Target</a:t>
            </a:r>
          </a:p>
        </p:txBody>
      </p:sp>
      <p:sp>
        <p:nvSpPr>
          <p:cNvPr id="15" name="Rectangle 14"/>
          <p:cNvSpPr/>
          <p:nvPr/>
        </p:nvSpPr>
        <p:spPr>
          <a:xfrm>
            <a:off x="8366760" y="1874519"/>
            <a:ext cx="1764792"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892807"/>
            <a:ext cx="1673351" cy="246888"/>
          </a:xfrm>
          <a:prstGeom prst="rect">
            <a:avLst/>
          </a:prstGeom>
          <a:noFill/>
        </p:spPr>
        <p:txBody>
          <a:bodyPr wrap="square">
            <a:spAutoFit/>
          </a:bodyPr>
          <a:lstStyle/>
          <a:p>
            <a:pPr algn="l"/>
            <a:r>
              <a:rPr sz="1200" b="1" i="0">
                <a:solidFill>
                  <a:srgbClr val="1A1A1A"/>
                </a:solidFill>
              </a:rPr>
              <a:t>Status</a:t>
            </a:r>
          </a:p>
        </p:txBody>
      </p:sp>
      <p:sp>
        <p:nvSpPr>
          <p:cNvPr id="17" name="Rectangle 16"/>
          <p:cNvSpPr/>
          <p:nvPr/>
        </p:nvSpPr>
        <p:spPr>
          <a:xfrm>
            <a:off x="228600" y="2167127"/>
            <a:ext cx="29260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185415"/>
            <a:ext cx="2834640" cy="246888"/>
          </a:xfrm>
          <a:prstGeom prst="rect">
            <a:avLst/>
          </a:prstGeom>
          <a:noFill/>
        </p:spPr>
        <p:txBody>
          <a:bodyPr wrap="square">
            <a:spAutoFit/>
          </a:bodyPr>
          <a:lstStyle/>
          <a:p>
            <a:pPr algn="l"/>
            <a:r>
              <a:rPr sz="1100" b="0" i="0">
                <a:solidFill>
                  <a:srgbClr val="1A1A1A"/>
                </a:solidFill>
              </a:rPr>
              <a:t>Single-env physics (XPBD)</a:t>
            </a:r>
          </a:p>
        </p:txBody>
      </p:sp>
      <p:sp>
        <p:nvSpPr>
          <p:cNvPr id="19" name="Rectangle 18"/>
          <p:cNvSpPr/>
          <p:nvPr/>
        </p:nvSpPr>
        <p:spPr>
          <a:xfrm>
            <a:off x="3154680" y="2167127"/>
            <a:ext cx="2194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2185415"/>
            <a:ext cx="2103120" cy="246888"/>
          </a:xfrm>
          <a:prstGeom prst="rect">
            <a:avLst/>
          </a:prstGeom>
          <a:noFill/>
        </p:spPr>
        <p:txBody>
          <a:bodyPr wrap="square">
            <a:spAutoFit/>
          </a:bodyPr>
          <a:lstStyle/>
          <a:p>
            <a:pPr algn="l"/>
            <a:r>
              <a:rPr sz="1100" b="0" i="0">
                <a:solidFill>
                  <a:srgbClr val="1A1A1A"/>
                </a:solidFill>
              </a:rPr>
              <a:t>20-seg rod</a:t>
            </a:r>
          </a:p>
        </p:txBody>
      </p:sp>
      <p:sp>
        <p:nvSpPr>
          <p:cNvPr id="21" name="Rectangle 20"/>
          <p:cNvSpPr/>
          <p:nvPr/>
        </p:nvSpPr>
        <p:spPr>
          <a:xfrm>
            <a:off x="5349240" y="2167127"/>
            <a:ext cx="15544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59" y="2185415"/>
            <a:ext cx="1463039" cy="246888"/>
          </a:xfrm>
          <a:prstGeom prst="rect">
            <a:avLst/>
          </a:prstGeom>
          <a:noFill/>
        </p:spPr>
        <p:txBody>
          <a:bodyPr wrap="square">
            <a:spAutoFit/>
          </a:bodyPr>
          <a:lstStyle/>
          <a:p>
            <a:pPr algn="l"/>
            <a:r>
              <a:rPr sz="1100" b="0" i="0">
                <a:solidFill>
                  <a:srgbClr val="1A1A1A"/>
                </a:solidFill>
              </a:rPr>
              <a:t>1,300 Hz</a:t>
            </a:r>
          </a:p>
        </p:txBody>
      </p:sp>
      <p:sp>
        <p:nvSpPr>
          <p:cNvPr id="23" name="Rectangle 22"/>
          <p:cNvSpPr/>
          <p:nvPr/>
        </p:nvSpPr>
        <p:spPr>
          <a:xfrm>
            <a:off x="6903720" y="2167127"/>
            <a:ext cx="146304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2185415"/>
            <a:ext cx="1371600" cy="246888"/>
          </a:xfrm>
          <a:prstGeom prst="rect">
            <a:avLst/>
          </a:prstGeom>
          <a:noFill/>
        </p:spPr>
        <p:txBody>
          <a:bodyPr wrap="square">
            <a:spAutoFit/>
          </a:bodyPr>
          <a:lstStyle/>
          <a:p>
            <a:pPr algn="l"/>
            <a:r>
              <a:rPr sz="1100" b="0" i="0">
                <a:solidFill>
                  <a:srgbClr val="1A1A1A"/>
                </a:solidFill>
              </a:rPr>
              <a:t>&gt;1,000 Hz</a:t>
            </a:r>
          </a:p>
        </p:txBody>
      </p:sp>
      <p:sp>
        <p:nvSpPr>
          <p:cNvPr id="25" name="Rectangle 24"/>
          <p:cNvSpPr/>
          <p:nvPr/>
        </p:nvSpPr>
        <p:spPr>
          <a:xfrm>
            <a:off x="8366760" y="2167127"/>
            <a:ext cx="176479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2185415"/>
            <a:ext cx="1673351" cy="246888"/>
          </a:xfrm>
          <a:prstGeom prst="rect">
            <a:avLst/>
          </a:prstGeom>
          <a:noFill/>
        </p:spPr>
        <p:txBody>
          <a:bodyPr wrap="square">
            <a:spAutoFit/>
          </a:bodyPr>
          <a:lstStyle/>
          <a:p>
            <a:pPr algn="l"/>
            <a:r>
              <a:rPr sz="1100" b="0" i="0">
                <a:solidFill>
                  <a:srgbClr val="1A1A1A"/>
                </a:solidFill>
              </a:rPr>
              <a:t>✓ Met</a:t>
            </a:r>
          </a:p>
        </p:txBody>
      </p:sp>
      <p:sp>
        <p:nvSpPr>
          <p:cNvPr id="27" name="Rectangle 26"/>
          <p:cNvSpPr/>
          <p:nvPr/>
        </p:nvSpPr>
        <p:spPr>
          <a:xfrm>
            <a:off x="228600" y="2459736"/>
            <a:ext cx="29260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2478024"/>
            <a:ext cx="2834640" cy="246888"/>
          </a:xfrm>
          <a:prstGeom prst="rect">
            <a:avLst/>
          </a:prstGeom>
          <a:noFill/>
        </p:spPr>
        <p:txBody>
          <a:bodyPr wrap="square">
            <a:spAutoFit/>
          </a:bodyPr>
          <a:lstStyle/>
          <a:p>
            <a:pPr algn="l"/>
            <a:r>
              <a:rPr sz="1100" b="0" i="0">
                <a:solidFill>
                  <a:srgbClr val="1A1A1A"/>
                </a:solidFill>
              </a:rPr>
              <a:t>Multi-env physics</a:t>
            </a:r>
          </a:p>
        </p:txBody>
      </p:sp>
      <p:sp>
        <p:nvSpPr>
          <p:cNvPr id="29" name="Rectangle 28"/>
          <p:cNvSpPr/>
          <p:nvPr/>
        </p:nvSpPr>
        <p:spPr>
          <a:xfrm>
            <a:off x="3154680" y="2459736"/>
            <a:ext cx="2194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0" y="2478024"/>
            <a:ext cx="2103120" cy="246888"/>
          </a:xfrm>
          <a:prstGeom prst="rect">
            <a:avLst/>
          </a:prstGeom>
          <a:noFill/>
        </p:spPr>
        <p:txBody>
          <a:bodyPr wrap="square">
            <a:spAutoFit/>
          </a:bodyPr>
          <a:lstStyle/>
          <a:p>
            <a:pPr algn="l"/>
            <a:r>
              <a:rPr sz="1100" b="0" i="0">
                <a:solidFill>
                  <a:srgbClr val="1A1A1A"/>
                </a:solidFill>
              </a:rPr>
              <a:t>512 envs</a:t>
            </a:r>
          </a:p>
        </p:txBody>
      </p:sp>
      <p:sp>
        <p:nvSpPr>
          <p:cNvPr id="31" name="Rectangle 30"/>
          <p:cNvSpPr/>
          <p:nvPr/>
        </p:nvSpPr>
        <p:spPr>
          <a:xfrm>
            <a:off x="5349240" y="2459736"/>
            <a:ext cx="15544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94959" y="2478024"/>
            <a:ext cx="1463039" cy="246888"/>
          </a:xfrm>
          <a:prstGeom prst="rect">
            <a:avLst/>
          </a:prstGeom>
          <a:noFill/>
        </p:spPr>
        <p:txBody>
          <a:bodyPr wrap="square">
            <a:spAutoFit/>
          </a:bodyPr>
          <a:lstStyle/>
          <a:p>
            <a:pPr algn="l"/>
            <a:r>
              <a:rPr sz="1100" b="0" i="0">
                <a:solidFill>
                  <a:srgbClr val="1A1A1A"/>
                </a:solidFill>
              </a:rPr>
              <a:t>~60 Hz</a:t>
            </a:r>
          </a:p>
        </p:txBody>
      </p:sp>
      <p:sp>
        <p:nvSpPr>
          <p:cNvPr id="33" name="Rectangle 32"/>
          <p:cNvSpPr/>
          <p:nvPr/>
        </p:nvSpPr>
        <p:spPr>
          <a:xfrm>
            <a:off x="6903720" y="2459736"/>
            <a:ext cx="146304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2478024"/>
            <a:ext cx="1371600" cy="246888"/>
          </a:xfrm>
          <a:prstGeom prst="rect">
            <a:avLst/>
          </a:prstGeom>
          <a:noFill/>
        </p:spPr>
        <p:txBody>
          <a:bodyPr wrap="square">
            <a:spAutoFit/>
          </a:bodyPr>
          <a:lstStyle/>
          <a:p>
            <a:pPr algn="l"/>
            <a:r>
              <a:rPr sz="1100" b="0" i="0">
                <a:solidFill>
                  <a:srgbClr val="1A1A1A"/>
                </a:solidFill>
              </a:rPr>
              <a:t>&gt;60 Hz</a:t>
            </a:r>
          </a:p>
        </p:txBody>
      </p:sp>
      <p:sp>
        <p:nvSpPr>
          <p:cNvPr id="35" name="Rectangle 34"/>
          <p:cNvSpPr/>
          <p:nvPr/>
        </p:nvSpPr>
        <p:spPr>
          <a:xfrm>
            <a:off x="8366760" y="2459736"/>
            <a:ext cx="176479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0" y="2478024"/>
            <a:ext cx="1673351" cy="246888"/>
          </a:xfrm>
          <a:prstGeom prst="rect">
            <a:avLst/>
          </a:prstGeom>
          <a:noFill/>
        </p:spPr>
        <p:txBody>
          <a:bodyPr wrap="square">
            <a:spAutoFit/>
          </a:bodyPr>
          <a:lstStyle/>
          <a:p>
            <a:pPr algn="l"/>
            <a:r>
              <a:rPr sz="1100" b="0" i="0">
                <a:solidFill>
                  <a:srgbClr val="1A1A1A"/>
                </a:solidFill>
              </a:rPr>
              <a:t>✓ Met</a:t>
            </a:r>
          </a:p>
        </p:txBody>
      </p:sp>
      <p:sp>
        <p:nvSpPr>
          <p:cNvPr id="37" name="Rectangle 36"/>
          <p:cNvSpPr/>
          <p:nvPr/>
        </p:nvSpPr>
        <p:spPr>
          <a:xfrm>
            <a:off x="228600" y="2752344"/>
            <a:ext cx="29260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2770632"/>
            <a:ext cx="2834640" cy="246888"/>
          </a:xfrm>
          <a:prstGeom prst="rect">
            <a:avLst/>
          </a:prstGeom>
          <a:noFill/>
        </p:spPr>
        <p:txBody>
          <a:bodyPr wrap="square">
            <a:spAutoFit/>
          </a:bodyPr>
          <a:lstStyle/>
          <a:p>
            <a:pPr algn="l"/>
            <a:r>
              <a:rPr sz="1100" b="0" i="0">
                <a:solidFill>
                  <a:srgbClr val="1A1A1A"/>
                </a:solidFill>
              </a:rPr>
              <a:t>GPU DRR + catheter  (fused)</a:t>
            </a:r>
          </a:p>
        </p:txBody>
      </p:sp>
      <p:sp>
        <p:nvSpPr>
          <p:cNvPr id="39" name="Rectangle 38"/>
          <p:cNvSpPr/>
          <p:nvPr/>
        </p:nvSpPr>
        <p:spPr>
          <a:xfrm>
            <a:off x="3154680" y="2752344"/>
            <a:ext cx="2194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0" y="2770632"/>
            <a:ext cx="2103120" cy="246888"/>
          </a:xfrm>
          <a:prstGeom prst="rect">
            <a:avLst/>
          </a:prstGeom>
          <a:noFill/>
        </p:spPr>
        <p:txBody>
          <a:bodyPr wrap="square">
            <a:spAutoFit/>
          </a:bodyPr>
          <a:lstStyle/>
          <a:p>
            <a:pPr algn="l"/>
            <a:r>
              <a:rPr sz="1100" b="0" i="0">
                <a:solidFill>
                  <a:srgbClr val="1A1A1A"/>
                </a:solidFill>
              </a:rPr>
              <a:t>256×256  1 env</a:t>
            </a:r>
          </a:p>
        </p:txBody>
      </p:sp>
      <p:sp>
        <p:nvSpPr>
          <p:cNvPr id="41" name="Rectangle 40"/>
          <p:cNvSpPr/>
          <p:nvPr/>
        </p:nvSpPr>
        <p:spPr>
          <a:xfrm>
            <a:off x="5349240" y="2752344"/>
            <a:ext cx="15544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94959" y="2770632"/>
            <a:ext cx="1463039" cy="246888"/>
          </a:xfrm>
          <a:prstGeom prst="rect">
            <a:avLst/>
          </a:prstGeom>
          <a:noFill/>
        </p:spPr>
        <p:txBody>
          <a:bodyPr wrap="square">
            <a:spAutoFit/>
          </a:bodyPr>
          <a:lstStyle/>
          <a:p>
            <a:pPr algn="l"/>
            <a:r>
              <a:rPr sz="1100" b="0" i="0">
                <a:solidFill>
                  <a:srgbClr val="1A1A1A"/>
                </a:solidFill>
              </a:rPr>
              <a:t>~263 FPS</a:t>
            </a:r>
          </a:p>
        </p:txBody>
      </p:sp>
      <p:sp>
        <p:nvSpPr>
          <p:cNvPr id="43" name="Rectangle 42"/>
          <p:cNvSpPr/>
          <p:nvPr/>
        </p:nvSpPr>
        <p:spPr>
          <a:xfrm>
            <a:off x="6903720" y="2752344"/>
            <a:ext cx="146304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0" y="2770632"/>
            <a:ext cx="1371600" cy="246888"/>
          </a:xfrm>
          <a:prstGeom prst="rect">
            <a:avLst/>
          </a:prstGeom>
          <a:noFill/>
        </p:spPr>
        <p:txBody>
          <a:bodyPr wrap="square">
            <a:spAutoFit/>
          </a:bodyPr>
          <a:lstStyle/>
          <a:p>
            <a:pPr algn="l"/>
            <a:r>
              <a:rPr sz="1100" b="0" i="0">
                <a:solidFill>
                  <a:srgbClr val="1A1A1A"/>
                </a:solidFill>
              </a:rPr>
              <a:t>&lt;5 ms</a:t>
            </a:r>
          </a:p>
        </p:txBody>
      </p:sp>
      <p:sp>
        <p:nvSpPr>
          <p:cNvPr id="45" name="Rectangle 44"/>
          <p:cNvSpPr/>
          <p:nvPr/>
        </p:nvSpPr>
        <p:spPr>
          <a:xfrm>
            <a:off x="8366760" y="2752344"/>
            <a:ext cx="176479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80" y="2770632"/>
            <a:ext cx="1673351" cy="246888"/>
          </a:xfrm>
          <a:prstGeom prst="rect">
            <a:avLst/>
          </a:prstGeom>
          <a:noFill/>
        </p:spPr>
        <p:txBody>
          <a:bodyPr wrap="square">
            <a:spAutoFit/>
          </a:bodyPr>
          <a:lstStyle/>
          <a:p>
            <a:pPr algn="l"/>
            <a:r>
              <a:rPr sz="1100" b="0" i="0">
                <a:solidFill>
                  <a:srgbClr val="1A1A1A"/>
                </a:solidFill>
              </a:rPr>
              <a:t>✓ Met</a:t>
            </a:r>
          </a:p>
        </p:txBody>
      </p:sp>
      <p:sp>
        <p:nvSpPr>
          <p:cNvPr id="47" name="Rectangle 46"/>
          <p:cNvSpPr/>
          <p:nvPr/>
        </p:nvSpPr>
        <p:spPr>
          <a:xfrm>
            <a:off x="228600" y="3044952"/>
            <a:ext cx="29260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3063240"/>
            <a:ext cx="2834640" cy="246888"/>
          </a:xfrm>
          <a:prstGeom prst="rect">
            <a:avLst/>
          </a:prstGeom>
          <a:noFill/>
        </p:spPr>
        <p:txBody>
          <a:bodyPr wrap="square">
            <a:spAutoFit/>
          </a:bodyPr>
          <a:lstStyle/>
          <a:p>
            <a:pPr algn="l"/>
            <a:r>
              <a:rPr sz="1100" b="0" i="0">
                <a:solidFill>
                  <a:srgbClr val="1A1A1A"/>
                </a:solidFill>
              </a:rPr>
              <a:t>GPU DRR + catheter  (fused)</a:t>
            </a:r>
          </a:p>
        </p:txBody>
      </p:sp>
      <p:sp>
        <p:nvSpPr>
          <p:cNvPr id="49" name="Rectangle 48"/>
          <p:cNvSpPr/>
          <p:nvPr/>
        </p:nvSpPr>
        <p:spPr>
          <a:xfrm>
            <a:off x="3154680" y="3044952"/>
            <a:ext cx="2194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00400" y="3063240"/>
            <a:ext cx="2103120" cy="246888"/>
          </a:xfrm>
          <a:prstGeom prst="rect">
            <a:avLst/>
          </a:prstGeom>
          <a:noFill/>
        </p:spPr>
        <p:txBody>
          <a:bodyPr wrap="square">
            <a:spAutoFit/>
          </a:bodyPr>
          <a:lstStyle/>
          <a:p>
            <a:pPr algn="l"/>
            <a:r>
              <a:rPr sz="1100" b="0" i="0">
                <a:solidFill>
                  <a:srgbClr val="1A1A1A"/>
                </a:solidFill>
              </a:rPr>
              <a:t>512×512  1 env</a:t>
            </a:r>
          </a:p>
        </p:txBody>
      </p:sp>
      <p:sp>
        <p:nvSpPr>
          <p:cNvPr id="51" name="Rectangle 50"/>
          <p:cNvSpPr/>
          <p:nvPr/>
        </p:nvSpPr>
        <p:spPr>
          <a:xfrm>
            <a:off x="5349240" y="3044952"/>
            <a:ext cx="15544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94959" y="3063240"/>
            <a:ext cx="1463039" cy="246888"/>
          </a:xfrm>
          <a:prstGeom prst="rect">
            <a:avLst/>
          </a:prstGeom>
          <a:noFill/>
        </p:spPr>
        <p:txBody>
          <a:bodyPr wrap="square">
            <a:spAutoFit/>
          </a:bodyPr>
          <a:lstStyle/>
          <a:p>
            <a:pPr algn="l"/>
            <a:r>
              <a:rPr sz="1100" b="0" i="0">
                <a:solidFill>
                  <a:srgbClr val="1A1A1A"/>
                </a:solidFill>
              </a:rPr>
              <a:t>~25 FPS</a:t>
            </a:r>
          </a:p>
        </p:txBody>
      </p:sp>
      <p:sp>
        <p:nvSpPr>
          <p:cNvPr id="53" name="Rectangle 52"/>
          <p:cNvSpPr/>
          <p:nvPr/>
        </p:nvSpPr>
        <p:spPr>
          <a:xfrm>
            <a:off x="6903720" y="3044952"/>
            <a:ext cx="146304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49440" y="3063240"/>
            <a:ext cx="1371600" cy="246888"/>
          </a:xfrm>
          <a:prstGeom prst="rect">
            <a:avLst/>
          </a:prstGeom>
          <a:noFill/>
        </p:spPr>
        <p:txBody>
          <a:bodyPr wrap="square">
            <a:spAutoFit/>
          </a:bodyPr>
          <a:lstStyle/>
          <a:p>
            <a:pPr algn="l"/>
            <a:r>
              <a:rPr sz="1100" b="0" i="0">
                <a:solidFill>
                  <a:srgbClr val="1A1A1A"/>
                </a:solidFill>
              </a:rPr>
              <a:t>&lt;5 ms</a:t>
            </a:r>
          </a:p>
        </p:txBody>
      </p:sp>
      <p:sp>
        <p:nvSpPr>
          <p:cNvPr id="55" name="Rectangle 54"/>
          <p:cNvSpPr/>
          <p:nvPr/>
        </p:nvSpPr>
        <p:spPr>
          <a:xfrm>
            <a:off x="8366760" y="3044952"/>
            <a:ext cx="176479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12480" y="3063240"/>
            <a:ext cx="1673351" cy="246888"/>
          </a:xfrm>
          <a:prstGeom prst="rect">
            <a:avLst/>
          </a:prstGeom>
          <a:noFill/>
        </p:spPr>
        <p:txBody>
          <a:bodyPr wrap="square">
            <a:spAutoFit/>
          </a:bodyPr>
          <a:lstStyle/>
          <a:p>
            <a:pPr algn="l"/>
            <a:r>
              <a:rPr sz="1100" b="0" i="0">
                <a:solidFill>
                  <a:srgbClr val="1A1A1A"/>
                </a:solidFill>
              </a:rPr>
              <a:t>In Progress</a:t>
            </a:r>
          </a:p>
        </p:txBody>
      </p:sp>
      <p:sp>
        <p:nvSpPr>
          <p:cNvPr id="57" name="Rectangle 56"/>
          <p:cNvSpPr/>
          <p:nvPr/>
        </p:nvSpPr>
        <p:spPr>
          <a:xfrm>
            <a:off x="228600" y="3337560"/>
            <a:ext cx="29260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3355848"/>
            <a:ext cx="2834640" cy="246888"/>
          </a:xfrm>
          <a:prstGeom prst="rect">
            <a:avLst/>
          </a:prstGeom>
          <a:noFill/>
        </p:spPr>
        <p:txBody>
          <a:bodyPr wrap="square">
            <a:spAutoFit/>
          </a:bodyPr>
          <a:lstStyle/>
          <a:p>
            <a:pPr algn="l"/>
            <a:r>
              <a:rPr sz="1100" b="0" i="0">
                <a:solidFill>
                  <a:srgbClr val="1A1A1A"/>
                </a:solidFill>
              </a:rPr>
              <a:t>GPU DRR batched</a:t>
            </a:r>
          </a:p>
        </p:txBody>
      </p:sp>
      <p:sp>
        <p:nvSpPr>
          <p:cNvPr id="59" name="Rectangle 58"/>
          <p:cNvSpPr/>
          <p:nvPr/>
        </p:nvSpPr>
        <p:spPr>
          <a:xfrm>
            <a:off x="3154680" y="3337560"/>
            <a:ext cx="2194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00400" y="3355848"/>
            <a:ext cx="2103120" cy="246888"/>
          </a:xfrm>
          <a:prstGeom prst="rect">
            <a:avLst/>
          </a:prstGeom>
          <a:noFill/>
        </p:spPr>
        <p:txBody>
          <a:bodyPr wrap="square">
            <a:spAutoFit/>
          </a:bodyPr>
          <a:lstStyle/>
          <a:p>
            <a:pPr algn="l"/>
            <a:r>
              <a:rPr sz="1100" b="0" i="0">
                <a:solidFill>
                  <a:srgbClr val="1A1A1A"/>
                </a:solidFill>
              </a:rPr>
              <a:t>512×512  N≤4</a:t>
            </a:r>
          </a:p>
        </p:txBody>
      </p:sp>
      <p:sp>
        <p:nvSpPr>
          <p:cNvPr id="61" name="Rectangle 60"/>
          <p:cNvSpPr/>
          <p:nvPr/>
        </p:nvSpPr>
        <p:spPr>
          <a:xfrm>
            <a:off x="5349240" y="3337560"/>
            <a:ext cx="15544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94959" y="3355848"/>
            <a:ext cx="1463039" cy="246888"/>
          </a:xfrm>
          <a:prstGeom prst="rect">
            <a:avLst/>
          </a:prstGeom>
          <a:noFill/>
        </p:spPr>
        <p:txBody>
          <a:bodyPr wrap="square">
            <a:spAutoFit/>
          </a:bodyPr>
          <a:lstStyle/>
          <a:p>
            <a:pPr algn="l"/>
            <a:r>
              <a:rPr sz="1100" b="0" i="0">
                <a:solidFill>
                  <a:srgbClr val="1A1A1A"/>
                </a:solidFill>
              </a:rPr>
              <a:t>~25 FPS</a:t>
            </a:r>
          </a:p>
        </p:txBody>
      </p:sp>
      <p:sp>
        <p:nvSpPr>
          <p:cNvPr id="63" name="Rectangle 62"/>
          <p:cNvSpPr/>
          <p:nvPr/>
        </p:nvSpPr>
        <p:spPr>
          <a:xfrm>
            <a:off x="6903720" y="3337560"/>
            <a:ext cx="146304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49440" y="3355848"/>
            <a:ext cx="1371600" cy="246888"/>
          </a:xfrm>
          <a:prstGeom prst="rect">
            <a:avLst/>
          </a:prstGeom>
          <a:noFill/>
        </p:spPr>
        <p:txBody>
          <a:bodyPr wrap="square">
            <a:spAutoFit/>
          </a:bodyPr>
          <a:lstStyle/>
          <a:p>
            <a:pPr algn="l"/>
            <a:r>
              <a:rPr sz="1100" b="0" i="0">
                <a:solidFill>
                  <a:srgbClr val="1A1A1A"/>
                </a:solidFill>
              </a:rPr>
              <a:t>&gt;60 Hz</a:t>
            </a:r>
          </a:p>
        </p:txBody>
      </p:sp>
      <p:sp>
        <p:nvSpPr>
          <p:cNvPr id="65" name="Rectangle 64"/>
          <p:cNvSpPr/>
          <p:nvPr/>
        </p:nvSpPr>
        <p:spPr>
          <a:xfrm>
            <a:off x="8366760" y="3337560"/>
            <a:ext cx="176479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12480" y="3355848"/>
            <a:ext cx="1673351" cy="246888"/>
          </a:xfrm>
          <a:prstGeom prst="rect">
            <a:avLst/>
          </a:prstGeom>
          <a:noFill/>
        </p:spPr>
        <p:txBody>
          <a:bodyPr wrap="square">
            <a:spAutoFit/>
          </a:bodyPr>
          <a:lstStyle/>
          <a:p>
            <a:pPr algn="l"/>
            <a:r>
              <a:rPr sz="1100" b="0" i="0">
                <a:solidFill>
                  <a:srgbClr val="1A1A1A"/>
                </a:solidFill>
              </a:rPr>
              <a:t>In Progress</a:t>
            </a:r>
          </a:p>
        </p:txBody>
      </p:sp>
      <p:sp>
        <p:nvSpPr>
          <p:cNvPr id="67" name="Rectangle 66"/>
          <p:cNvSpPr/>
          <p:nvPr/>
        </p:nvSpPr>
        <p:spPr>
          <a:xfrm>
            <a:off x="228600" y="3630168"/>
            <a:ext cx="29260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74320" y="3648456"/>
            <a:ext cx="2834640" cy="246888"/>
          </a:xfrm>
          <a:prstGeom prst="rect">
            <a:avLst/>
          </a:prstGeom>
          <a:noFill/>
        </p:spPr>
        <p:txBody>
          <a:bodyPr wrap="square">
            <a:spAutoFit/>
          </a:bodyPr>
          <a:lstStyle/>
          <a:p>
            <a:pPr algn="l"/>
            <a:r>
              <a:rPr sz="1100" b="0" i="0">
                <a:solidFill>
                  <a:srgbClr val="1A1A1A"/>
                </a:solidFill>
              </a:rPr>
              <a:t>GPU DRR batched</a:t>
            </a:r>
          </a:p>
        </p:txBody>
      </p:sp>
      <p:sp>
        <p:nvSpPr>
          <p:cNvPr id="69" name="Rectangle 68"/>
          <p:cNvSpPr/>
          <p:nvPr/>
        </p:nvSpPr>
        <p:spPr>
          <a:xfrm>
            <a:off x="3154680" y="3630168"/>
            <a:ext cx="2194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00400" y="3648456"/>
            <a:ext cx="2103120" cy="246888"/>
          </a:xfrm>
          <a:prstGeom prst="rect">
            <a:avLst/>
          </a:prstGeom>
          <a:noFill/>
        </p:spPr>
        <p:txBody>
          <a:bodyPr wrap="square">
            <a:spAutoFit/>
          </a:bodyPr>
          <a:lstStyle/>
          <a:p>
            <a:pPr algn="l"/>
            <a:r>
              <a:rPr sz="1100" b="0" i="0">
                <a:solidFill>
                  <a:srgbClr val="1A1A1A"/>
                </a:solidFill>
              </a:rPr>
              <a:t>512×512  N&gt;8</a:t>
            </a:r>
          </a:p>
        </p:txBody>
      </p:sp>
      <p:sp>
        <p:nvSpPr>
          <p:cNvPr id="71" name="Rectangle 70"/>
          <p:cNvSpPr/>
          <p:nvPr/>
        </p:nvSpPr>
        <p:spPr>
          <a:xfrm>
            <a:off x="5349240" y="3630168"/>
            <a:ext cx="15544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394959" y="3648456"/>
            <a:ext cx="1463039" cy="246888"/>
          </a:xfrm>
          <a:prstGeom prst="rect">
            <a:avLst/>
          </a:prstGeom>
          <a:noFill/>
        </p:spPr>
        <p:txBody>
          <a:bodyPr wrap="square">
            <a:spAutoFit/>
          </a:bodyPr>
          <a:lstStyle/>
          <a:p>
            <a:pPr algn="l"/>
            <a:r>
              <a:rPr sz="1100" b="0" i="0">
                <a:solidFill>
                  <a:srgbClr val="1A1A1A"/>
                </a:solidFill>
              </a:rPr>
              <a:t>Degrades</a:t>
            </a:r>
          </a:p>
        </p:txBody>
      </p:sp>
      <p:sp>
        <p:nvSpPr>
          <p:cNvPr id="73" name="Rectangle 72"/>
          <p:cNvSpPr/>
          <p:nvPr/>
        </p:nvSpPr>
        <p:spPr>
          <a:xfrm>
            <a:off x="6903720" y="3630168"/>
            <a:ext cx="146304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949440" y="3648456"/>
            <a:ext cx="1371600" cy="246888"/>
          </a:xfrm>
          <a:prstGeom prst="rect">
            <a:avLst/>
          </a:prstGeom>
          <a:noFill/>
        </p:spPr>
        <p:txBody>
          <a:bodyPr wrap="square">
            <a:spAutoFit/>
          </a:bodyPr>
          <a:lstStyle/>
          <a:p>
            <a:pPr algn="l"/>
            <a:r>
              <a:rPr sz="1100" b="0" i="0">
                <a:solidFill>
                  <a:srgbClr val="1A1A1A"/>
                </a:solidFill>
              </a:rPr>
              <a:t>&gt;60 Hz</a:t>
            </a:r>
          </a:p>
        </p:txBody>
      </p:sp>
      <p:sp>
        <p:nvSpPr>
          <p:cNvPr id="75" name="Rectangle 74"/>
          <p:cNvSpPr/>
          <p:nvPr/>
        </p:nvSpPr>
        <p:spPr>
          <a:xfrm>
            <a:off x="8366760" y="3630168"/>
            <a:ext cx="176479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12480" y="3648456"/>
            <a:ext cx="1673351" cy="246888"/>
          </a:xfrm>
          <a:prstGeom prst="rect">
            <a:avLst/>
          </a:prstGeom>
          <a:noFill/>
        </p:spPr>
        <p:txBody>
          <a:bodyPr wrap="square">
            <a:spAutoFit/>
          </a:bodyPr>
          <a:lstStyle/>
          <a:p>
            <a:pPr algn="l"/>
            <a:r>
              <a:rPr sz="1100" b="0" i="0">
                <a:solidFill>
                  <a:srgbClr val="1A1A1A"/>
                </a:solidFill>
              </a:rPr>
              <a:t>Sprint 2</a:t>
            </a:r>
          </a:p>
        </p:txBody>
      </p:sp>
      <p:sp>
        <p:nvSpPr>
          <p:cNvPr id="77" name="Rectangle 76"/>
          <p:cNvSpPr/>
          <p:nvPr/>
        </p:nvSpPr>
        <p:spPr>
          <a:xfrm>
            <a:off x="228600" y="3922776"/>
            <a:ext cx="29260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74320" y="3941063"/>
            <a:ext cx="2834640" cy="246888"/>
          </a:xfrm>
          <a:prstGeom prst="rect">
            <a:avLst/>
          </a:prstGeom>
          <a:noFill/>
        </p:spPr>
        <p:txBody>
          <a:bodyPr wrap="square">
            <a:spAutoFit/>
          </a:bodyPr>
          <a:lstStyle/>
          <a:p>
            <a:pPr algn="l"/>
            <a:r>
              <a:rPr sz="1100" b="0" i="0">
                <a:solidFill>
                  <a:srgbClr val="1A1A1A"/>
                </a:solidFill>
              </a:rPr>
              <a:t>CPU Beer-Lambert</a:t>
            </a:r>
          </a:p>
        </p:txBody>
      </p:sp>
      <p:sp>
        <p:nvSpPr>
          <p:cNvPr id="79" name="Rectangle 78"/>
          <p:cNvSpPr/>
          <p:nvPr/>
        </p:nvSpPr>
        <p:spPr>
          <a:xfrm>
            <a:off x="3154680" y="3922776"/>
            <a:ext cx="21945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00400" y="3941063"/>
            <a:ext cx="2103120" cy="246888"/>
          </a:xfrm>
          <a:prstGeom prst="rect">
            <a:avLst/>
          </a:prstGeom>
          <a:noFill/>
        </p:spPr>
        <p:txBody>
          <a:bodyPr wrap="square">
            <a:spAutoFit/>
          </a:bodyPr>
          <a:lstStyle/>
          <a:p>
            <a:pPr algn="l"/>
            <a:r>
              <a:rPr sz="1100" b="0" i="0">
                <a:solidFill>
                  <a:srgbClr val="1A1A1A"/>
                </a:solidFill>
              </a:rPr>
              <a:t>512×512  ref.</a:t>
            </a:r>
          </a:p>
        </p:txBody>
      </p:sp>
      <p:sp>
        <p:nvSpPr>
          <p:cNvPr id="81" name="Rectangle 80"/>
          <p:cNvSpPr/>
          <p:nvPr/>
        </p:nvSpPr>
        <p:spPr>
          <a:xfrm>
            <a:off x="5349240" y="3922776"/>
            <a:ext cx="155448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94959" y="3941063"/>
            <a:ext cx="1463039" cy="246888"/>
          </a:xfrm>
          <a:prstGeom prst="rect">
            <a:avLst/>
          </a:prstGeom>
          <a:noFill/>
        </p:spPr>
        <p:txBody>
          <a:bodyPr wrap="square">
            <a:spAutoFit/>
          </a:bodyPr>
          <a:lstStyle/>
          <a:p>
            <a:pPr algn="l"/>
            <a:r>
              <a:rPr sz="1100" b="0" i="0">
                <a:solidFill>
                  <a:srgbClr val="1A1A1A"/>
                </a:solidFill>
              </a:rPr>
              <a:t>2–5 FPS</a:t>
            </a:r>
          </a:p>
        </p:txBody>
      </p:sp>
      <p:sp>
        <p:nvSpPr>
          <p:cNvPr id="83" name="Rectangle 82"/>
          <p:cNvSpPr/>
          <p:nvPr/>
        </p:nvSpPr>
        <p:spPr>
          <a:xfrm>
            <a:off x="6903720" y="3922776"/>
            <a:ext cx="146304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49440" y="3941063"/>
            <a:ext cx="1371600" cy="246888"/>
          </a:xfrm>
          <a:prstGeom prst="rect">
            <a:avLst/>
          </a:prstGeom>
          <a:noFill/>
        </p:spPr>
        <p:txBody>
          <a:bodyPr wrap="square">
            <a:spAutoFit/>
          </a:bodyPr>
          <a:lstStyle/>
          <a:p>
            <a:pPr algn="l"/>
            <a:r>
              <a:rPr sz="1100" b="0" i="0">
                <a:solidFill>
                  <a:srgbClr val="1A1A1A"/>
                </a:solidFill>
              </a:rPr>
              <a:t>N/A</a:t>
            </a:r>
          </a:p>
        </p:txBody>
      </p:sp>
      <p:sp>
        <p:nvSpPr>
          <p:cNvPr id="85" name="Rectangle 84"/>
          <p:cNvSpPr/>
          <p:nvPr/>
        </p:nvSpPr>
        <p:spPr>
          <a:xfrm>
            <a:off x="8366760" y="3922776"/>
            <a:ext cx="1764792"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412480" y="3941063"/>
            <a:ext cx="1673351" cy="246888"/>
          </a:xfrm>
          <a:prstGeom prst="rect">
            <a:avLst/>
          </a:prstGeom>
          <a:noFill/>
        </p:spPr>
        <p:txBody>
          <a:bodyPr wrap="square">
            <a:spAutoFit/>
          </a:bodyPr>
          <a:lstStyle/>
          <a:p>
            <a:pPr algn="l"/>
            <a:r>
              <a:rPr sz="1100" b="0" i="0">
                <a:solidFill>
                  <a:srgbClr val="1A1A1A"/>
                </a:solidFill>
              </a:rPr>
              <a:t>Reference only</a:t>
            </a:r>
          </a:p>
        </p:txBody>
      </p:sp>
      <p:sp>
        <p:nvSpPr>
          <p:cNvPr id="87" name="Rectangle 86"/>
          <p:cNvSpPr/>
          <p:nvPr/>
        </p:nvSpPr>
        <p:spPr>
          <a:xfrm>
            <a:off x="228600" y="4215383"/>
            <a:ext cx="29260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74320" y="4233671"/>
            <a:ext cx="2834640" cy="246888"/>
          </a:xfrm>
          <a:prstGeom prst="rect">
            <a:avLst/>
          </a:prstGeom>
          <a:noFill/>
        </p:spPr>
        <p:txBody>
          <a:bodyPr wrap="square">
            <a:spAutoFit/>
          </a:bodyPr>
          <a:lstStyle/>
          <a:p>
            <a:pPr algn="l"/>
            <a:r>
              <a:rPr sz="1100" b="0" i="0">
                <a:solidFill>
                  <a:srgbClr val="1A1A1A"/>
                </a:solidFill>
              </a:rPr>
              <a:t>Full sim loop (interact.)</a:t>
            </a:r>
          </a:p>
        </p:txBody>
      </p:sp>
      <p:sp>
        <p:nvSpPr>
          <p:cNvPr id="89" name="Rectangle 88"/>
          <p:cNvSpPr/>
          <p:nvPr/>
        </p:nvSpPr>
        <p:spPr>
          <a:xfrm>
            <a:off x="3154680" y="4215383"/>
            <a:ext cx="21945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00400" y="4233671"/>
            <a:ext cx="2103120" cy="246888"/>
          </a:xfrm>
          <a:prstGeom prst="rect">
            <a:avLst/>
          </a:prstGeom>
          <a:noFill/>
        </p:spPr>
        <p:txBody>
          <a:bodyPr wrap="square">
            <a:spAutoFit/>
          </a:bodyPr>
          <a:lstStyle/>
          <a:p>
            <a:pPr algn="l"/>
            <a:r>
              <a:rPr sz="1100" b="0" i="0">
                <a:solidFill>
                  <a:srgbClr val="1A1A1A"/>
                </a:solidFill>
              </a:rPr>
              <a:t>256×256  1 env</a:t>
            </a:r>
          </a:p>
        </p:txBody>
      </p:sp>
      <p:sp>
        <p:nvSpPr>
          <p:cNvPr id="91" name="Rectangle 90"/>
          <p:cNvSpPr/>
          <p:nvPr/>
        </p:nvSpPr>
        <p:spPr>
          <a:xfrm>
            <a:off x="5349240" y="4215383"/>
            <a:ext cx="155448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394959" y="4233671"/>
            <a:ext cx="1463039" cy="246888"/>
          </a:xfrm>
          <a:prstGeom prst="rect">
            <a:avLst/>
          </a:prstGeom>
          <a:noFill/>
        </p:spPr>
        <p:txBody>
          <a:bodyPr wrap="square">
            <a:spAutoFit/>
          </a:bodyPr>
          <a:lstStyle/>
          <a:p>
            <a:pPr algn="l"/>
            <a:r>
              <a:rPr sz="1100" b="0" i="0">
                <a:solidFill>
                  <a:srgbClr val="1A1A1A"/>
                </a:solidFill>
              </a:rPr>
              <a:t>~63 FPS</a:t>
            </a:r>
          </a:p>
        </p:txBody>
      </p:sp>
      <p:sp>
        <p:nvSpPr>
          <p:cNvPr id="93" name="Rectangle 92"/>
          <p:cNvSpPr/>
          <p:nvPr/>
        </p:nvSpPr>
        <p:spPr>
          <a:xfrm>
            <a:off x="6903720" y="4215383"/>
            <a:ext cx="146304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949440" y="4233671"/>
            <a:ext cx="1371600" cy="246888"/>
          </a:xfrm>
          <a:prstGeom prst="rect">
            <a:avLst/>
          </a:prstGeom>
          <a:noFill/>
        </p:spPr>
        <p:txBody>
          <a:bodyPr wrap="square">
            <a:spAutoFit/>
          </a:bodyPr>
          <a:lstStyle/>
          <a:p>
            <a:pPr algn="l"/>
            <a:r>
              <a:rPr sz="1100" b="0" i="0">
                <a:solidFill>
                  <a:srgbClr val="1A1A1A"/>
                </a:solidFill>
              </a:rPr>
              <a:t>30+ FPS</a:t>
            </a:r>
          </a:p>
        </p:txBody>
      </p:sp>
      <p:sp>
        <p:nvSpPr>
          <p:cNvPr id="95" name="Rectangle 94"/>
          <p:cNvSpPr/>
          <p:nvPr/>
        </p:nvSpPr>
        <p:spPr>
          <a:xfrm>
            <a:off x="8366760" y="4215383"/>
            <a:ext cx="1764792"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412480" y="4233671"/>
            <a:ext cx="1673351" cy="246888"/>
          </a:xfrm>
          <a:prstGeom prst="rect">
            <a:avLst/>
          </a:prstGeom>
          <a:noFill/>
        </p:spPr>
        <p:txBody>
          <a:bodyPr wrap="square">
            <a:spAutoFit/>
          </a:bodyPr>
          <a:lstStyle/>
          <a:p>
            <a:pPr algn="l"/>
            <a:r>
              <a:rPr sz="1100" b="0" i="0">
                <a:solidFill>
                  <a:srgbClr val="1A1A1A"/>
                </a:solidFill>
              </a:rPr>
              <a:t>✓ Met</a:t>
            </a:r>
          </a:p>
        </p:txBody>
      </p:sp>
      <p:sp>
        <p:nvSpPr>
          <p:cNvPr id="97" name="TextBox 96"/>
          <p:cNvSpPr txBox="1"/>
          <p:nvPr/>
        </p:nvSpPr>
        <p:spPr>
          <a:xfrm>
            <a:off x="274320" y="5760720"/>
            <a:ext cx="11612880" cy="502920"/>
          </a:xfrm>
          <a:prstGeom prst="rect">
            <a:avLst/>
          </a:prstGeom>
          <a:noFill/>
        </p:spPr>
        <p:txBody>
          <a:bodyPr wrap="square">
            <a:spAutoFit/>
          </a:bodyPr>
          <a:lstStyle/>
          <a:p>
            <a:pPr algn="l"/>
            <a:r>
              <a:rPr sz="1200" b="1" i="0">
                <a:solidFill>
                  <a:srgbClr val="76B900"/>
                </a:solidFill>
              </a:rPr>
              <a:t>Sprint 2 bottleneck fix:  3D μ-volume → Texture2DArray — caches one depth slice per env in L2.  Eliminates global memory bandwidth saturation at N&gt;8.  Projected throughput: &gt;60 Hz @ 512 envs.</a:t>
            </a:r>
          </a:p>
        </p:txBody>
      </p:sp>
      <p:sp>
        <p:nvSpPr>
          <p:cNvPr id="98" name="TextBox 97"/>
          <p:cNvSpPr txBox="1"/>
          <p:nvPr/>
        </p:nvSpPr>
        <p:spPr>
          <a:xfrm>
            <a:off x="274320" y="6309360"/>
            <a:ext cx="11612880" cy="411480"/>
          </a:xfrm>
          <a:prstGeom prst="rect">
            <a:avLst/>
          </a:prstGeom>
          <a:noFill/>
        </p:spPr>
        <p:txBody>
          <a:bodyPr wrap="square">
            <a:spAutoFit/>
          </a:bodyPr>
          <a:lstStyle/>
          <a:p>
            <a:pPr algn="l"/>
            <a:r>
              <a:rPr sz="1100" b="0" i="1">
                <a:solidFill>
                  <a:srgbClr val="555555"/>
                </a:solidFill>
              </a:rPr>
              <a:t>Physics subsystem exceeds training throughput target with margin.  End-to-end loop is rendering-bound only.  No unknown unknowns on this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RL Training Pipeline — State-Based (Sprint 1)</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PPO via RSL-RL.  512 parallel environments.  State observations today → pixel observations Sprint 2.</a:t>
            </a:r>
          </a:p>
        </p:txBody>
      </p:sp>
      <p:sp>
        <p:nvSpPr>
          <p:cNvPr id="7" name="Rectangle 6"/>
          <p:cNvSpPr/>
          <p:nvPr/>
        </p:nvSpPr>
        <p:spPr>
          <a:xfrm>
            <a:off x="228600" y="1920240"/>
            <a:ext cx="2011680" cy="9144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2148840"/>
            <a:ext cx="1965960" cy="457200"/>
          </a:xfrm>
          <a:prstGeom prst="rect">
            <a:avLst/>
          </a:prstGeom>
          <a:noFill/>
        </p:spPr>
        <p:txBody>
          <a:bodyPr wrap="square">
            <a:spAutoFit/>
          </a:bodyPr>
          <a:lstStyle/>
          <a:p>
            <a:pPr algn="ctr"/>
            <a:r>
              <a:rPr sz="1300" b="1" i="0">
                <a:solidFill>
                  <a:srgbClr val="FFFFFF"/>
                </a:solidFill>
              </a:rPr>
              <a:t>Environment</a:t>
            </a:r>
          </a:p>
        </p:txBody>
      </p:sp>
      <p:sp>
        <p:nvSpPr>
          <p:cNvPr id="9" name="Rectangle 8"/>
          <p:cNvSpPr/>
          <p:nvPr/>
        </p:nvSpPr>
        <p:spPr>
          <a:xfrm>
            <a:off x="2331720" y="1920240"/>
            <a:ext cx="9601200" cy="91440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23160" y="1965960"/>
            <a:ext cx="9418320" cy="822960"/>
          </a:xfrm>
          <a:prstGeom prst="rect">
            <a:avLst/>
          </a:prstGeom>
          <a:noFill/>
        </p:spPr>
        <p:txBody>
          <a:bodyPr wrap="square">
            <a:spAutoFit/>
          </a:bodyPr>
          <a:lstStyle/>
          <a:p>
            <a:pPr algn="l"/>
            <a:r>
              <a:rPr sz="1100" b="0" i="0">
                <a:solidFill>
                  <a:srgbClr val="1A1A1A"/>
                </a:solidFill>
              </a:rPr>
              <a:t>Multi-env production XPBD solver with gymnasium-compatible step/reset interface.
Two control actions: advance (proximal push) + rotate — matching real procedure DOF.
Reward: reduction in tip-to-target Euclidean distance.  Dense, well-conditioned.</a:t>
            </a:r>
          </a:p>
        </p:txBody>
      </p:sp>
      <p:sp>
        <p:nvSpPr>
          <p:cNvPr id="11" name="Rectangle 10"/>
          <p:cNvSpPr/>
          <p:nvPr/>
        </p:nvSpPr>
        <p:spPr>
          <a:xfrm>
            <a:off x="228600" y="2880360"/>
            <a:ext cx="2011680" cy="91440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 y="3108960"/>
            <a:ext cx="1965960" cy="457200"/>
          </a:xfrm>
          <a:prstGeom prst="rect">
            <a:avLst/>
          </a:prstGeom>
          <a:noFill/>
        </p:spPr>
        <p:txBody>
          <a:bodyPr wrap="square">
            <a:spAutoFit/>
          </a:bodyPr>
          <a:lstStyle/>
          <a:p>
            <a:pPr algn="ctr"/>
            <a:r>
              <a:rPr sz="1300" b="1" i="0">
                <a:solidFill>
                  <a:srgbClr val="FFFFFF"/>
                </a:solidFill>
              </a:rPr>
              <a:t>RSL-RL Wrapper</a:t>
            </a:r>
          </a:p>
        </p:txBody>
      </p:sp>
      <p:sp>
        <p:nvSpPr>
          <p:cNvPr id="13" name="Rectangle 12"/>
          <p:cNvSpPr/>
          <p:nvPr/>
        </p:nvSpPr>
        <p:spPr>
          <a:xfrm>
            <a:off x="2331720" y="2880360"/>
            <a:ext cx="9601200" cy="914400"/>
          </a:xfrm>
          <a:prstGeom prst="rect">
            <a:avLst/>
          </a:prstGeom>
          <a:solidFill>
            <a:srgbClr val="F2F2F2"/>
          </a:solidFill>
          <a:ln w="9525">
            <a:solidFill>
              <a:srgbClr val="00A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3160" y="2926080"/>
            <a:ext cx="9418320" cy="822960"/>
          </a:xfrm>
          <a:prstGeom prst="rect">
            <a:avLst/>
          </a:prstGeom>
          <a:noFill/>
        </p:spPr>
        <p:txBody>
          <a:bodyPr wrap="square">
            <a:spAutoFit/>
          </a:bodyPr>
          <a:lstStyle/>
          <a:p>
            <a:pPr algn="l"/>
            <a:r>
              <a:rPr sz="1100" b="0" i="0">
                <a:solidFill>
                  <a:srgbClr val="1A1A1A"/>
                </a:solidFill>
              </a:rPr>
              <a:t>Standard VecEnv adapter.  RL algorithm fully decoupled from physics/rendering.
Swapping to pixel obs or a different policy algorithm requires only obs tensor shape change.</a:t>
            </a:r>
          </a:p>
        </p:txBody>
      </p:sp>
      <p:sp>
        <p:nvSpPr>
          <p:cNvPr id="15" name="Rectangle 14"/>
          <p:cNvSpPr/>
          <p:nvPr/>
        </p:nvSpPr>
        <p:spPr>
          <a:xfrm>
            <a:off x="228600" y="3840480"/>
            <a:ext cx="2011680" cy="9144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 y="4069080"/>
            <a:ext cx="1965960" cy="457200"/>
          </a:xfrm>
          <a:prstGeom prst="rect">
            <a:avLst/>
          </a:prstGeom>
          <a:noFill/>
        </p:spPr>
        <p:txBody>
          <a:bodyPr wrap="square">
            <a:spAutoFit/>
          </a:bodyPr>
          <a:lstStyle/>
          <a:p>
            <a:pPr algn="ctr"/>
            <a:r>
              <a:rPr sz="1300" b="1" i="0">
                <a:solidFill>
                  <a:srgbClr val="FFFFFF"/>
                </a:solidFill>
              </a:rPr>
              <a:t>PPO Config</a:t>
            </a:r>
          </a:p>
        </p:txBody>
      </p:sp>
      <p:sp>
        <p:nvSpPr>
          <p:cNvPr id="17" name="Rectangle 16"/>
          <p:cNvSpPr/>
          <p:nvPr/>
        </p:nvSpPr>
        <p:spPr>
          <a:xfrm>
            <a:off x="2331720" y="3840480"/>
            <a:ext cx="9601200" cy="914400"/>
          </a:xfrm>
          <a:prstGeom prst="rect">
            <a:avLst/>
          </a:prstGeom>
          <a:solidFill>
            <a:srgbClr val="F2F2F2"/>
          </a:solidFill>
          <a:ln w="952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23160" y="3886200"/>
            <a:ext cx="9418320" cy="822960"/>
          </a:xfrm>
          <a:prstGeom prst="rect">
            <a:avLst/>
          </a:prstGeom>
          <a:noFill/>
        </p:spPr>
        <p:txBody>
          <a:bodyPr wrap="square">
            <a:spAutoFit/>
          </a:bodyPr>
          <a:lstStyle/>
          <a:p>
            <a:pPr algn="l"/>
            <a:r>
              <a:rPr sz="1100" b="0" i="0">
                <a:solidFill>
                  <a:srgbClr val="1A1A1A"/>
                </a:solidFill>
              </a:rPr>
              <a:t>Hyperparameters tuned for catheter navigation: higher entropy (exploration at bifurcations),
shorter GAE horizon (reduce variance from contact sequences).</a:t>
            </a:r>
          </a:p>
        </p:txBody>
      </p:sp>
      <p:sp>
        <p:nvSpPr>
          <p:cNvPr id="19" name="Rectangle 18"/>
          <p:cNvSpPr/>
          <p:nvPr/>
        </p:nvSpPr>
        <p:spPr>
          <a:xfrm>
            <a:off x="228600" y="4800600"/>
            <a:ext cx="2011680" cy="9144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5029200"/>
            <a:ext cx="1965960" cy="457200"/>
          </a:xfrm>
          <a:prstGeom prst="rect">
            <a:avLst/>
          </a:prstGeom>
          <a:noFill/>
        </p:spPr>
        <p:txBody>
          <a:bodyPr wrap="square">
            <a:spAutoFit/>
          </a:bodyPr>
          <a:lstStyle/>
          <a:p>
            <a:pPr algn="ctr"/>
            <a:r>
              <a:rPr sz="1300" b="1" i="0">
                <a:solidFill>
                  <a:srgbClr val="FFFFFF"/>
                </a:solidFill>
              </a:rPr>
              <a:t>Training Scale</a:t>
            </a:r>
          </a:p>
        </p:txBody>
      </p:sp>
      <p:sp>
        <p:nvSpPr>
          <p:cNvPr id="21" name="Rectangle 20"/>
          <p:cNvSpPr/>
          <p:nvPr/>
        </p:nvSpPr>
        <p:spPr>
          <a:xfrm>
            <a:off x="2331720" y="4800600"/>
            <a:ext cx="9601200" cy="914400"/>
          </a:xfrm>
          <a:prstGeom prst="rect">
            <a:avLst/>
          </a:prstGeom>
          <a:solidFill>
            <a:srgbClr val="F2F2F2"/>
          </a:solidFill>
          <a:ln w="9525">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23160" y="4846320"/>
            <a:ext cx="9418320" cy="822960"/>
          </a:xfrm>
          <a:prstGeom prst="rect">
            <a:avLst/>
          </a:prstGeom>
          <a:noFill/>
        </p:spPr>
        <p:txBody>
          <a:bodyPr wrap="square">
            <a:spAutoFit/>
          </a:bodyPr>
          <a:lstStyle/>
          <a:p>
            <a:pPr algn="l"/>
            <a:r>
              <a:rPr sz="1100" b="0" i="0">
                <a:solidFill>
                  <a:srgbClr val="1A1A1A"/>
                </a:solidFill>
              </a:rPr>
              <a:t>512 parallel environments.  Policy sees 512 independent rollout trajectories per update.
Physics runs at ~1,300 Hz/env inside a single CUDA graph — RL training is not physics-bound.
Currently rendering-bound only if pixel obs are enabled.</a:t>
            </a:r>
          </a:p>
        </p:txBody>
      </p:sp>
      <p:sp>
        <p:nvSpPr>
          <p:cNvPr id="23" name="Rectangle 22"/>
          <p:cNvSpPr/>
          <p:nvPr/>
        </p:nvSpPr>
        <p:spPr>
          <a:xfrm>
            <a:off x="228600" y="5760720"/>
            <a:ext cx="2011680" cy="91440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5989320"/>
            <a:ext cx="1965960" cy="457200"/>
          </a:xfrm>
          <a:prstGeom prst="rect">
            <a:avLst/>
          </a:prstGeom>
          <a:noFill/>
        </p:spPr>
        <p:txBody>
          <a:bodyPr wrap="square">
            <a:spAutoFit/>
          </a:bodyPr>
          <a:lstStyle/>
          <a:p>
            <a:pPr algn="ctr"/>
            <a:r>
              <a:rPr sz="1300" b="1" i="0">
                <a:solidFill>
                  <a:srgbClr val="FFFFFF"/>
                </a:solidFill>
              </a:rPr>
              <a:t>Smoke Test</a:t>
            </a:r>
          </a:p>
        </p:txBody>
      </p:sp>
      <p:sp>
        <p:nvSpPr>
          <p:cNvPr id="25" name="Rectangle 24"/>
          <p:cNvSpPr/>
          <p:nvPr/>
        </p:nvSpPr>
        <p:spPr>
          <a:xfrm>
            <a:off x="2331720" y="5760720"/>
            <a:ext cx="9601200" cy="914400"/>
          </a:xfrm>
          <a:prstGeom prst="rect">
            <a:avLst/>
          </a:prstGeom>
          <a:solidFill>
            <a:srgbClr val="F2F2F2"/>
          </a:solidFill>
          <a:ln w="9525">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23160" y="5806440"/>
            <a:ext cx="9418320" cy="822960"/>
          </a:xfrm>
          <a:prstGeom prst="rect">
            <a:avLst/>
          </a:prstGeom>
          <a:noFill/>
        </p:spPr>
        <p:txBody>
          <a:bodyPr wrap="square">
            <a:spAutoFit/>
          </a:bodyPr>
          <a:lstStyle/>
          <a:p>
            <a:pPr algn="l"/>
            <a:r>
              <a:rPr sz="1100" b="0" i="0">
                <a:solidFill>
                  <a:srgbClr val="1A1A1A"/>
                </a:solidFill>
              </a:rPr>
              <a:t>Dependency-free validation path: reset → step → reward → done, no RSL-RL stack required.
CI validation + headless server debugging without full training stack.</a:t>
            </a:r>
          </a:p>
        </p:txBody>
      </p:sp>
      <p:sp>
        <p:nvSpPr>
          <p:cNvPr id="27" name="Rectangle 26"/>
          <p:cNvSpPr/>
          <p:nvPr/>
        </p:nvSpPr>
        <p:spPr>
          <a:xfrm>
            <a:off x="228600" y="6537960"/>
            <a:ext cx="11704320" cy="2286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6556248"/>
            <a:ext cx="11521440" cy="201168"/>
          </a:xfrm>
          <a:prstGeom prst="rect">
            <a:avLst/>
          </a:prstGeom>
          <a:noFill/>
        </p:spPr>
        <p:txBody>
          <a:bodyPr wrap="square">
            <a:spAutoFit/>
          </a:bodyPr>
          <a:lstStyle/>
          <a:p>
            <a:pPr algn="l"/>
            <a:r>
              <a:rPr sz="1050" b="1" i="0">
                <a:solidFill>
                  <a:srgbClr val="76B900"/>
                </a:solidFill>
              </a:rPr>
              <a:t>State-based observations are scaffolding, not the target.  Sprint 2: pixel obs from Slang renderer → policy navigates using only the fluoroscopy frame — closing the loop from simulation to deployable clinical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Stage 1 &amp; 2 Demo — Interactive Fluoroscopy Simulator</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Browser-based UI integrating XPBD physics, Beer-Lambert rendering, vessel-mesh collision, and DSA in real time.</a:t>
            </a:r>
          </a:p>
        </p:txBody>
      </p:sp>
      <p:sp>
        <p:nvSpPr>
          <p:cNvPr id="7" name="TextBox 6"/>
          <p:cNvSpPr txBox="1"/>
          <p:nvPr/>
        </p:nvSpPr>
        <p:spPr>
          <a:xfrm>
            <a:off x="274320" y="1874519"/>
            <a:ext cx="4114800" cy="347472"/>
          </a:xfrm>
          <a:prstGeom prst="rect">
            <a:avLst/>
          </a:prstGeom>
          <a:noFill/>
        </p:spPr>
        <p:txBody>
          <a:bodyPr wrap="square">
            <a:spAutoFit/>
          </a:bodyPr>
          <a:lstStyle/>
          <a:p>
            <a:pPr algn="l"/>
            <a:r>
              <a:rPr sz="1500" b="1" i="0">
                <a:solidFill>
                  <a:srgbClr val="76B900"/>
                </a:solidFill>
              </a:rPr>
              <a:t>Control Panel</a:t>
            </a:r>
          </a:p>
        </p:txBody>
      </p:sp>
      <p:sp>
        <p:nvSpPr>
          <p:cNvPr id="8" name="TextBox 7"/>
          <p:cNvSpPr txBox="1"/>
          <p:nvPr/>
        </p:nvSpPr>
        <p:spPr>
          <a:xfrm>
            <a:off x="320040" y="2267712"/>
            <a:ext cx="3977639" cy="274320"/>
          </a:xfrm>
          <a:prstGeom prst="rect">
            <a:avLst/>
          </a:prstGeom>
          <a:noFill/>
        </p:spPr>
        <p:txBody>
          <a:bodyPr wrap="square">
            <a:spAutoFit/>
          </a:bodyPr>
          <a:lstStyle/>
          <a:p>
            <a:pPr algn="l"/>
            <a:r>
              <a:rPr sz="1100" b="0" i="0">
                <a:solidFill>
                  <a:srgbClr val="1A1A1A"/>
                </a:solidFill>
              </a:rPr>
              <a:t>• C-arm projection: AP / LAO-30 / LAO-45 / RAO-30 / Lateral  (instant re-render)</a:t>
            </a:r>
          </a:p>
        </p:txBody>
      </p:sp>
      <p:sp>
        <p:nvSpPr>
          <p:cNvPr id="9" name="TextBox 8"/>
          <p:cNvSpPr txBox="1"/>
          <p:nvPr/>
        </p:nvSpPr>
        <p:spPr>
          <a:xfrm>
            <a:off x="320040" y="2542032"/>
            <a:ext cx="3977639" cy="274320"/>
          </a:xfrm>
          <a:prstGeom prst="rect">
            <a:avLst/>
          </a:prstGeom>
          <a:noFill/>
        </p:spPr>
        <p:txBody>
          <a:bodyPr wrap="square">
            <a:spAutoFit/>
          </a:bodyPr>
          <a:lstStyle/>
          <a:p>
            <a:pPr algn="l"/>
            <a:r>
              <a:rPr sz="1100" b="0" i="0">
                <a:solidFill>
                  <a:srgbClr val="1A1A1A"/>
                </a:solidFill>
              </a:rPr>
              <a:t>• Advance speed (mm/s) slider  →  proximal boundary condition in XPBD solver</a:t>
            </a:r>
          </a:p>
        </p:txBody>
      </p:sp>
      <p:sp>
        <p:nvSpPr>
          <p:cNvPr id="10" name="TextBox 9"/>
          <p:cNvSpPr txBox="1"/>
          <p:nvPr/>
        </p:nvSpPr>
        <p:spPr>
          <a:xfrm>
            <a:off x="320040" y="2816351"/>
            <a:ext cx="3977639" cy="274320"/>
          </a:xfrm>
          <a:prstGeom prst="rect">
            <a:avLst/>
          </a:prstGeom>
          <a:noFill/>
        </p:spPr>
        <p:txBody>
          <a:bodyPr wrap="square">
            <a:spAutoFit/>
          </a:bodyPr>
          <a:lstStyle/>
          <a:p>
            <a:pPr algn="l"/>
            <a:r>
              <a:rPr sz="1100" b="0" i="0">
                <a:solidFill>
                  <a:srgbClr val="1A1A1A"/>
                </a:solidFill>
              </a:rPr>
              <a:t>• Advance / Retract: 3 physics substeps per click</a:t>
            </a:r>
          </a:p>
        </p:txBody>
      </p:sp>
      <p:sp>
        <p:nvSpPr>
          <p:cNvPr id="11" name="TextBox 10"/>
          <p:cNvSpPr txBox="1"/>
          <p:nvPr/>
        </p:nvSpPr>
        <p:spPr>
          <a:xfrm>
            <a:off x="320040" y="3090671"/>
            <a:ext cx="3977639" cy="274320"/>
          </a:xfrm>
          <a:prstGeom prst="rect">
            <a:avLst/>
          </a:prstGeom>
          <a:noFill/>
        </p:spPr>
        <p:txBody>
          <a:bodyPr wrap="square">
            <a:spAutoFit/>
          </a:bodyPr>
          <a:lstStyle/>
          <a:p>
            <a:pPr algn="l"/>
            <a:r>
              <a:rPr sz="1100" b="0" i="0">
                <a:solidFill>
                  <a:srgbClr val="1A1A1A"/>
                </a:solidFill>
              </a:rPr>
              <a:t>• Rotate CW / CCW: proximal torque, propagates along Cosserat rod</a:t>
            </a:r>
          </a:p>
        </p:txBody>
      </p:sp>
      <p:sp>
        <p:nvSpPr>
          <p:cNvPr id="12" name="TextBox 11"/>
          <p:cNvSpPr txBox="1"/>
          <p:nvPr/>
        </p:nvSpPr>
        <p:spPr>
          <a:xfrm>
            <a:off x="320040" y="3364991"/>
            <a:ext cx="3977639" cy="274320"/>
          </a:xfrm>
          <a:prstGeom prst="rect">
            <a:avLst/>
          </a:prstGeom>
          <a:noFill/>
        </p:spPr>
        <p:txBody>
          <a:bodyPr wrap="square">
            <a:spAutoFit/>
          </a:bodyPr>
          <a:lstStyle/>
          <a:p>
            <a:pPr algn="l"/>
            <a:r>
              <a:rPr sz="1100" b="0" i="0">
                <a:solidFill>
                  <a:srgbClr val="1A1A1A"/>
                </a:solidFill>
              </a:rPr>
              <a:t>• Idle step: physics advance with zero control (gravity deformation)</a:t>
            </a:r>
          </a:p>
        </p:txBody>
      </p:sp>
      <p:sp>
        <p:nvSpPr>
          <p:cNvPr id="13" name="TextBox 12"/>
          <p:cNvSpPr txBox="1"/>
          <p:nvPr/>
        </p:nvSpPr>
        <p:spPr>
          <a:xfrm>
            <a:off x="320040" y="3639311"/>
            <a:ext cx="3977639" cy="274320"/>
          </a:xfrm>
          <a:prstGeom prst="rect">
            <a:avLst/>
          </a:prstGeom>
          <a:noFill/>
        </p:spPr>
        <p:txBody>
          <a:bodyPr wrap="square">
            <a:spAutoFit/>
          </a:bodyPr>
          <a:lstStyle/>
          <a:p>
            <a:pPr algn="l"/>
            <a:r>
              <a:rPr sz="1100" b="0" i="0">
                <a:solidFill>
                  <a:srgbClr val="1A1A1A"/>
                </a:solidFill>
              </a:rPr>
              <a:t>• Reset: restore to initial straight configuration via Warp buffer write + CUDA graph invalidation</a:t>
            </a:r>
          </a:p>
        </p:txBody>
      </p:sp>
      <p:sp>
        <p:nvSpPr>
          <p:cNvPr id="14" name="TextBox 13"/>
          <p:cNvSpPr txBox="1"/>
          <p:nvPr/>
        </p:nvSpPr>
        <p:spPr>
          <a:xfrm>
            <a:off x="320040" y="3913631"/>
            <a:ext cx="3977639" cy="274320"/>
          </a:xfrm>
          <a:prstGeom prst="rect">
            <a:avLst/>
          </a:prstGeom>
          <a:noFill/>
        </p:spPr>
        <p:txBody>
          <a:bodyPr wrap="square">
            <a:spAutoFit/>
          </a:bodyPr>
          <a:lstStyle/>
          <a:p>
            <a:pPr algn="l"/>
            <a:r>
              <a:rPr sz="1100" b="0" i="0">
                <a:solidFill>
                  <a:srgbClr val="1A1A1A"/>
                </a:solidFill>
              </a:rPr>
              <a:t>• DSA: 3-dispatch composite (bg + fat-catheter + catheter)</a:t>
            </a:r>
          </a:p>
        </p:txBody>
      </p:sp>
      <p:sp>
        <p:nvSpPr>
          <p:cNvPr id="15" name="TextBox 14"/>
          <p:cNvSpPr txBox="1"/>
          <p:nvPr/>
        </p:nvSpPr>
        <p:spPr>
          <a:xfrm>
            <a:off x="274320" y="4315968"/>
            <a:ext cx="4114800" cy="320040"/>
          </a:xfrm>
          <a:prstGeom prst="rect">
            <a:avLst/>
          </a:prstGeom>
          <a:noFill/>
        </p:spPr>
        <p:txBody>
          <a:bodyPr wrap="square">
            <a:spAutoFit/>
          </a:bodyPr>
          <a:lstStyle/>
          <a:p>
            <a:pPr algn="l"/>
            <a:r>
              <a:rPr sz="1500" b="1" i="0">
                <a:solidFill>
                  <a:srgbClr val="76B900"/>
                </a:solidFill>
              </a:rPr>
              <a:t>Simulation Info (live)</a:t>
            </a:r>
          </a:p>
        </p:txBody>
      </p:sp>
      <p:sp>
        <p:nvSpPr>
          <p:cNvPr id="16" name="TextBox 15"/>
          <p:cNvSpPr txBox="1"/>
          <p:nvPr/>
        </p:nvSpPr>
        <p:spPr>
          <a:xfrm>
            <a:off x="320040" y="4681728"/>
            <a:ext cx="3977639" cy="256032"/>
          </a:xfrm>
          <a:prstGeom prst="rect">
            <a:avLst/>
          </a:prstGeom>
          <a:noFill/>
        </p:spPr>
        <p:txBody>
          <a:bodyPr wrap="square">
            <a:spAutoFit/>
          </a:bodyPr>
          <a:lstStyle/>
          <a:p>
            <a:pPr algn="l"/>
            <a:r>
              <a:rPr sz="1100" b="0" i="0">
                <a:solidFill>
                  <a:srgbClr val="1A1A1A"/>
                </a:solidFill>
              </a:rPr>
              <a:t>• Projection: current C-arm angle</a:t>
            </a:r>
          </a:p>
        </p:txBody>
      </p:sp>
      <p:sp>
        <p:nvSpPr>
          <p:cNvPr id="17" name="TextBox 16"/>
          <p:cNvSpPr txBox="1"/>
          <p:nvPr/>
        </p:nvSpPr>
        <p:spPr>
          <a:xfrm>
            <a:off x="320040" y="4937760"/>
            <a:ext cx="3977639" cy="256032"/>
          </a:xfrm>
          <a:prstGeom prst="rect">
            <a:avLst/>
          </a:prstGeom>
          <a:noFill/>
        </p:spPr>
        <p:txBody>
          <a:bodyPr wrap="square">
            <a:spAutoFit/>
          </a:bodyPr>
          <a:lstStyle/>
          <a:p>
            <a:pPr algn="l"/>
            <a:r>
              <a:rPr sz="1100" b="0" i="0">
                <a:solidFill>
                  <a:srgbClr val="1A1A1A"/>
                </a:solidFill>
              </a:rPr>
              <a:t>• Tip (CT mm): catheter tip in CT volume coordinates</a:t>
            </a:r>
          </a:p>
        </p:txBody>
      </p:sp>
      <p:sp>
        <p:nvSpPr>
          <p:cNvPr id="18" name="TextBox 17"/>
          <p:cNvSpPr txBox="1"/>
          <p:nvPr/>
        </p:nvSpPr>
        <p:spPr>
          <a:xfrm>
            <a:off x="320040" y="5193792"/>
            <a:ext cx="3977639" cy="256032"/>
          </a:xfrm>
          <a:prstGeom prst="rect">
            <a:avLst/>
          </a:prstGeom>
          <a:noFill/>
        </p:spPr>
        <p:txBody>
          <a:bodyPr wrap="square">
            <a:spAutoFit/>
          </a:bodyPr>
          <a:lstStyle/>
          <a:p>
            <a:pPr algn="l"/>
            <a:r>
              <a:rPr sz="1100" b="0" i="0">
                <a:solidFill>
                  <a:srgbClr val="1A1A1A"/>
                </a:solidFill>
              </a:rPr>
              <a:t>• Catheter bend (mm): max deviation from straight line — confirms vessel collision is active</a:t>
            </a:r>
          </a:p>
        </p:txBody>
      </p:sp>
      <p:sp>
        <p:nvSpPr>
          <p:cNvPr id="19" name="TextBox 18"/>
          <p:cNvSpPr txBox="1"/>
          <p:nvPr/>
        </p:nvSpPr>
        <p:spPr>
          <a:xfrm>
            <a:off x="320040" y="5449824"/>
            <a:ext cx="3977639" cy="256032"/>
          </a:xfrm>
          <a:prstGeom prst="rect">
            <a:avLst/>
          </a:prstGeom>
          <a:noFill/>
        </p:spPr>
        <p:txBody>
          <a:bodyPr wrap="square">
            <a:spAutoFit/>
          </a:bodyPr>
          <a:lstStyle/>
          <a:p>
            <a:pPr algn="l"/>
            <a:r>
              <a:rPr sz="1100" b="0" i="0">
                <a:solidFill>
                  <a:srgbClr val="1A1A1A"/>
                </a:solidFill>
              </a:rPr>
              <a:t>• Physics step: substep time (ms)</a:t>
            </a:r>
          </a:p>
        </p:txBody>
      </p:sp>
      <p:sp>
        <p:nvSpPr>
          <p:cNvPr id="20" name="TextBox 19"/>
          <p:cNvSpPr txBox="1"/>
          <p:nvPr/>
        </p:nvSpPr>
        <p:spPr>
          <a:xfrm>
            <a:off x="320040" y="5705856"/>
            <a:ext cx="3977639" cy="256032"/>
          </a:xfrm>
          <a:prstGeom prst="rect">
            <a:avLst/>
          </a:prstGeom>
          <a:noFill/>
        </p:spPr>
        <p:txBody>
          <a:bodyPr wrap="square">
            <a:spAutoFit/>
          </a:bodyPr>
          <a:lstStyle/>
          <a:p>
            <a:pPr algn="l"/>
            <a:r>
              <a:rPr sz="1100" b="0" i="0">
                <a:solidFill>
                  <a:srgbClr val="1A1A1A"/>
                </a:solidFill>
              </a:rPr>
              <a:t>• Render (GPU): DRR dispatch time (ms)</a:t>
            </a:r>
          </a:p>
        </p:txBody>
      </p:sp>
      <p:sp>
        <p:nvSpPr>
          <p:cNvPr id="21" name="TextBox 20"/>
          <p:cNvSpPr txBox="1"/>
          <p:nvPr/>
        </p:nvSpPr>
        <p:spPr>
          <a:xfrm>
            <a:off x="320040" y="5961888"/>
            <a:ext cx="3977639" cy="256032"/>
          </a:xfrm>
          <a:prstGeom prst="rect">
            <a:avLst/>
          </a:prstGeom>
          <a:noFill/>
        </p:spPr>
        <p:txBody>
          <a:bodyPr wrap="square">
            <a:spAutoFit/>
          </a:bodyPr>
          <a:lstStyle/>
          <a:p>
            <a:pPr algn="l"/>
            <a:r>
              <a:rPr sz="1100" b="0" i="0">
                <a:solidFill>
                  <a:srgbClr val="1A1A1A"/>
                </a:solidFill>
              </a:rPr>
              <a:t>• Sim loop: total frame time + FPS</a:t>
            </a:r>
          </a:p>
        </p:txBody>
      </p:sp>
      <p:sp>
        <p:nvSpPr>
          <p:cNvPr id="22" name="TextBox 21"/>
          <p:cNvSpPr txBox="1"/>
          <p:nvPr/>
        </p:nvSpPr>
        <p:spPr>
          <a:xfrm>
            <a:off x="4663440" y="1874519"/>
            <a:ext cx="7223760" cy="347472"/>
          </a:xfrm>
          <a:prstGeom prst="rect">
            <a:avLst/>
          </a:prstGeom>
          <a:noFill/>
        </p:spPr>
        <p:txBody>
          <a:bodyPr wrap="square">
            <a:spAutoFit/>
          </a:bodyPr>
          <a:lstStyle/>
          <a:p>
            <a:pPr algn="l"/>
            <a:r>
              <a:rPr sz="1500" b="1" i="0">
                <a:solidFill>
                  <a:srgbClr val="00A0D0"/>
                </a:solidFill>
              </a:rPr>
              <a:t>Why Interactive Instead of PPO Rollout</a:t>
            </a:r>
          </a:p>
        </p:txBody>
      </p:sp>
      <p:sp>
        <p:nvSpPr>
          <p:cNvPr id="23" name="Rectangle 22"/>
          <p:cNvSpPr/>
          <p:nvPr/>
        </p:nvSpPr>
        <p:spPr>
          <a:xfrm>
            <a:off x="4663440" y="2286000"/>
            <a:ext cx="310896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09159" y="2304288"/>
            <a:ext cx="3017520" cy="246888"/>
          </a:xfrm>
          <a:prstGeom prst="rect">
            <a:avLst/>
          </a:prstGeom>
          <a:noFill/>
        </p:spPr>
        <p:txBody>
          <a:bodyPr wrap="square">
            <a:spAutoFit/>
          </a:bodyPr>
          <a:lstStyle/>
          <a:p>
            <a:pPr algn="l"/>
            <a:r>
              <a:rPr sz="1200" b="1" i="0">
                <a:solidFill>
                  <a:srgbClr val="1A1A1A"/>
                </a:solidFill>
              </a:rPr>
              <a:t>Claim</a:t>
            </a:r>
          </a:p>
        </p:txBody>
      </p:sp>
      <p:sp>
        <p:nvSpPr>
          <p:cNvPr id="25" name="Rectangle 24"/>
          <p:cNvSpPr/>
          <p:nvPr/>
        </p:nvSpPr>
        <p:spPr>
          <a:xfrm>
            <a:off x="7772400" y="2286000"/>
            <a:ext cx="4114800" cy="29260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2304288"/>
            <a:ext cx="4023360" cy="246888"/>
          </a:xfrm>
          <a:prstGeom prst="rect">
            <a:avLst/>
          </a:prstGeom>
          <a:noFill/>
        </p:spPr>
        <p:txBody>
          <a:bodyPr wrap="square">
            <a:spAutoFit/>
          </a:bodyPr>
          <a:lstStyle/>
          <a:p>
            <a:pPr algn="l"/>
            <a:r>
              <a:rPr sz="1200" b="1" i="0">
                <a:solidFill>
                  <a:srgbClr val="1A1A1A"/>
                </a:solidFill>
              </a:rPr>
              <a:t>Why a pre-recorded rollout cannot prove it</a:t>
            </a:r>
          </a:p>
        </p:txBody>
      </p:sp>
      <p:sp>
        <p:nvSpPr>
          <p:cNvPr id="27" name="Rectangle 26"/>
          <p:cNvSpPr/>
          <p:nvPr/>
        </p:nvSpPr>
        <p:spPr>
          <a:xfrm>
            <a:off x="4663440" y="2578608"/>
            <a:ext cx="31089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2596896"/>
            <a:ext cx="3017520" cy="246888"/>
          </a:xfrm>
          <a:prstGeom prst="rect">
            <a:avLst/>
          </a:prstGeom>
          <a:noFill/>
        </p:spPr>
        <p:txBody>
          <a:bodyPr wrap="square">
            <a:spAutoFit/>
          </a:bodyPr>
          <a:lstStyle/>
          <a:p>
            <a:pPr algn="l"/>
            <a:r>
              <a:rPr sz="1100" b="0" i="0">
                <a:solidFill>
                  <a:srgbClr val="1A1A1A"/>
                </a:solidFill>
              </a:rPr>
              <a:t>Physics runs at interactive speed</a:t>
            </a:r>
          </a:p>
        </p:txBody>
      </p:sp>
      <p:sp>
        <p:nvSpPr>
          <p:cNvPr id="29" name="Rectangle 28"/>
          <p:cNvSpPr/>
          <p:nvPr/>
        </p:nvSpPr>
        <p:spPr>
          <a:xfrm>
            <a:off x="7772400" y="2578608"/>
            <a:ext cx="411480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18120" y="2596896"/>
            <a:ext cx="4023360" cy="246888"/>
          </a:xfrm>
          <a:prstGeom prst="rect">
            <a:avLst/>
          </a:prstGeom>
          <a:noFill/>
        </p:spPr>
        <p:txBody>
          <a:bodyPr wrap="square">
            <a:spAutoFit/>
          </a:bodyPr>
          <a:lstStyle/>
          <a:p>
            <a:pPr algn="l"/>
            <a:r>
              <a:rPr sz="1100" b="0" i="0">
                <a:solidFill>
                  <a:srgbClr val="1A1A1A"/>
                </a:solidFill>
              </a:rPr>
              <a:t>A recording can be played at any speed</a:t>
            </a:r>
          </a:p>
        </p:txBody>
      </p:sp>
      <p:sp>
        <p:nvSpPr>
          <p:cNvPr id="31" name="Rectangle 30"/>
          <p:cNvSpPr/>
          <p:nvPr/>
        </p:nvSpPr>
        <p:spPr>
          <a:xfrm>
            <a:off x="4663440" y="2871216"/>
            <a:ext cx="31089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59" y="2889504"/>
            <a:ext cx="3017520" cy="246888"/>
          </a:xfrm>
          <a:prstGeom prst="rect">
            <a:avLst/>
          </a:prstGeom>
          <a:noFill/>
        </p:spPr>
        <p:txBody>
          <a:bodyPr wrap="square">
            <a:spAutoFit/>
          </a:bodyPr>
          <a:lstStyle/>
          <a:p>
            <a:pPr algn="l"/>
            <a:r>
              <a:rPr sz="1100" b="0" i="0">
                <a:solidFill>
                  <a:srgbClr val="1A1A1A"/>
                </a:solidFill>
              </a:rPr>
              <a:t>Vessel collision is active</a:t>
            </a:r>
          </a:p>
        </p:txBody>
      </p:sp>
      <p:sp>
        <p:nvSpPr>
          <p:cNvPr id="33" name="Rectangle 32"/>
          <p:cNvSpPr/>
          <p:nvPr/>
        </p:nvSpPr>
        <p:spPr>
          <a:xfrm>
            <a:off x="7772400" y="2871216"/>
            <a:ext cx="411480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2889504"/>
            <a:ext cx="4023360" cy="246888"/>
          </a:xfrm>
          <a:prstGeom prst="rect">
            <a:avLst/>
          </a:prstGeom>
          <a:noFill/>
        </p:spPr>
        <p:txBody>
          <a:bodyPr wrap="square">
            <a:spAutoFit/>
          </a:bodyPr>
          <a:lstStyle/>
          <a:p>
            <a:pPr algn="l"/>
            <a:r>
              <a:rPr sz="1100" b="0" i="0">
                <a:solidFill>
                  <a:srgbClr val="1A1A1A"/>
                </a:solidFill>
              </a:rPr>
              <a:t>A scripted trajectory can be collision-free by design</a:t>
            </a:r>
          </a:p>
        </p:txBody>
      </p:sp>
      <p:sp>
        <p:nvSpPr>
          <p:cNvPr id="35" name="Rectangle 34"/>
          <p:cNvSpPr/>
          <p:nvPr/>
        </p:nvSpPr>
        <p:spPr>
          <a:xfrm>
            <a:off x="4663440" y="3163824"/>
            <a:ext cx="31089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3182112"/>
            <a:ext cx="3017520" cy="246888"/>
          </a:xfrm>
          <a:prstGeom prst="rect">
            <a:avLst/>
          </a:prstGeom>
          <a:noFill/>
        </p:spPr>
        <p:txBody>
          <a:bodyPr wrap="square">
            <a:spAutoFit/>
          </a:bodyPr>
          <a:lstStyle/>
          <a:p>
            <a:pPr algn="l"/>
            <a:r>
              <a:rPr sz="1100" b="0" i="0">
                <a:solidFill>
                  <a:srgbClr val="1A1A1A"/>
                </a:solidFill>
              </a:rPr>
              <a:t>DRR re-renders at correct C-arm angle</a:t>
            </a:r>
          </a:p>
        </p:txBody>
      </p:sp>
      <p:sp>
        <p:nvSpPr>
          <p:cNvPr id="37" name="Rectangle 36"/>
          <p:cNvSpPr/>
          <p:nvPr/>
        </p:nvSpPr>
        <p:spPr>
          <a:xfrm>
            <a:off x="7772400" y="3163824"/>
            <a:ext cx="411480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3182112"/>
            <a:ext cx="4023360" cy="246888"/>
          </a:xfrm>
          <a:prstGeom prst="rect">
            <a:avLst/>
          </a:prstGeom>
          <a:noFill/>
        </p:spPr>
        <p:txBody>
          <a:bodyPr wrap="square">
            <a:spAutoFit/>
          </a:bodyPr>
          <a:lstStyle/>
          <a:p>
            <a:pPr algn="l"/>
            <a:r>
              <a:rPr sz="1100" b="0" i="0">
                <a:solidFill>
                  <a:srgbClr val="1A1A1A"/>
                </a:solidFill>
              </a:rPr>
              <a:t>Policy rollouts typically use a fixed angle</a:t>
            </a:r>
          </a:p>
        </p:txBody>
      </p:sp>
      <p:sp>
        <p:nvSpPr>
          <p:cNvPr id="39" name="Rectangle 38"/>
          <p:cNvSpPr/>
          <p:nvPr/>
        </p:nvSpPr>
        <p:spPr>
          <a:xfrm>
            <a:off x="4663440" y="3456432"/>
            <a:ext cx="310896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09159" y="3474720"/>
            <a:ext cx="3017520" cy="246888"/>
          </a:xfrm>
          <a:prstGeom prst="rect">
            <a:avLst/>
          </a:prstGeom>
          <a:noFill/>
        </p:spPr>
        <p:txBody>
          <a:bodyPr wrap="square">
            <a:spAutoFit/>
          </a:bodyPr>
          <a:lstStyle/>
          <a:p>
            <a:pPr algn="l"/>
            <a:r>
              <a:rPr sz="1100" b="0" i="0">
                <a:solidFill>
                  <a:srgbClr val="1A1A1A"/>
                </a:solidFill>
              </a:rPr>
              <a:t>DSA + fluoro are spatially registered</a:t>
            </a:r>
          </a:p>
        </p:txBody>
      </p:sp>
      <p:sp>
        <p:nvSpPr>
          <p:cNvPr id="41" name="Rectangle 40"/>
          <p:cNvSpPr/>
          <p:nvPr/>
        </p:nvSpPr>
        <p:spPr>
          <a:xfrm>
            <a:off x="7772400" y="3456432"/>
            <a:ext cx="4114800" cy="292608"/>
          </a:xfrm>
          <a:prstGeom prst="rect">
            <a:avLst/>
          </a:prstGeom>
          <a:solidFill>
            <a:srgbClr val="FFFFFF"/>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18120" y="3474720"/>
            <a:ext cx="4023360" cy="246888"/>
          </a:xfrm>
          <a:prstGeom prst="rect">
            <a:avLst/>
          </a:prstGeom>
          <a:noFill/>
        </p:spPr>
        <p:txBody>
          <a:bodyPr wrap="square">
            <a:spAutoFit/>
          </a:bodyPr>
          <a:lstStyle/>
          <a:p>
            <a:pPr algn="l"/>
            <a:r>
              <a:rPr sz="1100" b="0" i="0">
                <a:solidFill>
                  <a:srgbClr val="1A1A1A"/>
                </a:solidFill>
              </a:rPr>
              <a:t>Hard to verify in a pre-rendered sequence</a:t>
            </a:r>
          </a:p>
        </p:txBody>
      </p:sp>
      <p:sp>
        <p:nvSpPr>
          <p:cNvPr id="43" name="Rectangle 42"/>
          <p:cNvSpPr/>
          <p:nvPr/>
        </p:nvSpPr>
        <p:spPr>
          <a:xfrm>
            <a:off x="4663440" y="3749039"/>
            <a:ext cx="310896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59" y="3767327"/>
            <a:ext cx="3017520" cy="246888"/>
          </a:xfrm>
          <a:prstGeom prst="rect">
            <a:avLst/>
          </a:prstGeom>
          <a:noFill/>
        </p:spPr>
        <p:txBody>
          <a:bodyPr wrap="square">
            <a:spAutoFit/>
          </a:bodyPr>
          <a:lstStyle/>
          <a:p>
            <a:pPr algn="l"/>
            <a:r>
              <a:rPr sz="1100" b="0" i="0">
                <a:solidFill>
                  <a:srgbClr val="1A1A1A"/>
                </a:solidFill>
              </a:rPr>
              <a:t>Full pipeline runs in ~12 ms</a:t>
            </a:r>
          </a:p>
        </p:txBody>
      </p:sp>
      <p:sp>
        <p:nvSpPr>
          <p:cNvPr id="45" name="Rectangle 44"/>
          <p:cNvSpPr/>
          <p:nvPr/>
        </p:nvSpPr>
        <p:spPr>
          <a:xfrm>
            <a:off x="7772400" y="3749039"/>
            <a:ext cx="4114800" cy="292608"/>
          </a:xfrm>
          <a:prstGeom prst="rect">
            <a:avLst/>
          </a:prstGeom>
          <a:solidFill>
            <a:srgbClr val="F2F2F2"/>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18120" y="3767327"/>
            <a:ext cx="4023360" cy="246888"/>
          </a:xfrm>
          <a:prstGeom prst="rect">
            <a:avLst/>
          </a:prstGeom>
          <a:noFill/>
        </p:spPr>
        <p:txBody>
          <a:bodyPr wrap="square">
            <a:spAutoFit/>
          </a:bodyPr>
          <a:lstStyle/>
          <a:p>
            <a:pPr algn="l"/>
            <a:r>
              <a:rPr sz="1100" b="0" i="0">
                <a:solidFill>
                  <a:srgbClr val="1A1A1A"/>
                </a:solidFill>
              </a:rPr>
              <a:t>A video says nothing about throughput</a:t>
            </a:r>
          </a:p>
        </p:txBody>
      </p:sp>
      <p:sp>
        <p:nvSpPr>
          <p:cNvPr id="47" name="TextBox 46"/>
          <p:cNvSpPr txBox="1"/>
          <p:nvPr/>
        </p:nvSpPr>
        <p:spPr>
          <a:xfrm>
            <a:off x="274320" y="6492240"/>
            <a:ext cx="11612880" cy="292608"/>
          </a:xfrm>
          <a:prstGeom prst="rect">
            <a:avLst/>
          </a:prstGeom>
          <a:noFill/>
        </p:spPr>
        <p:txBody>
          <a:bodyPr wrap="square">
            <a:spAutoFit/>
          </a:bodyPr>
          <a:lstStyle/>
          <a:p>
            <a:pPr algn="l"/>
            <a:r>
              <a:rPr sz="1100" b="1" i="0">
                <a:solidFill>
                  <a:srgbClr val="76B900"/>
                </a:solidFill>
              </a:rPr>
              <a:t>Launch:  conda activate isaaclab  →  python3 interactive_catheter_fluoro.py --ct-dir /tmp/patient_001 --share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XCath Collaboration — Technical Outcomes</a:t>
            </a:r>
          </a:p>
        </p:txBody>
      </p:sp>
      <p:sp>
        <p:nvSpPr>
          <p:cNvPr id="6" name="TextBox 5"/>
          <p:cNvSpPr txBox="1"/>
          <p:nvPr/>
        </p:nvSpPr>
        <p:spPr>
          <a:xfrm>
            <a:off x="274320" y="1463040"/>
            <a:ext cx="11612880" cy="320040"/>
          </a:xfrm>
          <a:prstGeom prst="rect">
            <a:avLst/>
          </a:prstGeom>
          <a:noFill/>
        </p:spPr>
        <p:txBody>
          <a:bodyPr wrap="square">
            <a:spAutoFit/>
          </a:bodyPr>
          <a:lstStyle/>
          <a:p>
            <a:pPr algn="l"/>
            <a:r>
              <a:rPr sz="1200" b="0" i="1">
                <a:solidFill>
                  <a:srgbClr val="555555"/>
                </a:solidFill>
              </a:rPr>
              <a:t>5 algorithmic improvements validated against real clinical DSA data.  XCath embedded in the sprint — weekly technical sync with Jung-eun Park (AI/ML, XCATH Robotics).</a:t>
            </a:r>
          </a:p>
        </p:txBody>
      </p:sp>
      <p:sp>
        <p:nvSpPr>
          <p:cNvPr id="7" name="Rectangle 6"/>
          <p:cNvSpPr/>
          <p:nvPr/>
        </p:nvSpPr>
        <p:spPr>
          <a:xfrm>
            <a:off x="228600" y="1847088"/>
            <a:ext cx="201168" cy="20116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819656"/>
            <a:ext cx="2834640" cy="256032"/>
          </a:xfrm>
          <a:prstGeom prst="rect">
            <a:avLst/>
          </a:prstGeom>
          <a:noFill/>
        </p:spPr>
        <p:txBody>
          <a:bodyPr wrap="square">
            <a:spAutoFit/>
          </a:bodyPr>
          <a:lstStyle/>
          <a:p>
            <a:pPr algn="l"/>
            <a:r>
              <a:rPr sz="1100" b="0" i="0">
                <a:solidFill>
                  <a:srgbClr val="1A1A1A"/>
                </a:solidFill>
              </a:rPr>
              <a:t>Implemented in fluorosim</a:t>
            </a:r>
          </a:p>
        </p:txBody>
      </p:sp>
      <p:sp>
        <p:nvSpPr>
          <p:cNvPr id="9" name="Rectangle 8"/>
          <p:cNvSpPr/>
          <p:nvPr/>
        </p:nvSpPr>
        <p:spPr>
          <a:xfrm>
            <a:off x="3200400" y="1847088"/>
            <a:ext cx="201168" cy="201168"/>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1819656"/>
            <a:ext cx="2834640" cy="256032"/>
          </a:xfrm>
          <a:prstGeom prst="rect">
            <a:avLst/>
          </a:prstGeom>
          <a:noFill/>
        </p:spPr>
        <p:txBody>
          <a:bodyPr wrap="square">
            <a:spAutoFit/>
          </a:bodyPr>
          <a:lstStyle/>
          <a:p>
            <a:pPr algn="l"/>
            <a:r>
              <a:rPr sz="1100" b="0" i="0">
                <a:solidFill>
                  <a:srgbClr val="1A1A1A"/>
                </a:solidFill>
              </a:rPr>
              <a:t>Validated by XCath — not yet merged</a:t>
            </a:r>
          </a:p>
        </p:txBody>
      </p:sp>
      <p:sp>
        <p:nvSpPr>
          <p:cNvPr id="11" name="Rectangle 10"/>
          <p:cNvSpPr/>
          <p:nvPr/>
        </p:nvSpPr>
        <p:spPr>
          <a:xfrm>
            <a:off x="7223760" y="1847088"/>
            <a:ext cx="201168" cy="201168"/>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0648" y="1819656"/>
            <a:ext cx="2834640" cy="256032"/>
          </a:xfrm>
          <a:prstGeom prst="rect">
            <a:avLst/>
          </a:prstGeom>
          <a:noFill/>
        </p:spPr>
        <p:txBody>
          <a:bodyPr wrap="square">
            <a:spAutoFit/>
          </a:bodyPr>
          <a:lstStyle/>
          <a:p>
            <a:pPr algn="l"/>
            <a:r>
              <a:rPr sz="1100" b="0" i="0">
                <a:solidFill>
                  <a:srgbClr val="1A1A1A"/>
                </a:solidFill>
              </a:rPr>
              <a:t>Analysis result — no code change</a:t>
            </a:r>
          </a:p>
        </p:txBody>
      </p:sp>
      <p:sp>
        <p:nvSpPr>
          <p:cNvPr id="13" name="Rectangle 12"/>
          <p:cNvSpPr/>
          <p:nvPr/>
        </p:nvSpPr>
        <p:spPr>
          <a:xfrm>
            <a:off x="228600" y="2103120"/>
            <a:ext cx="2240280" cy="4114800"/>
          </a:xfrm>
          <a:prstGeom prst="rect">
            <a:avLst/>
          </a:prstGeom>
          <a:solidFill>
            <a:srgbClr val="F2F2F2"/>
          </a:solidFill>
          <a:ln w="9525">
            <a:solidFill>
              <a:srgbClr val="AA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8600" y="2103120"/>
            <a:ext cx="2240280" cy="475488"/>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 y="2121408"/>
            <a:ext cx="2103120" cy="420624"/>
          </a:xfrm>
          <a:prstGeom prst="rect">
            <a:avLst/>
          </a:prstGeom>
          <a:noFill/>
        </p:spPr>
        <p:txBody>
          <a:bodyPr wrap="square">
            <a:spAutoFit/>
          </a:bodyPr>
          <a:lstStyle/>
          <a:p>
            <a:pPr algn="l"/>
            <a:r>
              <a:rPr sz="1100" b="1" i="0">
                <a:solidFill>
                  <a:srgbClr val="FFFFFF"/>
                </a:solidFill>
              </a:rPr>
              <a:t>1. Hagen-Poiseuille
Blood Flow Model</a:t>
            </a:r>
          </a:p>
        </p:txBody>
      </p:sp>
      <p:sp>
        <p:nvSpPr>
          <p:cNvPr id="16" name="Rectangle 15"/>
          <p:cNvSpPr/>
          <p:nvPr/>
        </p:nvSpPr>
        <p:spPr>
          <a:xfrm>
            <a:off x="301752" y="2615184"/>
            <a:ext cx="2103120" cy="219456"/>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624328"/>
            <a:ext cx="2066543" cy="201168"/>
          </a:xfrm>
          <a:prstGeom prst="rect">
            <a:avLst/>
          </a:prstGeom>
          <a:noFill/>
        </p:spPr>
        <p:txBody>
          <a:bodyPr wrap="square">
            <a:spAutoFit/>
          </a:bodyPr>
          <a:lstStyle/>
          <a:p>
            <a:pPr algn="ctr"/>
            <a:r>
              <a:rPr sz="900" b="1" i="0">
                <a:solidFill>
                  <a:srgbClr val="FFFFFF"/>
                </a:solidFill>
              </a:rPr>
              <a:t>Validated — not merged</a:t>
            </a:r>
          </a:p>
        </p:txBody>
      </p:sp>
      <p:sp>
        <p:nvSpPr>
          <p:cNvPr id="18" name="TextBox 17"/>
          <p:cNvSpPr txBox="1"/>
          <p:nvPr/>
        </p:nvSpPr>
        <p:spPr>
          <a:xfrm>
            <a:off x="301752" y="2871216"/>
            <a:ext cx="2121408" cy="3291840"/>
          </a:xfrm>
          <a:prstGeom prst="rect">
            <a:avLst/>
          </a:prstGeom>
          <a:noFill/>
        </p:spPr>
        <p:txBody>
          <a:bodyPr wrap="square">
            <a:spAutoFit/>
          </a:bodyPr>
          <a:lstStyle/>
          <a:p>
            <a:pPr algn="l"/>
            <a:r>
              <a:rPr sz="950" b="0" i="0">
                <a:solidFill>
                  <a:srgbClr val="1A1A1A"/>
                </a:solidFill>
              </a:rPr>
              <a:t>Murray's Law (power=0.5) → Hagen-Poiseuille (power=2.0)
Bolus delay: 5.6s → 1.90s sim vs 2.13s real  (89% match, was 2.6× off)
Distal MCA velocity: 71% ICA → 25% ICA  (viscous resistance)
Not in fluorosim codebase — algorithm designed &amp; validated
by XCath on their data. Merge target: Sprint 2.</a:t>
            </a:r>
          </a:p>
        </p:txBody>
      </p:sp>
      <p:sp>
        <p:nvSpPr>
          <p:cNvPr id="19" name="Rectangle 18"/>
          <p:cNvSpPr/>
          <p:nvPr/>
        </p:nvSpPr>
        <p:spPr>
          <a:xfrm>
            <a:off x="2578608" y="2103120"/>
            <a:ext cx="2240280" cy="4114800"/>
          </a:xfrm>
          <a:prstGeom prst="rect">
            <a:avLst/>
          </a:prstGeom>
          <a:solidFill>
            <a:srgbClr val="F2F2F2"/>
          </a:solidFill>
          <a:ln w="9525">
            <a:solidFill>
              <a:srgbClr val="AA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78608" y="2103120"/>
            <a:ext cx="2240280" cy="475488"/>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2121408"/>
            <a:ext cx="2103120" cy="420624"/>
          </a:xfrm>
          <a:prstGeom prst="rect">
            <a:avLst/>
          </a:prstGeom>
          <a:noFill/>
        </p:spPr>
        <p:txBody>
          <a:bodyPr wrap="square">
            <a:spAutoFit/>
          </a:bodyPr>
          <a:lstStyle/>
          <a:p>
            <a:pPr algn="l"/>
            <a:r>
              <a:rPr sz="1100" b="1" i="0">
                <a:solidFill>
                  <a:srgbClr val="FFFFFF"/>
                </a:solidFill>
              </a:rPr>
              <a:t>2. Selective Injection
(Feeding Trunk Excision F-8)</a:t>
            </a:r>
          </a:p>
        </p:txBody>
      </p:sp>
      <p:sp>
        <p:nvSpPr>
          <p:cNvPr id="22" name="Rectangle 21"/>
          <p:cNvSpPr/>
          <p:nvPr/>
        </p:nvSpPr>
        <p:spPr>
          <a:xfrm>
            <a:off x="2651760" y="2615184"/>
            <a:ext cx="2103120" cy="219456"/>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70048" y="2624328"/>
            <a:ext cx="2066543" cy="201168"/>
          </a:xfrm>
          <a:prstGeom prst="rect">
            <a:avLst/>
          </a:prstGeom>
          <a:noFill/>
        </p:spPr>
        <p:txBody>
          <a:bodyPr wrap="square">
            <a:spAutoFit/>
          </a:bodyPr>
          <a:lstStyle/>
          <a:p>
            <a:pPr algn="ctr"/>
            <a:r>
              <a:rPr sz="900" b="1" i="0">
                <a:solidFill>
                  <a:srgbClr val="FFFFFF"/>
                </a:solidFill>
              </a:rPr>
              <a:t>Validated — not merged</a:t>
            </a:r>
          </a:p>
        </p:txBody>
      </p:sp>
      <p:sp>
        <p:nvSpPr>
          <p:cNvPr id="24" name="TextBox 23"/>
          <p:cNvSpPr txBox="1"/>
          <p:nvPr/>
        </p:nvSpPr>
        <p:spPr>
          <a:xfrm>
            <a:off x="2651760" y="2871216"/>
            <a:ext cx="2121408" cy="3291840"/>
          </a:xfrm>
          <a:prstGeom prst="rect">
            <a:avLst/>
          </a:prstGeom>
          <a:noFill/>
        </p:spPr>
        <p:txBody>
          <a:bodyPr wrap="square">
            <a:spAutoFit/>
          </a:bodyPr>
          <a:lstStyle/>
          <a:p>
            <a:pPr algn="l"/>
            <a:r>
              <a:rPr sz="950" b="0" i="0">
                <a:solidFill>
                  <a:srgbClr val="1A1A1A"/>
                </a:solidFill>
              </a:rPr>
              <a:t>Voronoi partition on centerline graph + excise non-selected trunks.
Single-root coverage: 43.1% nodes — matches real ICA territory.
Peak delay: 2.20s sim vs 2.13s real  (3% error)
Not in fluorosim codebase — designed &amp; validated by XCath.
Merge target: Sprint 2.</a:t>
            </a:r>
          </a:p>
        </p:txBody>
      </p:sp>
      <p:sp>
        <p:nvSpPr>
          <p:cNvPr id="25" name="Rectangle 24"/>
          <p:cNvSpPr/>
          <p:nvPr/>
        </p:nvSpPr>
        <p:spPr>
          <a:xfrm>
            <a:off x="4928616" y="2103120"/>
            <a:ext cx="2240280" cy="4114800"/>
          </a:xfrm>
          <a:prstGeom prst="rect">
            <a:avLst/>
          </a:prstGeom>
          <a:solidFill>
            <a:srgbClr val="F2F2F2"/>
          </a:solidFill>
          <a:ln w="9525">
            <a:solidFill>
              <a:srgbClr val="AA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28616" y="2103120"/>
            <a:ext cx="2240280" cy="475488"/>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01768" y="2121408"/>
            <a:ext cx="2103120" cy="420624"/>
          </a:xfrm>
          <a:prstGeom prst="rect">
            <a:avLst/>
          </a:prstGeom>
          <a:noFill/>
        </p:spPr>
        <p:txBody>
          <a:bodyPr wrap="square">
            <a:spAutoFit/>
          </a:bodyPr>
          <a:lstStyle/>
          <a:p>
            <a:pPr algn="l"/>
            <a:r>
              <a:rPr sz="1100" b="1" i="0">
                <a:solidFill>
                  <a:srgbClr val="FFFFFF"/>
                </a:solidFill>
              </a:rPr>
              <a:t>3. Dispersion
Correction</a:t>
            </a:r>
          </a:p>
        </p:txBody>
      </p:sp>
      <p:sp>
        <p:nvSpPr>
          <p:cNvPr id="28" name="Rectangle 27"/>
          <p:cNvSpPr/>
          <p:nvPr/>
        </p:nvSpPr>
        <p:spPr>
          <a:xfrm>
            <a:off x="5001768" y="2615184"/>
            <a:ext cx="2103120" cy="219456"/>
          </a:xfrm>
          <a:prstGeom prst="rect">
            <a:avLst/>
          </a:prstGeom>
          <a:solidFill>
            <a:srgbClr val="AA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0055" y="2624328"/>
            <a:ext cx="2066543" cy="201168"/>
          </a:xfrm>
          <a:prstGeom prst="rect">
            <a:avLst/>
          </a:prstGeom>
          <a:noFill/>
        </p:spPr>
        <p:txBody>
          <a:bodyPr wrap="square">
            <a:spAutoFit/>
          </a:bodyPr>
          <a:lstStyle/>
          <a:p>
            <a:pPr algn="ctr"/>
            <a:r>
              <a:rPr sz="900" b="1" i="0">
                <a:solidFill>
                  <a:srgbClr val="FFFFFF"/>
                </a:solidFill>
              </a:rPr>
              <a:t>Validated — not merged</a:t>
            </a:r>
          </a:p>
        </p:txBody>
      </p:sp>
      <p:sp>
        <p:nvSpPr>
          <p:cNvPr id="30" name="TextBox 29"/>
          <p:cNvSpPr txBox="1"/>
          <p:nvPr/>
        </p:nvSpPr>
        <p:spPr>
          <a:xfrm>
            <a:off x="5001768" y="2871216"/>
            <a:ext cx="2121408" cy="3291840"/>
          </a:xfrm>
          <a:prstGeom prst="rect">
            <a:avLst/>
          </a:prstGeom>
          <a:noFill/>
        </p:spPr>
        <p:txBody>
          <a:bodyPr wrap="square">
            <a:spAutoFit/>
          </a:bodyPr>
          <a:lstStyle/>
          <a:p>
            <a:pPr algn="l"/>
            <a:r>
              <a:rPr sz="950" b="0" i="0">
                <a:solidFill>
                  <a:srgbClr val="1A1A1A"/>
                </a:solidFill>
              </a:rPr>
              <a:t>β_eff = β₀ + k·arrival_time  (k=0.15) — FWHM widening.
β_eff += α_res / max(r_voxel, 0.1) — thin vessels wider TDC.
Distinguishability 0.607 (&gt;0.3), asymmetry 2.55× (≥1.5×)
Not in fluorosim codebase — designed &amp; validated by XCath.
Merge target: Sprint 2.</a:t>
            </a:r>
          </a:p>
        </p:txBody>
      </p:sp>
      <p:sp>
        <p:nvSpPr>
          <p:cNvPr id="31" name="Rectangle 30"/>
          <p:cNvSpPr/>
          <p:nvPr/>
        </p:nvSpPr>
        <p:spPr>
          <a:xfrm>
            <a:off x="7278623" y="2103120"/>
            <a:ext cx="2240280" cy="4114800"/>
          </a:xfrm>
          <a:prstGeom prst="rect">
            <a:avLst/>
          </a:prstGeom>
          <a:solidFill>
            <a:srgbClr val="F2F2F2"/>
          </a:solidFill>
          <a:ln w="9525">
            <a:solidFill>
              <a:srgbClr val="777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78623" y="2103120"/>
            <a:ext cx="2240280" cy="475488"/>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51775" y="2121408"/>
            <a:ext cx="2103120" cy="420624"/>
          </a:xfrm>
          <a:prstGeom prst="rect">
            <a:avLst/>
          </a:prstGeom>
          <a:noFill/>
        </p:spPr>
        <p:txBody>
          <a:bodyPr wrap="square">
            <a:spAutoFit/>
          </a:bodyPr>
          <a:lstStyle/>
          <a:p>
            <a:pPr algn="l"/>
            <a:r>
              <a:rPr sz="1100" b="1" i="0">
                <a:solidFill>
                  <a:srgbClr val="FFFFFF"/>
                </a:solidFill>
              </a:rPr>
              <a:t>4. DeepDRR vs FluoroSim
Validation</a:t>
            </a:r>
          </a:p>
        </p:txBody>
      </p:sp>
      <p:sp>
        <p:nvSpPr>
          <p:cNvPr id="34" name="Rectangle 33"/>
          <p:cNvSpPr/>
          <p:nvPr/>
        </p:nvSpPr>
        <p:spPr>
          <a:xfrm>
            <a:off x="7351775" y="2615184"/>
            <a:ext cx="2103120" cy="219456"/>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70063" y="2624328"/>
            <a:ext cx="2066543" cy="201168"/>
          </a:xfrm>
          <a:prstGeom prst="rect">
            <a:avLst/>
          </a:prstGeom>
          <a:noFill/>
        </p:spPr>
        <p:txBody>
          <a:bodyPr wrap="square">
            <a:spAutoFit/>
          </a:bodyPr>
          <a:lstStyle/>
          <a:p>
            <a:pPr algn="ctr"/>
            <a:r>
              <a:rPr sz="900" b="1" i="0">
                <a:solidFill>
                  <a:srgbClr val="FFFFFF"/>
                </a:solidFill>
              </a:rPr>
              <a:t>Analysis only — no code</a:t>
            </a:r>
          </a:p>
        </p:txBody>
      </p:sp>
      <p:sp>
        <p:nvSpPr>
          <p:cNvPr id="36" name="TextBox 35"/>
          <p:cNvSpPr txBox="1"/>
          <p:nvPr/>
        </p:nvSpPr>
        <p:spPr>
          <a:xfrm>
            <a:off x="7351775" y="2871216"/>
            <a:ext cx="2121408" cy="3291840"/>
          </a:xfrm>
          <a:prstGeom prst="rect">
            <a:avLst/>
          </a:prstGeom>
          <a:noFill/>
        </p:spPr>
        <p:txBody>
          <a:bodyPr wrap="square">
            <a:spAutoFit/>
          </a:bodyPr>
          <a:lstStyle/>
          <a:p>
            <a:pPr algn="l"/>
            <a:r>
              <a:rPr sz="950" b="0" i="0">
                <a:solidFill>
                  <a:srgbClr val="1A1A1A"/>
                </a:solidFill>
              </a:rPr>
              <a:t>SSIM=0.964, MAE=9.3%, PSNR=19.01 dB, Pearson=0.981
Beam hardening cancels in DSA subtraction — monoenergetic
rendering sufficient for DSA training data generation.
External benchmarking by XCath — no code change needed.
Finding informs Sprint 2 polyenergetic renderer priority.</a:t>
            </a:r>
          </a:p>
        </p:txBody>
      </p:sp>
      <p:sp>
        <p:nvSpPr>
          <p:cNvPr id="37" name="Rectangle 36"/>
          <p:cNvSpPr/>
          <p:nvPr/>
        </p:nvSpPr>
        <p:spPr>
          <a:xfrm>
            <a:off x="9628632" y="2103120"/>
            <a:ext cx="2240280" cy="4114800"/>
          </a:xfrm>
          <a:prstGeom prst="rect">
            <a:avLst/>
          </a:prstGeom>
          <a:solidFill>
            <a:srgbClr val="F2F2F2"/>
          </a:solidFill>
          <a:ln w="9525">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28632" y="2103120"/>
            <a:ext cx="2240280" cy="47548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01784" y="2121408"/>
            <a:ext cx="2103120" cy="420624"/>
          </a:xfrm>
          <a:prstGeom prst="rect">
            <a:avLst/>
          </a:prstGeom>
          <a:noFill/>
        </p:spPr>
        <p:txBody>
          <a:bodyPr wrap="square">
            <a:spAutoFit/>
          </a:bodyPr>
          <a:lstStyle/>
          <a:p>
            <a:pPr algn="l"/>
            <a:r>
              <a:rPr sz="1100" b="1" i="0">
                <a:solidFill>
                  <a:srgbClr val="FFFFFF"/>
                </a:solidFill>
              </a:rPr>
              <a:t>5. Misregistration
Jitter</a:t>
            </a:r>
          </a:p>
        </p:txBody>
      </p:sp>
      <p:sp>
        <p:nvSpPr>
          <p:cNvPr id="40" name="Rectangle 39"/>
          <p:cNvSpPr/>
          <p:nvPr/>
        </p:nvSpPr>
        <p:spPr>
          <a:xfrm>
            <a:off x="9701784" y="2615184"/>
            <a:ext cx="2103120" cy="219456"/>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20072" y="2624328"/>
            <a:ext cx="2066543" cy="201168"/>
          </a:xfrm>
          <a:prstGeom prst="rect">
            <a:avLst/>
          </a:prstGeom>
          <a:noFill/>
        </p:spPr>
        <p:txBody>
          <a:bodyPr wrap="square">
            <a:spAutoFit/>
          </a:bodyPr>
          <a:lstStyle/>
          <a:p>
            <a:pPr algn="ctr"/>
            <a:r>
              <a:rPr sz="900" b="1" i="0">
                <a:solidFill>
                  <a:srgbClr val="FFFFFF"/>
                </a:solidFill>
              </a:rPr>
              <a:t>Implemented ✓</a:t>
            </a:r>
          </a:p>
        </p:txBody>
      </p:sp>
      <p:sp>
        <p:nvSpPr>
          <p:cNvPr id="42" name="TextBox 41"/>
          <p:cNvSpPr txBox="1"/>
          <p:nvPr/>
        </p:nvSpPr>
        <p:spPr>
          <a:xfrm>
            <a:off x="9701784" y="2871216"/>
            <a:ext cx="2121408" cy="3291840"/>
          </a:xfrm>
          <a:prstGeom prst="rect">
            <a:avLst/>
          </a:prstGeom>
          <a:noFill/>
        </p:spPr>
        <p:txBody>
          <a:bodyPr wrap="square">
            <a:spAutoFit/>
          </a:bodyPr>
          <a:lstStyle/>
          <a:p>
            <a:pPr algn="l"/>
            <a:r>
              <a:rPr sz="950" b="0" i="0">
                <a:solidFill>
                  <a:srgbClr val="1A1A1A"/>
                </a:solidFill>
              </a:rPr>
              <a:t>Controlled mask↔contrast shift: σ_rot=0.05°, σ_trans=0.1 mm.
Introduces bone-edge residuals matching real DSA statistics.
Implemented in fluorosim:
  apply_misregistration()  — realism.py
  misregistration_px param — DSASettings / dsa.py</a:t>
            </a:r>
          </a:p>
        </p:txBody>
      </p:sp>
      <p:sp>
        <p:nvSpPr>
          <p:cNvPr id="43" name="TextBox 42"/>
          <p:cNvSpPr txBox="1"/>
          <p:nvPr/>
        </p:nvSpPr>
        <p:spPr>
          <a:xfrm>
            <a:off x="274320" y="6327648"/>
            <a:ext cx="11612880" cy="411480"/>
          </a:xfrm>
          <a:prstGeom prst="rect">
            <a:avLst/>
          </a:prstGeom>
          <a:noFill/>
        </p:spPr>
        <p:txBody>
          <a:bodyPr wrap="square">
            <a:spAutoFit/>
          </a:bodyPr>
          <a:lstStyle/>
          <a:p>
            <a:pPr algn="l"/>
            <a:r>
              <a:rPr sz="1100" b="1" i="0">
                <a:solidFill>
                  <a:srgbClr val="76B900"/>
                </a:solidFill>
              </a:rPr>
              <a:t>Strategic takeaway:  XCath provided clinical validation that turned the simulator into a calibrated training data generator.  Items 1–3 are algorithmically proven — merging them into fluorosim is a 2–3 day Sprint 2 task.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Sprint 1 — Completed Deliverables</a:t>
            </a:r>
          </a:p>
        </p:txBody>
      </p:sp>
      <p:sp>
        <p:nvSpPr>
          <p:cNvPr id="6" name="TextBox 5"/>
          <p:cNvSpPr txBox="1"/>
          <p:nvPr/>
        </p:nvSpPr>
        <p:spPr>
          <a:xfrm>
            <a:off x="228600" y="1874519"/>
            <a:ext cx="5669280" cy="320040"/>
          </a:xfrm>
          <a:prstGeom prst="rect">
            <a:avLst/>
          </a:prstGeom>
          <a:noFill/>
        </p:spPr>
        <p:txBody>
          <a:bodyPr wrap="square">
            <a:spAutoFit/>
          </a:bodyPr>
          <a:lstStyle/>
          <a:p>
            <a:pPr algn="l"/>
            <a:r>
              <a:rPr sz="1400" b="1" i="0">
                <a:solidFill>
                  <a:srgbClr val="76B900"/>
                </a:solidFill>
              </a:rPr>
              <a:t>Rendering</a:t>
            </a:r>
          </a:p>
        </p:txBody>
      </p:sp>
      <p:sp>
        <p:nvSpPr>
          <p:cNvPr id="7" name="Rectangle 6"/>
          <p:cNvSpPr/>
          <p:nvPr/>
        </p:nvSpPr>
        <p:spPr>
          <a:xfrm>
            <a:off x="256032" y="2285999"/>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21991"/>
            <a:ext cx="5440680" cy="274320"/>
          </a:xfrm>
          <a:prstGeom prst="rect">
            <a:avLst/>
          </a:prstGeom>
          <a:noFill/>
        </p:spPr>
        <p:txBody>
          <a:bodyPr wrap="square">
            <a:spAutoFit/>
          </a:bodyPr>
          <a:lstStyle/>
          <a:p>
            <a:pPr algn="l"/>
            <a:r>
              <a:rPr sz="1100" b="0" i="0">
                <a:solidFill>
                  <a:srgbClr val="1A1A1A"/>
                </a:solidFill>
              </a:rPr>
              <a:t>Slang GPU Beer-Lambert DRR  (512×512, ~25 FPS)</a:t>
            </a:r>
          </a:p>
        </p:txBody>
      </p:sp>
      <p:sp>
        <p:nvSpPr>
          <p:cNvPr id="9" name="Rectangle 8"/>
          <p:cNvSpPr/>
          <p:nvPr/>
        </p:nvSpPr>
        <p:spPr>
          <a:xfrm>
            <a:off x="256032" y="2542032"/>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478024"/>
            <a:ext cx="5440680" cy="274320"/>
          </a:xfrm>
          <a:prstGeom prst="rect">
            <a:avLst/>
          </a:prstGeom>
          <a:noFill/>
        </p:spPr>
        <p:txBody>
          <a:bodyPr wrap="square">
            <a:spAutoFit/>
          </a:bodyPr>
          <a:lstStyle/>
          <a:p>
            <a:pPr algn="l"/>
            <a:r>
              <a:rPr sz="1100" b="0" i="0">
                <a:solidFill>
                  <a:srgbClr val="1A1A1A"/>
                </a:solidFill>
              </a:rPr>
              <a:t>Inline catheter compositing  (depth-correct, fused)</a:t>
            </a:r>
          </a:p>
        </p:txBody>
      </p:sp>
      <p:sp>
        <p:nvSpPr>
          <p:cNvPr id="11" name="Rectangle 10"/>
          <p:cNvSpPr/>
          <p:nvPr/>
        </p:nvSpPr>
        <p:spPr>
          <a:xfrm>
            <a:off x="256032" y="2798064"/>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734056"/>
            <a:ext cx="5440680" cy="274320"/>
          </a:xfrm>
          <a:prstGeom prst="rect">
            <a:avLst/>
          </a:prstGeom>
          <a:noFill/>
        </p:spPr>
        <p:txBody>
          <a:bodyPr wrap="square">
            <a:spAutoFit/>
          </a:bodyPr>
          <a:lstStyle/>
          <a:p>
            <a:pPr algn="l"/>
            <a:r>
              <a:rPr sz="1100" b="0" i="0">
                <a:solidFill>
                  <a:srgbClr val="1A1A1A"/>
                </a:solidFill>
              </a:rPr>
              <a:t>Per-segment μ + radius  (marker / shaft / tip profile)</a:t>
            </a:r>
          </a:p>
        </p:txBody>
      </p:sp>
      <p:sp>
        <p:nvSpPr>
          <p:cNvPr id="13" name="Rectangle 12"/>
          <p:cNvSpPr/>
          <p:nvPr/>
        </p:nvSpPr>
        <p:spPr>
          <a:xfrm>
            <a:off x="256032" y="3054096"/>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990088"/>
            <a:ext cx="5440680" cy="274320"/>
          </a:xfrm>
          <a:prstGeom prst="rect">
            <a:avLst/>
          </a:prstGeom>
          <a:noFill/>
        </p:spPr>
        <p:txBody>
          <a:bodyPr wrap="square">
            <a:spAutoFit/>
          </a:bodyPr>
          <a:lstStyle/>
          <a:p>
            <a:pPr algn="l"/>
            <a:r>
              <a:rPr sz="1100" b="0" i="0">
                <a:solidFill>
                  <a:srgbClr val="1A1A1A"/>
                </a:solidFill>
              </a:rPr>
              <a:t>Cone-beam magnification  (SID/SDD depth scaling)</a:t>
            </a:r>
          </a:p>
        </p:txBody>
      </p:sp>
      <p:sp>
        <p:nvSpPr>
          <p:cNvPr id="15" name="Rectangle 14"/>
          <p:cNvSpPr/>
          <p:nvPr/>
        </p:nvSpPr>
        <p:spPr>
          <a:xfrm>
            <a:off x="256032" y="3310128"/>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5440680" cy="274320"/>
          </a:xfrm>
          <a:prstGeom prst="rect">
            <a:avLst/>
          </a:prstGeom>
          <a:noFill/>
        </p:spPr>
        <p:txBody>
          <a:bodyPr wrap="square">
            <a:spAutoFit/>
          </a:bodyPr>
          <a:lstStyle/>
          <a:p>
            <a:pPr algn="l"/>
            <a:r>
              <a:rPr sz="1100" b="0" i="0">
                <a:solidFill>
                  <a:srgbClr val="1A1A1A"/>
                </a:solidFill>
              </a:rPr>
              <a:t>Batched multi-env DRR  (N envs, single Slang dispatch)</a:t>
            </a:r>
          </a:p>
        </p:txBody>
      </p:sp>
      <p:sp>
        <p:nvSpPr>
          <p:cNvPr id="17" name="Rectangle 16"/>
          <p:cNvSpPr/>
          <p:nvPr/>
        </p:nvSpPr>
        <p:spPr>
          <a:xfrm>
            <a:off x="256032" y="3566160"/>
            <a:ext cx="137160"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502152"/>
            <a:ext cx="5440680" cy="274320"/>
          </a:xfrm>
          <a:prstGeom prst="rect">
            <a:avLst/>
          </a:prstGeom>
          <a:noFill/>
        </p:spPr>
        <p:txBody>
          <a:bodyPr wrap="square">
            <a:spAutoFit/>
          </a:bodyPr>
          <a:lstStyle/>
          <a:p>
            <a:pPr algn="l"/>
            <a:r>
              <a:rPr sz="1100" b="0" i="0">
                <a:solidFill>
                  <a:srgbClr val="1A1A1A"/>
                </a:solidFill>
              </a:rPr>
              <a:t>Differentiable rendering  (6-DOF pose gradients, autodiff)</a:t>
            </a:r>
          </a:p>
        </p:txBody>
      </p:sp>
      <p:sp>
        <p:nvSpPr>
          <p:cNvPr id="19" name="TextBox 18"/>
          <p:cNvSpPr txBox="1"/>
          <p:nvPr/>
        </p:nvSpPr>
        <p:spPr>
          <a:xfrm>
            <a:off x="228600" y="3867912"/>
            <a:ext cx="5669280" cy="320040"/>
          </a:xfrm>
          <a:prstGeom prst="rect">
            <a:avLst/>
          </a:prstGeom>
          <a:noFill/>
        </p:spPr>
        <p:txBody>
          <a:bodyPr wrap="square">
            <a:spAutoFit/>
          </a:bodyPr>
          <a:lstStyle/>
          <a:p>
            <a:pPr algn="l"/>
            <a:r>
              <a:rPr sz="1400" b="1" i="0">
                <a:solidFill>
                  <a:srgbClr val="00A0D0"/>
                </a:solidFill>
              </a:rPr>
              <a:t>Detector Realism + DSA</a:t>
            </a:r>
          </a:p>
        </p:txBody>
      </p:sp>
      <p:sp>
        <p:nvSpPr>
          <p:cNvPr id="20" name="Rectangle 19"/>
          <p:cNvSpPr/>
          <p:nvPr/>
        </p:nvSpPr>
        <p:spPr>
          <a:xfrm>
            <a:off x="256032" y="4279392"/>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215384"/>
            <a:ext cx="5440680" cy="274320"/>
          </a:xfrm>
          <a:prstGeom prst="rect">
            <a:avLst/>
          </a:prstGeom>
          <a:noFill/>
        </p:spPr>
        <p:txBody>
          <a:bodyPr wrap="square">
            <a:spAutoFit/>
          </a:bodyPr>
          <a:lstStyle/>
          <a:p>
            <a:pPr algn="l"/>
            <a:r>
              <a:rPr sz="1100" b="0" i="0">
                <a:solidFill>
                  <a:srgbClr val="1A1A1A"/>
                </a:solidFill>
              </a:rPr>
              <a:t>Poisson quantum noise  (photon-count model)</a:t>
            </a:r>
          </a:p>
        </p:txBody>
      </p:sp>
      <p:sp>
        <p:nvSpPr>
          <p:cNvPr id="22" name="Rectangle 21"/>
          <p:cNvSpPr/>
          <p:nvPr/>
        </p:nvSpPr>
        <p:spPr>
          <a:xfrm>
            <a:off x="256032" y="4535424"/>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71416"/>
            <a:ext cx="5440680" cy="274320"/>
          </a:xfrm>
          <a:prstGeom prst="rect">
            <a:avLst/>
          </a:prstGeom>
          <a:noFill/>
        </p:spPr>
        <p:txBody>
          <a:bodyPr wrap="square">
            <a:spAutoFit/>
          </a:bodyPr>
          <a:lstStyle/>
          <a:p>
            <a:pPr algn="l"/>
            <a:r>
              <a:rPr sz="1100" b="0" i="0">
                <a:solidFill>
                  <a:srgbClr val="1A1A1A"/>
                </a:solidFill>
              </a:rPr>
              <a:t>Detector PSF convolution  (scintillator light spread)</a:t>
            </a:r>
          </a:p>
        </p:txBody>
      </p:sp>
      <p:sp>
        <p:nvSpPr>
          <p:cNvPr id="24" name="Rectangle 23"/>
          <p:cNvSpPr/>
          <p:nvPr/>
        </p:nvSpPr>
        <p:spPr>
          <a:xfrm>
            <a:off x="256032" y="4791456"/>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27448"/>
            <a:ext cx="5440680" cy="274320"/>
          </a:xfrm>
          <a:prstGeom prst="rect">
            <a:avLst/>
          </a:prstGeom>
          <a:noFill/>
        </p:spPr>
        <p:txBody>
          <a:bodyPr wrap="square">
            <a:spAutoFit/>
          </a:bodyPr>
          <a:lstStyle/>
          <a:p>
            <a:pPr algn="l"/>
            <a:r>
              <a:rPr sz="1100" b="0" i="0">
                <a:solidFill>
                  <a:srgbClr val="1A1A1A"/>
                </a:solidFill>
              </a:rPr>
              <a:t>Gamma correction + normalize</a:t>
            </a:r>
          </a:p>
        </p:txBody>
      </p:sp>
      <p:sp>
        <p:nvSpPr>
          <p:cNvPr id="26" name="Rectangle 25"/>
          <p:cNvSpPr/>
          <p:nvPr/>
        </p:nvSpPr>
        <p:spPr>
          <a:xfrm>
            <a:off x="256032" y="5047488"/>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983480"/>
            <a:ext cx="5440680" cy="274320"/>
          </a:xfrm>
          <a:prstGeom prst="rect">
            <a:avLst/>
          </a:prstGeom>
          <a:noFill/>
        </p:spPr>
        <p:txBody>
          <a:bodyPr wrap="square">
            <a:spAutoFit/>
          </a:bodyPr>
          <a:lstStyle/>
          <a:p>
            <a:pPr algn="l"/>
            <a:r>
              <a:rPr sz="1100" b="0" i="0">
                <a:solidFill>
                  <a:srgbClr val="1A1A1A"/>
                </a:solidFill>
              </a:rPr>
              <a:t>Misregistration jitter  ✓ implemented  (realism.py, dsa.py)</a:t>
            </a:r>
          </a:p>
        </p:txBody>
      </p:sp>
      <p:sp>
        <p:nvSpPr>
          <p:cNvPr id="28" name="Rectangle 27"/>
          <p:cNvSpPr/>
          <p:nvPr/>
        </p:nvSpPr>
        <p:spPr>
          <a:xfrm>
            <a:off x="256032" y="5303520"/>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39512"/>
            <a:ext cx="5440680" cy="274320"/>
          </a:xfrm>
          <a:prstGeom prst="rect">
            <a:avLst/>
          </a:prstGeom>
          <a:noFill/>
        </p:spPr>
        <p:txBody>
          <a:bodyPr wrap="square">
            <a:spAutoFit/>
          </a:bodyPr>
          <a:lstStyle/>
          <a:p>
            <a:pPr algn="l"/>
            <a:r>
              <a:rPr sz="1100" b="0" i="0">
                <a:solidFill>
                  <a:srgbClr val="1A1A1A"/>
                </a:solidFill>
              </a:rPr>
              <a:t>4-step DSA pipeline  (mask→contrast→subtract→post)</a:t>
            </a:r>
          </a:p>
        </p:txBody>
      </p:sp>
      <p:sp>
        <p:nvSpPr>
          <p:cNvPr id="30" name="Rectangle 29"/>
          <p:cNvSpPr/>
          <p:nvPr/>
        </p:nvSpPr>
        <p:spPr>
          <a:xfrm>
            <a:off x="256032" y="5559552"/>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495544"/>
            <a:ext cx="5440680" cy="274320"/>
          </a:xfrm>
          <a:prstGeom prst="rect">
            <a:avLst/>
          </a:prstGeom>
          <a:noFill/>
        </p:spPr>
        <p:txBody>
          <a:bodyPr wrap="square">
            <a:spAutoFit/>
          </a:bodyPr>
          <a:lstStyle/>
          <a:p>
            <a:pPr algn="l"/>
            <a:r>
              <a:rPr sz="1100" b="0" i="0">
                <a:solidFill>
                  <a:srgbClr val="1A1A1A"/>
                </a:solidFill>
              </a:rPr>
              <a:t>Temporal bolus dynamics  (gamma-variate + Dijkstra arrival map)</a:t>
            </a:r>
          </a:p>
        </p:txBody>
      </p:sp>
      <p:sp>
        <p:nvSpPr>
          <p:cNvPr id="32" name="Rectangle 31"/>
          <p:cNvSpPr/>
          <p:nvPr/>
        </p:nvSpPr>
        <p:spPr>
          <a:xfrm>
            <a:off x="256032" y="5815584"/>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751576"/>
            <a:ext cx="5440680" cy="274320"/>
          </a:xfrm>
          <a:prstGeom prst="rect">
            <a:avLst/>
          </a:prstGeom>
          <a:noFill/>
        </p:spPr>
        <p:txBody>
          <a:bodyPr wrap="square">
            <a:spAutoFit/>
          </a:bodyPr>
          <a:lstStyle/>
          <a:p>
            <a:pPr algn="l"/>
            <a:r>
              <a:rPr sz="1100" b="0" i="0">
                <a:solidFill>
                  <a:srgbClr val="1A1A1A"/>
                </a:solidFill>
              </a:rPr>
              <a:t>Volumetric instrument injection  (Warp atomic_max, ~2 ms)</a:t>
            </a:r>
          </a:p>
        </p:txBody>
      </p:sp>
      <p:sp>
        <p:nvSpPr>
          <p:cNvPr id="34" name="Rectangle 33"/>
          <p:cNvSpPr/>
          <p:nvPr/>
        </p:nvSpPr>
        <p:spPr>
          <a:xfrm>
            <a:off x="256032" y="6071616"/>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007608"/>
            <a:ext cx="5440680" cy="274320"/>
          </a:xfrm>
          <a:prstGeom prst="rect">
            <a:avLst/>
          </a:prstGeom>
          <a:noFill/>
        </p:spPr>
        <p:txBody>
          <a:bodyPr wrap="square">
            <a:spAutoFit/>
          </a:bodyPr>
          <a:lstStyle/>
          <a:p>
            <a:pPr algn="l"/>
            <a:r>
              <a:rPr sz="1100" b="0" i="0">
                <a:solidFill>
                  <a:srgbClr val="1A1A1A"/>
                </a:solidFill>
              </a:rPr>
              <a:t>9 vendor C-arm geometry presets</a:t>
            </a:r>
          </a:p>
        </p:txBody>
      </p:sp>
      <p:sp>
        <p:nvSpPr>
          <p:cNvPr id="36" name="Rectangle 35"/>
          <p:cNvSpPr/>
          <p:nvPr/>
        </p:nvSpPr>
        <p:spPr>
          <a:xfrm>
            <a:off x="256032" y="6327648"/>
            <a:ext cx="137160" cy="1371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263640"/>
            <a:ext cx="5440680" cy="274320"/>
          </a:xfrm>
          <a:prstGeom prst="rect">
            <a:avLst/>
          </a:prstGeom>
          <a:noFill/>
        </p:spPr>
        <p:txBody>
          <a:bodyPr wrap="square">
            <a:spAutoFit/>
          </a:bodyPr>
          <a:lstStyle/>
          <a:p>
            <a:pPr algn="l"/>
            <a:r>
              <a:rPr sz="1100" b="0" i="0">
                <a:solidFill>
                  <a:srgbClr val="1A1A1A"/>
                </a:solidFill>
              </a:rPr>
              <a:t>Hagen-Poiseuille / F-8 / Dispersion  ⚠ validated, not yet merged</a:t>
            </a:r>
          </a:p>
        </p:txBody>
      </p:sp>
      <p:sp>
        <p:nvSpPr>
          <p:cNvPr id="38" name="TextBox 37"/>
          <p:cNvSpPr txBox="1"/>
          <p:nvPr/>
        </p:nvSpPr>
        <p:spPr>
          <a:xfrm>
            <a:off x="6126480" y="1874519"/>
            <a:ext cx="5852160" cy="320040"/>
          </a:xfrm>
          <a:prstGeom prst="rect">
            <a:avLst/>
          </a:prstGeom>
          <a:noFill/>
        </p:spPr>
        <p:txBody>
          <a:bodyPr wrap="square">
            <a:spAutoFit/>
          </a:bodyPr>
          <a:lstStyle/>
          <a:p>
            <a:pPr algn="l"/>
            <a:r>
              <a:rPr sz="1400" b="1" i="0">
                <a:solidFill>
                  <a:srgbClr val="E67E22"/>
                </a:solidFill>
              </a:rPr>
              <a:t>Physics Solver</a:t>
            </a:r>
          </a:p>
        </p:txBody>
      </p:sp>
      <p:sp>
        <p:nvSpPr>
          <p:cNvPr id="39" name="Rectangle 38"/>
          <p:cNvSpPr/>
          <p:nvPr/>
        </p:nvSpPr>
        <p:spPr>
          <a:xfrm>
            <a:off x="6153912" y="2285999"/>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2221991"/>
            <a:ext cx="5577840" cy="274320"/>
          </a:xfrm>
          <a:prstGeom prst="rect">
            <a:avLst/>
          </a:prstGeom>
          <a:noFill/>
        </p:spPr>
        <p:txBody>
          <a:bodyPr wrap="square">
            <a:spAutoFit/>
          </a:bodyPr>
          <a:lstStyle/>
          <a:p>
            <a:pPr algn="l"/>
            <a:r>
              <a:rPr sz="1100" b="0" i="0">
                <a:solidFill>
                  <a:srgbClr val="1A1A1A"/>
                </a:solidFill>
              </a:rPr>
              <a:t>Cosserat rod XPBD  (block-Thomas direct solve)</a:t>
            </a:r>
          </a:p>
        </p:txBody>
      </p:sp>
      <p:sp>
        <p:nvSpPr>
          <p:cNvPr id="41" name="Rectangle 40"/>
          <p:cNvSpPr/>
          <p:nvPr/>
        </p:nvSpPr>
        <p:spPr>
          <a:xfrm>
            <a:off x="6153912" y="2542032"/>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2478024"/>
            <a:ext cx="5577840" cy="274320"/>
          </a:xfrm>
          <a:prstGeom prst="rect">
            <a:avLst/>
          </a:prstGeom>
          <a:noFill/>
        </p:spPr>
        <p:txBody>
          <a:bodyPr wrap="square">
            <a:spAutoFit/>
          </a:bodyPr>
          <a:lstStyle/>
          <a:p>
            <a:pPr algn="l"/>
            <a:r>
              <a:rPr sz="1100" b="0" i="0">
                <a:solidFill>
                  <a:srgbClr val="1A1A1A"/>
                </a:solidFill>
              </a:rPr>
              <a:t>4 solver backends  (block-Thomas, split-Thomas, Jacobi, Cholesky)</a:t>
            </a:r>
          </a:p>
        </p:txBody>
      </p:sp>
      <p:sp>
        <p:nvSpPr>
          <p:cNvPr id="43" name="Rectangle 42"/>
          <p:cNvSpPr/>
          <p:nvPr/>
        </p:nvSpPr>
        <p:spPr>
          <a:xfrm>
            <a:off x="6153912" y="2798064"/>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2734056"/>
            <a:ext cx="5577840" cy="274320"/>
          </a:xfrm>
          <a:prstGeom prst="rect">
            <a:avLst/>
          </a:prstGeom>
          <a:noFill/>
        </p:spPr>
        <p:txBody>
          <a:bodyPr wrap="square">
            <a:spAutoFit/>
          </a:bodyPr>
          <a:lstStyle/>
          <a:p>
            <a:pPr algn="l"/>
            <a:r>
              <a:rPr sz="1100" b="0" i="0">
                <a:solidFill>
                  <a:srgbClr val="1A1A1A"/>
                </a:solidFill>
              </a:rPr>
              <a:t>Multi-env batched physics  (_BatchedWorkspace, flat buffers)</a:t>
            </a:r>
          </a:p>
        </p:txBody>
      </p:sp>
      <p:sp>
        <p:nvSpPr>
          <p:cNvPr id="45" name="Rectangle 44"/>
          <p:cNvSpPr/>
          <p:nvPr/>
        </p:nvSpPr>
        <p:spPr>
          <a:xfrm>
            <a:off x="6153912" y="3054096"/>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2990088"/>
            <a:ext cx="5577840" cy="274320"/>
          </a:xfrm>
          <a:prstGeom prst="rect">
            <a:avLst/>
          </a:prstGeom>
          <a:noFill/>
        </p:spPr>
        <p:txBody>
          <a:bodyPr wrap="square">
            <a:spAutoFit/>
          </a:bodyPr>
          <a:lstStyle/>
          <a:p>
            <a:pPr algn="l"/>
            <a:r>
              <a:rPr sz="1100" b="0" i="0">
                <a:solidFill>
                  <a:srgbClr val="1A1A1A"/>
                </a:solidFill>
              </a:rPr>
              <a:t>CUDA-graph capture  (wp.ScopedCapture + wp.capture_launch)</a:t>
            </a:r>
          </a:p>
        </p:txBody>
      </p:sp>
      <p:sp>
        <p:nvSpPr>
          <p:cNvPr id="47" name="Rectangle 46"/>
          <p:cNvSpPr/>
          <p:nvPr/>
        </p:nvSpPr>
        <p:spPr>
          <a:xfrm>
            <a:off x="6153912" y="3310128"/>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55080" y="3246120"/>
            <a:ext cx="5577840" cy="274320"/>
          </a:xfrm>
          <a:prstGeom prst="rect">
            <a:avLst/>
          </a:prstGeom>
          <a:noFill/>
        </p:spPr>
        <p:txBody>
          <a:bodyPr wrap="square">
            <a:spAutoFit/>
          </a:bodyPr>
          <a:lstStyle/>
          <a:p>
            <a:pPr algn="l"/>
            <a:r>
              <a:rPr sz="1100" b="0" i="0">
                <a:solidFill>
                  <a:srgbClr val="1A1A1A"/>
                </a:solidFill>
              </a:rPr>
              <a:t>GPU-side proximal control  (push + rotate, CUDA-graph safe)</a:t>
            </a:r>
          </a:p>
        </p:txBody>
      </p:sp>
      <p:sp>
        <p:nvSpPr>
          <p:cNvPr id="49" name="Rectangle 48"/>
          <p:cNvSpPr/>
          <p:nvPr/>
        </p:nvSpPr>
        <p:spPr>
          <a:xfrm>
            <a:off x="6153912" y="3566160"/>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3502152"/>
            <a:ext cx="5577840" cy="274320"/>
          </a:xfrm>
          <a:prstGeom prst="rect">
            <a:avLst/>
          </a:prstGeom>
          <a:noFill/>
        </p:spPr>
        <p:txBody>
          <a:bodyPr wrap="square">
            <a:spAutoFit/>
          </a:bodyPr>
          <a:lstStyle/>
          <a:p>
            <a:pPr algn="l"/>
            <a:r>
              <a:rPr sz="1100" b="0" i="0">
                <a:solidFill>
                  <a:srgbClr val="1A1A1A"/>
                </a:solidFill>
              </a:rPr>
              <a:t>Floor collision  (configurable restitution, Newton parity)</a:t>
            </a:r>
          </a:p>
        </p:txBody>
      </p:sp>
      <p:sp>
        <p:nvSpPr>
          <p:cNvPr id="51" name="Rectangle 50"/>
          <p:cNvSpPr/>
          <p:nvPr/>
        </p:nvSpPr>
        <p:spPr>
          <a:xfrm>
            <a:off x="6153912" y="3822192"/>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3758184"/>
            <a:ext cx="5577840" cy="274320"/>
          </a:xfrm>
          <a:prstGeom prst="rect">
            <a:avLst/>
          </a:prstGeom>
          <a:noFill/>
        </p:spPr>
        <p:txBody>
          <a:bodyPr wrap="square">
            <a:spAutoFit/>
          </a:bodyPr>
          <a:lstStyle/>
          <a:p>
            <a:pPr algn="l"/>
            <a:r>
              <a:rPr sz="1100" b="0" i="0">
                <a:solidFill>
                  <a:srgbClr val="1A1A1A"/>
                </a:solidFill>
              </a:rPr>
              <a:t>Vessel-mesh SDF containment  (wp.mesh_query_point_sign_normal)</a:t>
            </a:r>
          </a:p>
        </p:txBody>
      </p:sp>
      <p:sp>
        <p:nvSpPr>
          <p:cNvPr id="53" name="Rectangle 52"/>
          <p:cNvSpPr/>
          <p:nvPr/>
        </p:nvSpPr>
        <p:spPr>
          <a:xfrm>
            <a:off x="6153912" y="4078224"/>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55080" y="4014216"/>
            <a:ext cx="5577840" cy="274320"/>
          </a:xfrm>
          <a:prstGeom prst="rect">
            <a:avLst/>
          </a:prstGeom>
          <a:noFill/>
        </p:spPr>
        <p:txBody>
          <a:bodyPr wrap="square">
            <a:spAutoFit/>
          </a:bodyPr>
          <a:lstStyle/>
          <a:p>
            <a:pPr algn="l"/>
            <a:r>
              <a:rPr sz="1100" b="0" i="0">
                <a:solidFill>
                  <a:srgbClr val="1A1A1A"/>
                </a:solidFill>
              </a:rPr>
              <a:t>AABB broadphase + edge contacts  (wp.mesh_query_aabb)</a:t>
            </a:r>
          </a:p>
        </p:txBody>
      </p:sp>
      <p:sp>
        <p:nvSpPr>
          <p:cNvPr id="55" name="Rectangle 54"/>
          <p:cNvSpPr/>
          <p:nvPr/>
        </p:nvSpPr>
        <p:spPr>
          <a:xfrm>
            <a:off x="6153912" y="4334256"/>
            <a:ext cx="137160" cy="1371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55080" y="4270248"/>
            <a:ext cx="5577840" cy="274320"/>
          </a:xfrm>
          <a:prstGeom prst="rect">
            <a:avLst/>
          </a:prstGeom>
          <a:noFill/>
        </p:spPr>
        <p:txBody>
          <a:bodyPr wrap="square">
            <a:spAutoFit/>
          </a:bodyPr>
          <a:lstStyle/>
          <a:p>
            <a:pPr algn="l"/>
            <a:r>
              <a:rPr sz="1100" b="0" i="0">
                <a:solidFill>
                  <a:srgbClr val="1A1A1A"/>
                </a:solidFill>
              </a:rPr>
              <a:t>Track-guided insertion  (linear insertion axis constraint)</a:t>
            </a:r>
          </a:p>
        </p:txBody>
      </p:sp>
      <p:sp>
        <p:nvSpPr>
          <p:cNvPr id="57" name="TextBox 56"/>
          <p:cNvSpPr txBox="1"/>
          <p:nvPr/>
        </p:nvSpPr>
        <p:spPr>
          <a:xfrm>
            <a:off x="6126480" y="4636008"/>
            <a:ext cx="5852160" cy="320040"/>
          </a:xfrm>
          <a:prstGeom prst="rect">
            <a:avLst/>
          </a:prstGeom>
          <a:noFill/>
        </p:spPr>
        <p:txBody>
          <a:bodyPr wrap="square">
            <a:spAutoFit/>
          </a:bodyPr>
          <a:lstStyle/>
          <a:p>
            <a:pPr algn="l"/>
            <a:r>
              <a:rPr sz="1400" b="1" i="0">
                <a:solidFill>
                  <a:srgbClr val="9B59B6"/>
                </a:solidFill>
              </a:rPr>
              <a:t>Integration</a:t>
            </a:r>
          </a:p>
        </p:txBody>
      </p:sp>
      <p:sp>
        <p:nvSpPr>
          <p:cNvPr id="58" name="Rectangle 57"/>
          <p:cNvSpPr/>
          <p:nvPr/>
        </p:nvSpPr>
        <p:spPr>
          <a:xfrm>
            <a:off x="6153912" y="5047488"/>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55080" y="4983480"/>
            <a:ext cx="5577840" cy="274320"/>
          </a:xfrm>
          <a:prstGeom prst="rect">
            <a:avLst/>
          </a:prstGeom>
          <a:noFill/>
        </p:spPr>
        <p:txBody>
          <a:bodyPr wrap="square">
            <a:spAutoFit/>
          </a:bodyPr>
          <a:lstStyle/>
          <a:p>
            <a:pPr algn="l"/>
            <a:r>
              <a:rPr sz="1100" b="0" i="0">
                <a:solidFill>
                  <a:srgbClr val="1A1A1A"/>
                </a:solidFill>
              </a:rPr>
              <a:t>CT ingestion pipeline  (HU→μ + vessel mask + wp.Mesh)</a:t>
            </a:r>
          </a:p>
        </p:txBody>
      </p:sp>
      <p:sp>
        <p:nvSpPr>
          <p:cNvPr id="60" name="Rectangle 59"/>
          <p:cNvSpPr/>
          <p:nvPr/>
        </p:nvSpPr>
        <p:spPr>
          <a:xfrm>
            <a:off x="6153912" y="5303520"/>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55080" y="5239512"/>
            <a:ext cx="5577840" cy="274320"/>
          </a:xfrm>
          <a:prstGeom prst="rect">
            <a:avLst/>
          </a:prstGeom>
          <a:noFill/>
        </p:spPr>
        <p:txBody>
          <a:bodyPr wrap="square">
            <a:spAutoFit/>
          </a:bodyPr>
          <a:lstStyle/>
          <a:p>
            <a:pPr algn="l"/>
            <a:r>
              <a:rPr sz="1100" b="0" i="0">
                <a:solidFill>
                  <a:srgbClr val="1A1A1A"/>
                </a:solidFill>
              </a:rPr>
              <a:t>Unified sim loop  (physics→render→RL obs, no CPU sync)</a:t>
            </a:r>
          </a:p>
        </p:txBody>
      </p:sp>
      <p:sp>
        <p:nvSpPr>
          <p:cNvPr id="62" name="Rectangle 61"/>
          <p:cNvSpPr/>
          <p:nvPr/>
        </p:nvSpPr>
        <p:spPr>
          <a:xfrm>
            <a:off x="6153912" y="5559552"/>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55080" y="5495544"/>
            <a:ext cx="5577840" cy="274320"/>
          </a:xfrm>
          <a:prstGeom prst="rect">
            <a:avLst/>
          </a:prstGeom>
          <a:noFill/>
        </p:spPr>
        <p:txBody>
          <a:bodyPr wrap="square">
            <a:spAutoFit/>
          </a:bodyPr>
          <a:lstStyle/>
          <a:p>
            <a:pPr algn="l"/>
            <a:r>
              <a:rPr sz="1100" b="0" i="0">
                <a:solidFill>
                  <a:srgbClr val="1A1A1A"/>
                </a:solidFill>
              </a:rPr>
              <a:t>Interactive Gradio UI  (browser-based, --share public link)</a:t>
            </a:r>
          </a:p>
        </p:txBody>
      </p:sp>
      <p:sp>
        <p:nvSpPr>
          <p:cNvPr id="64" name="Rectangle 63"/>
          <p:cNvSpPr/>
          <p:nvPr/>
        </p:nvSpPr>
        <p:spPr>
          <a:xfrm>
            <a:off x="6153912" y="5815584"/>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55080" y="5751576"/>
            <a:ext cx="5577840" cy="274320"/>
          </a:xfrm>
          <a:prstGeom prst="rect">
            <a:avLst/>
          </a:prstGeom>
          <a:noFill/>
        </p:spPr>
        <p:txBody>
          <a:bodyPr wrap="square">
            <a:spAutoFit/>
          </a:bodyPr>
          <a:lstStyle/>
          <a:p>
            <a:pPr algn="l"/>
            <a:r>
              <a:rPr sz="1100" b="0" i="0">
                <a:solidFill>
                  <a:srgbClr val="1A1A1A"/>
                </a:solidFill>
              </a:rPr>
              <a:t>RL training pipeline  (RSL-RL PPO, 512 envs, smoke test)</a:t>
            </a:r>
          </a:p>
        </p:txBody>
      </p:sp>
      <p:sp>
        <p:nvSpPr>
          <p:cNvPr id="66" name="Rectangle 65"/>
          <p:cNvSpPr/>
          <p:nvPr/>
        </p:nvSpPr>
        <p:spPr>
          <a:xfrm>
            <a:off x="6153912" y="6071616"/>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55080" y="6007608"/>
            <a:ext cx="5577840" cy="274320"/>
          </a:xfrm>
          <a:prstGeom prst="rect">
            <a:avLst/>
          </a:prstGeom>
          <a:noFill/>
        </p:spPr>
        <p:txBody>
          <a:bodyPr wrap="square">
            <a:spAutoFit/>
          </a:bodyPr>
          <a:lstStyle/>
          <a:p>
            <a:pPr algn="l"/>
            <a:r>
              <a:rPr sz="1100" b="0" i="0">
                <a:solidFill>
                  <a:srgbClr val="1A1A1A"/>
                </a:solidFill>
              </a:rPr>
              <a:t>Live catheter bend indicator  (vessel collision confirmation)</a:t>
            </a:r>
          </a:p>
        </p:txBody>
      </p:sp>
      <p:sp>
        <p:nvSpPr>
          <p:cNvPr id="68" name="Rectangle 67"/>
          <p:cNvSpPr/>
          <p:nvPr/>
        </p:nvSpPr>
        <p:spPr>
          <a:xfrm>
            <a:off x="6153912" y="6327648"/>
            <a:ext cx="137160"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55080" y="6263640"/>
            <a:ext cx="5577840" cy="274320"/>
          </a:xfrm>
          <a:prstGeom prst="rect">
            <a:avLst/>
          </a:prstGeom>
          <a:noFill/>
        </p:spPr>
        <p:txBody>
          <a:bodyPr wrap="square">
            <a:spAutoFit/>
          </a:bodyPr>
          <a:lstStyle/>
          <a:p>
            <a:pPr algn="l"/>
            <a:r>
              <a:rPr sz="1100" b="0" i="0">
                <a:solidFill>
                  <a:srgbClr val="1A1A1A"/>
                </a:solidFill>
              </a:rPr>
              <a:t>pip-installable CLI  (xcath-fluoro entry point)</a:t>
            </a:r>
          </a:p>
        </p:txBody>
      </p:sp>
      <p:sp>
        <p:nvSpPr>
          <p:cNvPr id="70" name="Rectangle 69"/>
          <p:cNvSpPr/>
          <p:nvPr/>
        </p:nvSpPr>
        <p:spPr>
          <a:xfrm>
            <a:off x="6035040" y="1874519"/>
            <a:ext cx="36576" cy="47548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27432"/>
            <a:ext cx="11887200" cy="365760"/>
          </a:xfrm>
          <a:prstGeom prst="rect">
            <a:avLst/>
          </a:prstGeom>
          <a:noFill/>
        </p:spPr>
        <p:txBody>
          <a:bodyPr wrap="square">
            <a:spAutoFit/>
          </a:bodyPr>
          <a:lstStyle/>
          <a:p>
            <a:pPr algn="l"/>
            <a:r>
              <a:rPr sz="1100" b="0" i="0">
                <a:solidFill>
                  <a:srgbClr val="1A1A1A"/>
                </a:solidFill>
              </a:rPr>
              <a:t>X-Ray–Guided Robotic Catheter Intervention — Isaac for Healthcare</a:t>
            </a:r>
          </a:p>
        </p:txBody>
      </p:sp>
      <p:sp>
        <p:nvSpPr>
          <p:cNvPr id="4" name="Rectangle 3"/>
          <p:cNvSpPr/>
          <p:nvPr/>
        </p:nvSpPr>
        <p:spPr>
          <a:xfrm>
            <a:off x="0" y="685800"/>
            <a:ext cx="12188952" cy="45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77240"/>
            <a:ext cx="11430000" cy="731520"/>
          </a:xfrm>
          <a:prstGeom prst="rect">
            <a:avLst/>
          </a:prstGeom>
          <a:noFill/>
        </p:spPr>
        <p:txBody>
          <a:bodyPr wrap="square">
            <a:spAutoFit/>
          </a:bodyPr>
          <a:lstStyle/>
          <a:p>
            <a:pPr algn="l"/>
            <a:r>
              <a:rPr sz="2800" b="1" i="0">
                <a:solidFill>
                  <a:srgbClr val="1A1A1A"/>
                </a:solidFill>
              </a:rPr>
              <a:t>Roadmap — Sprint 1 → Sprint 2 → Sprint 3+</a:t>
            </a:r>
          </a:p>
        </p:txBody>
      </p:sp>
      <p:sp>
        <p:nvSpPr>
          <p:cNvPr id="6" name="Rectangle 5"/>
          <p:cNvSpPr/>
          <p:nvPr/>
        </p:nvSpPr>
        <p:spPr>
          <a:xfrm>
            <a:off x="228600" y="1874519"/>
            <a:ext cx="3822191" cy="4754880"/>
          </a:xfrm>
          <a:prstGeom prst="rect">
            <a:avLst/>
          </a:prstGeom>
          <a:solidFill>
            <a:srgbClr val="F2F2F2"/>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874519"/>
            <a:ext cx="3822191" cy="5943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901952"/>
            <a:ext cx="3639312" cy="548640"/>
          </a:xfrm>
          <a:prstGeom prst="rect">
            <a:avLst/>
          </a:prstGeom>
          <a:noFill/>
        </p:spPr>
        <p:txBody>
          <a:bodyPr wrap="square">
            <a:spAutoFit/>
          </a:bodyPr>
          <a:lstStyle/>
          <a:p>
            <a:pPr algn="l"/>
            <a:r>
              <a:rPr sz="1300" b="1" i="0">
                <a:solidFill>
                  <a:srgbClr val="FFFFFF"/>
                </a:solidFill>
              </a:rPr>
              <a:t>TODAY
(Sprint 1 — Operational)</a:t>
            </a:r>
          </a:p>
        </p:txBody>
      </p:sp>
      <p:sp>
        <p:nvSpPr>
          <p:cNvPr id="9" name="Rectangle 8"/>
          <p:cNvSpPr/>
          <p:nvPr/>
        </p:nvSpPr>
        <p:spPr>
          <a:xfrm>
            <a:off x="320040" y="262432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 y="2542032"/>
            <a:ext cx="3493008" cy="256032"/>
          </a:xfrm>
          <a:prstGeom prst="rect">
            <a:avLst/>
          </a:prstGeom>
          <a:noFill/>
        </p:spPr>
        <p:txBody>
          <a:bodyPr wrap="square">
            <a:spAutoFit/>
          </a:bodyPr>
          <a:lstStyle/>
          <a:p>
            <a:pPr algn="l"/>
            <a:r>
              <a:rPr sz="1100" b="0" i="0">
                <a:solidFill>
                  <a:srgbClr val="1A1A1A"/>
                </a:solidFill>
              </a:rPr>
              <a:t>GPU Beer-Lambert DRR  @25 FPS / 512²</a:t>
            </a:r>
          </a:p>
        </p:txBody>
      </p:sp>
      <p:sp>
        <p:nvSpPr>
          <p:cNvPr id="11" name="Rectangle 10"/>
          <p:cNvSpPr/>
          <p:nvPr/>
        </p:nvSpPr>
        <p:spPr>
          <a:xfrm>
            <a:off x="320040" y="289864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2816351"/>
            <a:ext cx="3493008" cy="256032"/>
          </a:xfrm>
          <a:prstGeom prst="rect">
            <a:avLst/>
          </a:prstGeom>
          <a:noFill/>
        </p:spPr>
        <p:txBody>
          <a:bodyPr wrap="square">
            <a:spAutoFit/>
          </a:bodyPr>
          <a:lstStyle/>
          <a:p>
            <a:pPr algn="l"/>
            <a:r>
              <a:rPr sz="1100" b="0" i="0">
                <a:solidFill>
                  <a:srgbClr val="1A1A1A"/>
                </a:solidFill>
              </a:rPr>
              <a:t>XPBD physics  @1,300 Hz / env</a:t>
            </a:r>
          </a:p>
        </p:txBody>
      </p:sp>
      <p:sp>
        <p:nvSpPr>
          <p:cNvPr id="13" name="Rectangle 12"/>
          <p:cNvSpPr/>
          <p:nvPr/>
        </p:nvSpPr>
        <p:spPr>
          <a:xfrm>
            <a:off x="320040" y="317296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 y="3090671"/>
            <a:ext cx="3493008" cy="256032"/>
          </a:xfrm>
          <a:prstGeom prst="rect">
            <a:avLst/>
          </a:prstGeom>
          <a:noFill/>
        </p:spPr>
        <p:txBody>
          <a:bodyPr wrap="square">
            <a:spAutoFit/>
          </a:bodyPr>
          <a:lstStyle/>
          <a:p>
            <a:pPr algn="l"/>
            <a:r>
              <a:rPr sz="1100" b="0" i="0">
                <a:solidFill>
                  <a:srgbClr val="1A1A1A"/>
                </a:solidFill>
              </a:rPr>
              <a:t>Vessel-mesh SDF + AABB collision</a:t>
            </a:r>
          </a:p>
        </p:txBody>
      </p:sp>
      <p:sp>
        <p:nvSpPr>
          <p:cNvPr id="15" name="Rectangle 14"/>
          <p:cNvSpPr/>
          <p:nvPr/>
        </p:nvSpPr>
        <p:spPr>
          <a:xfrm>
            <a:off x="320040" y="344728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 y="3364991"/>
            <a:ext cx="3493008" cy="256032"/>
          </a:xfrm>
          <a:prstGeom prst="rect">
            <a:avLst/>
          </a:prstGeom>
          <a:noFill/>
        </p:spPr>
        <p:txBody>
          <a:bodyPr wrap="square">
            <a:spAutoFit/>
          </a:bodyPr>
          <a:lstStyle/>
          <a:p>
            <a:pPr algn="l"/>
            <a:r>
              <a:rPr sz="1100" b="0" i="0">
                <a:solidFill>
                  <a:srgbClr val="1A1A1A"/>
                </a:solidFill>
              </a:rPr>
              <a:t>DSA pipeline + temporal bolus</a:t>
            </a:r>
          </a:p>
        </p:txBody>
      </p:sp>
      <p:sp>
        <p:nvSpPr>
          <p:cNvPr id="17" name="Rectangle 16"/>
          <p:cNvSpPr/>
          <p:nvPr/>
        </p:nvSpPr>
        <p:spPr>
          <a:xfrm>
            <a:off x="320040" y="372160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 y="3639311"/>
            <a:ext cx="3493008" cy="256032"/>
          </a:xfrm>
          <a:prstGeom prst="rect">
            <a:avLst/>
          </a:prstGeom>
          <a:noFill/>
        </p:spPr>
        <p:txBody>
          <a:bodyPr wrap="square">
            <a:spAutoFit/>
          </a:bodyPr>
          <a:lstStyle/>
          <a:p>
            <a:pPr algn="l"/>
            <a:r>
              <a:rPr sz="1100" b="0" i="0">
                <a:solidFill>
                  <a:srgbClr val="1A1A1A"/>
                </a:solidFill>
              </a:rPr>
              <a:t>9 C-arm vendor presets</a:t>
            </a:r>
          </a:p>
        </p:txBody>
      </p:sp>
      <p:sp>
        <p:nvSpPr>
          <p:cNvPr id="19" name="Rectangle 18"/>
          <p:cNvSpPr/>
          <p:nvPr/>
        </p:nvSpPr>
        <p:spPr>
          <a:xfrm>
            <a:off x="320040" y="399592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 y="3913631"/>
            <a:ext cx="3493008" cy="256032"/>
          </a:xfrm>
          <a:prstGeom prst="rect">
            <a:avLst/>
          </a:prstGeom>
          <a:noFill/>
        </p:spPr>
        <p:txBody>
          <a:bodyPr wrap="square">
            <a:spAutoFit/>
          </a:bodyPr>
          <a:lstStyle/>
          <a:p>
            <a:pPr algn="l"/>
            <a:r>
              <a:rPr sz="1100" b="0" i="0">
                <a:solidFill>
                  <a:srgbClr val="1A1A1A"/>
                </a:solidFill>
              </a:rPr>
              <a:t>State-based PPO  (512 envs)</a:t>
            </a:r>
          </a:p>
        </p:txBody>
      </p:sp>
      <p:sp>
        <p:nvSpPr>
          <p:cNvPr id="21" name="Rectangle 20"/>
          <p:cNvSpPr/>
          <p:nvPr/>
        </p:nvSpPr>
        <p:spPr>
          <a:xfrm>
            <a:off x="320040" y="427024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 y="4187951"/>
            <a:ext cx="3493008" cy="256032"/>
          </a:xfrm>
          <a:prstGeom prst="rect">
            <a:avLst/>
          </a:prstGeom>
          <a:noFill/>
        </p:spPr>
        <p:txBody>
          <a:bodyPr wrap="square">
            <a:spAutoFit/>
          </a:bodyPr>
          <a:lstStyle/>
          <a:p>
            <a:pPr algn="l"/>
            <a:r>
              <a:rPr sz="1100" b="0" i="0">
                <a:solidFill>
                  <a:srgbClr val="1A1A1A"/>
                </a:solidFill>
              </a:rPr>
              <a:t>Interactive demo  (Gradio UI)</a:t>
            </a:r>
          </a:p>
        </p:txBody>
      </p:sp>
      <p:sp>
        <p:nvSpPr>
          <p:cNvPr id="23" name="Rectangle 22"/>
          <p:cNvSpPr/>
          <p:nvPr/>
        </p:nvSpPr>
        <p:spPr>
          <a:xfrm>
            <a:off x="320040" y="4544567"/>
            <a:ext cx="109728" cy="10972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 y="4462271"/>
            <a:ext cx="3493008" cy="256032"/>
          </a:xfrm>
          <a:prstGeom prst="rect">
            <a:avLst/>
          </a:prstGeom>
          <a:noFill/>
        </p:spPr>
        <p:txBody>
          <a:bodyPr wrap="square">
            <a:spAutoFit/>
          </a:bodyPr>
          <a:lstStyle/>
          <a:p>
            <a:pPr algn="l"/>
            <a:r>
              <a:rPr sz="1100" b="0" i="0">
                <a:solidFill>
                  <a:srgbClr val="1A1A1A"/>
                </a:solidFill>
              </a:rPr>
              <a:t>25 FPS end-to-end sim loop</a:t>
            </a:r>
          </a:p>
        </p:txBody>
      </p:sp>
      <p:sp>
        <p:nvSpPr>
          <p:cNvPr id="25" name="Rectangle 24"/>
          <p:cNvSpPr/>
          <p:nvPr/>
        </p:nvSpPr>
        <p:spPr>
          <a:xfrm>
            <a:off x="4251960" y="1874519"/>
            <a:ext cx="3822191" cy="4754880"/>
          </a:xfrm>
          <a:prstGeom prst="rect">
            <a:avLst/>
          </a:prstGeom>
          <a:solidFill>
            <a:srgbClr val="F2F2F2"/>
          </a:solidFill>
          <a:ln w="9525">
            <a:solidFill>
              <a:srgbClr val="00A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51960" y="1874519"/>
            <a:ext cx="3822191" cy="594360"/>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1901952"/>
            <a:ext cx="3639312" cy="548640"/>
          </a:xfrm>
          <a:prstGeom prst="rect">
            <a:avLst/>
          </a:prstGeom>
          <a:noFill/>
        </p:spPr>
        <p:txBody>
          <a:bodyPr wrap="square">
            <a:spAutoFit/>
          </a:bodyPr>
          <a:lstStyle/>
          <a:p>
            <a:pPr algn="l"/>
            <a:r>
              <a:rPr sz="1300" b="1" i="0">
                <a:solidFill>
                  <a:srgbClr val="FFFFFF"/>
                </a:solidFill>
              </a:rPr>
              <a:t>SPRINT 2
(Renderer Scaling + Pixel Obs)</a:t>
            </a:r>
          </a:p>
        </p:txBody>
      </p:sp>
      <p:sp>
        <p:nvSpPr>
          <p:cNvPr id="28" name="Rectangle 27"/>
          <p:cNvSpPr/>
          <p:nvPr/>
        </p:nvSpPr>
        <p:spPr>
          <a:xfrm>
            <a:off x="4343400" y="262432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07992" y="2542032"/>
            <a:ext cx="3493008" cy="256032"/>
          </a:xfrm>
          <a:prstGeom prst="rect">
            <a:avLst/>
          </a:prstGeom>
          <a:noFill/>
        </p:spPr>
        <p:txBody>
          <a:bodyPr wrap="square">
            <a:spAutoFit/>
          </a:bodyPr>
          <a:lstStyle/>
          <a:p>
            <a:pPr algn="l"/>
            <a:r>
              <a:rPr sz="1100" b="0" i="0">
                <a:solidFill>
                  <a:srgbClr val="1A1A1A"/>
                </a:solidFill>
              </a:rPr>
              <a:t>Texture2DArray renderer  (&gt;60 Hz @ 512 envs)</a:t>
            </a:r>
          </a:p>
        </p:txBody>
      </p:sp>
      <p:sp>
        <p:nvSpPr>
          <p:cNvPr id="30" name="Rectangle 29"/>
          <p:cNvSpPr/>
          <p:nvPr/>
        </p:nvSpPr>
        <p:spPr>
          <a:xfrm>
            <a:off x="4343400" y="289864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2816351"/>
            <a:ext cx="3493008" cy="256032"/>
          </a:xfrm>
          <a:prstGeom prst="rect">
            <a:avLst/>
          </a:prstGeom>
          <a:noFill/>
        </p:spPr>
        <p:txBody>
          <a:bodyPr wrap="square">
            <a:spAutoFit/>
          </a:bodyPr>
          <a:lstStyle/>
          <a:p>
            <a:pPr algn="l"/>
            <a:r>
              <a:rPr sz="1100" b="0" i="0">
                <a:solidFill>
                  <a:srgbClr val="1A1A1A"/>
                </a:solidFill>
              </a:rPr>
              <a:t>Pixel observations for RL  (raw fluoroscopy input)</a:t>
            </a:r>
          </a:p>
        </p:txBody>
      </p:sp>
      <p:sp>
        <p:nvSpPr>
          <p:cNvPr id="32" name="Rectangle 31"/>
          <p:cNvSpPr/>
          <p:nvPr/>
        </p:nvSpPr>
        <p:spPr>
          <a:xfrm>
            <a:off x="4343400" y="317296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7992" y="3090671"/>
            <a:ext cx="3493008" cy="256032"/>
          </a:xfrm>
          <a:prstGeom prst="rect">
            <a:avLst/>
          </a:prstGeom>
          <a:noFill/>
        </p:spPr>
        <p:txBody>
          <a:bodyPr wrap="square">
            <a:spAutoFit/>
          </a:bodyPr>
          <a:lstStyle/>
          <a:p>
            <a:pPr algn="l"/>
            <a:r>
              <a:rPr sz="1100" b="0" i="0">
                <a:solidFill>
                  <a:srgbClr val="1A1A1A"/>
                </a:solidFill>
              </a:rPr>
              <a:t>First end-to-end PPO policy  (fluoroscopy → action)</a:t>
            </a:r>
          </a:p>
        </p:txBody>
      </p:sp>
      <p:sp>
        <p:nvSpPr>
          <p:cNvPr id="34" name="Rectangle 33"/>
          <p:cNvSpPr/>
          <p:nvPr/>
        </p:nvSpPr>
        <p:spPr>
          <a:xfrm>
            <a:off x="4343400" y="344728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07992" y="3364991"/>
            <a:ext cx="3493008" cy="256032"/>
          </a:xfrm>
          <a:prstGeom prst="rect">
            <a:avLst/>
          </a:prstGeom>
          <a:noFill/>
        </p:spPr>
        <p:txBody>
          <a:bodyPr wrap="square">
            <a:spAutoFit/>
          </a:bodyPr>
          <a:lstStyle/>
          <a:p>
            <a:pPr algn="l"/>
            <a:r>
              <a:rPr sz="1100" b="0" i="0">
                <a:solidFill>
                  <a:srgbClr val="1A1A1A"/>
                </a:solidFill>
              </a:rPr>
              <a:t>Polyenergetic rendering  (beam hardening correction)</a:t>
            </a:r>
          </a:p>
        </p:txBody>
      </p:sp>
      <p:sp>
        <p:nvSpPr>
          <p:cNvPr id="36" name="Rectangle 35"/>
          <p:cNvSpPr/>
          <p:nvPr/>
        </p:nvSpPr>
        <p:spPr>
          <a:xfrm>
            <a:off x="4343400" y="372160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07992" y="3639311"/>
            <a:ext cx="3493008" cy="256032"/>
          </a:xfrm>
          <a:prstGeom prst="rect">
            <a:avLst/>
          </a:prstGeom>
          <a:noFill/>
        </p:spPr>
        <p:txBody>
          <a:bodyPr wrap="square">
            <a:spAutoFit/>
          </a:bodyPr>
          <a:lstStyle/>
          <a:p>
            <a:pPr algn="l"/>
            <a:r>
              <a:rPr sz="1100" b="0" i="0">
                <a:solidFill>
                  <a:srgbClr val="1A1A1A"/>
                </a:solidFill>
              </a:rPr>
              <a:t>GPU-side Poisson / PSF pipeline</a:t>
            </a:r>
          </a:p>
        </p:txBody>
      </p:sp>
      <p:sp>
        <p:nvSpPr>
          <p:cNvPr id="38" name="Rectangle 37"/>
          <p:cNvSpPr/>
          <p:nvPr/>
        </p:nvSpPr>
        <p:spPr>
          <a:xfrm>
            <a:off x="4343400" y="399592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7992" y="3913631"/>
            <a:ext cx="3493008" cy="256032"/>
          </a:xfrm>
          <a:prstGeom prst="rect">
            <a:avLst/>
          </a:prstGeom>
          <a:noFill/>
        </p:spPr>
        <p:txBody>
          <a:bodyPr wrap="square">
            <a:spAutoFit/>
          </a:bodyPr>
          <a:lstStyle/>
          <a:p>
            <a:pPr algn="l"/>
            <a:r>
              <a:rPr sz="1100" b="0" i="0">
                <a:solidFill>
                  <a:srgbClr val="1A1A1A"/>
                </a:solidFill>
              </a:rPr>
              <a:t>MAISI synthetic CT  (multi-patient training)</a:t>
            </a:r>
          </a:p>
        </p:txBody>
      </p:sp>
      <p:sp>
        <p:nvSpPr>
          <p:cNvPr id="40" name="Rectangle 39"/>
          <p:cNvSpPr/>
          <p:nvPr/>
        </p:nvSpPr>
        <p:spPr>
          <a:xfrm>
            <a:off x="4343400" y="4270247"/>
            <a:ext cx="109728" cy="109728"/>
          </a:xfrm>
          <a:prstGeom prst="rect">
            <a:avLst/>
          </a:prstGeom>
          <a:solidFill>
            <a:srgbClr val="00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07992" y="4187951"/>
            <a:ext cx="3493008" cy="256032"/>
          </a:xfrm>
          <a:prstGeom prst="rect">
            <a:avLst/>
          </a:prstGeom>
          <a:noFill/>
        </p:spPr>
        <p:txBody>
          <a:bodyPr wrap="square">
            <a:spAutoFit/>
          </a:bodyPr>
          <a:lstStyle/>
          <a:p>
            <a:pPr algn="l"/>
            <a:r>
              <a:rPr sz="1100" b="0" i="0">
                <a:solidFill>
                  <a:srgbClr val="1A1A1A"/>
                </a:solidFill>
              </a:rPr>
              <a:t>Curriculum learning  (difficulty progression)</a:t>
            </a:r>
          </a:p>
        </p:txBody>
      </p:sp>
      <p:sp>
        <p:nvSpPr>
          <p:cNvPr id="42" name="Rectangle 41"/>
          <p:cNvSpPr/>
          <p:nvPr/>
        </p:nvSpPr>
        <p:spPr>
          <a:xfrm>
            <a:off x="8275320" y="1874519"/>
            <a:ext cx="3822191" cy="4754880"/>
          </a:xfrm>
          <a:prstGeom prst="rect">
            <a:avLst/>
          </a:prstGeom>
          <a:solidFill>
            <a:srgbClr val="F2F2F2"/>
          </a:solidFill>
          <a:ln w="952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75320" y="1874519"/>
            <a:ext cx="3822191" cy="5943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66760" y="1901952"/>
            <a:ext cx="3639312" cy="548640"/>
          </a:xfrm>
          <a:prstGeom prst="rect">
            <a:avLst/>
          </a:prstGeom>
          <a:noFill/>
        </p:spPr>
        <p:txBody>
          <a:bodyPr wrap="square">
            <a:spAutoFit/>
          </a:bodyPr>
          <a:lstStyle/>
          <a:p>
            <a:pPr algn="l"/>
            <a:r>
              <a:rPr sz="1300" b="1" i="0">
                <a:solidFill>
                  <a:srgbClr val="FFFFFF"/>
                </a:solidFill>
              </a:rPr>
              <a:t>SPRINT 3+
(Clinical AI Pipeline)</a:t>
            </a:r>
          </a:p>
        </p:txBody>
      </p:sp>
      <p:sp>
        <p:nvSpPr>
          <p:cNvPr id="45" name="Rectangle 44"/>
          <p:cNvSpPr/>
          <p:nvPr/>
        </p:nvSpPr>
        <p:spPr>
          <a:xfrm>
            <a:off x="8366760" y="262432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31352" y="2542032"/>
            <a:ext cx="3493008" cy="256032"/>
          </a:xfrm>
          <a:prstGeom prst="rect">
            <a:avLst/>
          </a:prstGeom>
          <a:noFill/>
        </p:spPr>
        <p:txBody>
          <a:bodyPr wrap="square">
            <a:spAutoFit/>
          </a:bodyPr>
          <a:lstStyle/>
          <a:p>
            <a:pPr algn="l"/>
            <a:r>
              <a:rPr sz="1100" b="0" i="0">
                <a:solidFill>
                  <a:srgbClr val="1A1A1A"/>
                </a:solidFill>
              </a:rPr>
              <a:t>2D/3D registration model  (end-to-end via autodiff)</a:t>
            </a:r>
          </a:p>
        </p:txBody>
      </p:sp>
      <p:sp>
        <p:nvSpPr>
          <p:cNvPr id="47" name="Rectangle 46"/>
          <p:cNvSpPr/>
          <p:nvPr/>
        </p:nvSpPr>
        <p:spPr>
          <a:xfrm>
            <a:off x="8366760" y="289864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31352" y="2816351"/>
            <a:ext cx="3493008" cy="256032"/>
          </a:xfrm>
          <a:prstGeom prst="rect">
            <a:avLst/>
          </a:prstGeom>
          <a:noFill/>
        </p:spPr>
        <p:txBody>
          <a:bodyPr wrap="square">
            <a:spAutoFit/>
          </a:bodyPr>
          <a:lstStyle/>
          <a:p>
            <a:pPr algn="l"/>
            <a:r>
              <a:rPr sz="1100" b="0" i="0">
                <a:solidFill>
                  <a:srgbClr val="1A1A1A"/>
                </a:solidFill>
              </a:rPr>
              <a:t>Vessel segmentation from fluoroscopy</a:t>
            </a:r>
          </a:p>
        </p:txBody>
      </p:sp>
      <p:sp>
        <p:nvSpPr>
          <p:cNvPr id="49" name="Rectangle 48"/>
          <p:cNvSpPr/>
          <p:nvPr/>
        </p:nvSpPr>
        <p:spPr>
          <a:xfrm>
            <a:off x="8366760" y="317296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31352" y="3090671"/>
            <a:ext cx="3493008" cy="256032"/>
          </a:xfrm>
          <a:prstGeom prst="rect">
            <a:avLst/>
          </a:prstGeom>
          <a:noFill/>
        </p:spPr>
        <p:txBody>
          <a:bodyPr wrap="square">
            <a:spAutoFit/>
          </a:bodyPr>
          <a:lstStyle/>
          <a:p>
            <a:pPr algn="l"/>
            <a:r>
              <a:rPr sz="1100" b="0" i="0">
                <a:solidFill>
                  <a:srgbClr val="1A1A1A"/>
                </a:solidFill>
              </a:rPr>
              <a:t>XCath robot integration  (policy → hardware commands)</a:t>
            </a:r>
          </a:p>
        </p:txBody>
      </p:sp>
      <p:sp>
        <p:nvSpPr>
          <p:cNvPr id="51" name="Rectangle 50"/>
          <p:cNvSpPr/>
          <p:nvPr/>
        </p:nvSpPr>
        <p:spPr>
          <a:xfrm>
            <a:off x="8366760" y="344728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31352" y="3364991"/>
            <a:ext cx="3493008" cy="256032"/>
          </a:xfrm>
          <a:prstGeom prst="rect">
            <a:avLst/>
          </a:prstGeom>
          <a:noFill/>
        </p:spPr>
        <p:txBody>
          <a:bodyPr wrap="square">
            <a:spAutoFit/>
          </a:bodyPr>
          <a:lstStyle/>
          <a:p>
            <a:pPr algn="l"/>
            <a:r>
              <a:rPr sz="1100" b="0" i="0">
                <a:solidFill>
                  <a:srgbClr val="1A1A1A"/>
                </a:solidFill>
              </a:rPr>
              <a:t>Holoscan IGX deployment  (&lt;10 ms inference)</a:t>
            </a:r>
          </a:p>
        </p:txBody>
      </p:sp>
      <p:sp>
        <p:nvSpPr>
          <p:cNvPr id="53" name="Rectangle 52"/>
          <p:cNvSpPr/>
          <p:nvPr/>
        </p:nvSpPr>
        <p:spPr>
          <a:xfrm>
            <a:off x="8366760" y="372160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31352" y="3639311"/>
            <a:ext cx="3493008" cy="256032"/>
          </a:xfrm>
          <a:prstGeom prst="rect">
            <a:avLst/>
          </a:prstGeom>
          <a:noFill/>
        </p:spPr>
        <p:txBody>
          <a:bodyPr wrap="square">
            <a:spAutoFit/>
          </a:bodyPr>
          <a:lstStyle/>
          <a:p>
            <a:pPr algn="l"/>
            <a:r>
              <a:rPr sz="1100" b="0" i="0">
                <a:solidFill>
                  <a:srgbClr val="1A1A1A"/>
                </a:solidFill>
              </a:rPr>
              <a:t>Multi-patient validation  (5+ CTA datasets)</a:t>
            </a:r>
          </a:p>
        </p:txBody>
      </p:sp>
      <p:sp>
        <p:nvSpPr>
          <p:cNvPr id="55" name="Rectangle 54"/>
          <p:cNvSpPr/>
          <p:nvPr/>
        </p:nvSpPr>
        <p:spPr>
          <a:xfrm>
            <a:off x="8366760" y="399592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31352" y="3913631"/>
            <a:ext cx="3493008" cy="256032"/>
          </a:xfrm>
          <a:prstGeom prst="rect">
            <a:avLst/>
          </a:prstGeom>
          <a:noFill/>
        </p:spPr>
        <p:txBody>
          <a:bodyPr wrap="square">
            <a:spAutoFit/>
          </a:bodyPr>
          <a:lstStyle/>
          <a:p>
            <a:pPr algn="l"/>
            <a:r>
              <a:rPr sz="1100" b="0" i="0">
                <a:solidFill>
                  <a:srgbClr val="1A1A1A"/>
                </a:solidFill>
              </a:rPr>
              <a:t>Domain randomization study  (sim-to-real gap measurement)</a:t>
            </a:r>
          </a:p>
        </p:txBody>
      </p:sp>
      <p:sp>
        <p:nvSpPr>
          <p:cNvPr id="57" name="Rectangle 56"/>
          <p:cNvSpPr/>
          <p:nvPr/>
        </p:nvSpPr>
        <p:spPr>
          <a:xfrm>
            <a:off x="8366760" y="4270247"/>
            <a:ext cx="109728" cy="109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31352" y="4187951"/>
            <a:ext cx="3493008" cy="256032"/>
          </a:xfrm>
          <a:prstGeom prst="rect">
            <a:avLst/>
          </a:prstGeom>
          <a:noFill/>
        </p:spPr>
        <p:txBody>
          <a:bodyPr wrap="square">
            <a:spAutoFit/>
          </a:bodyPr>
          <a:lstStyle/>
          <a:p>
            <a:pPr algn="l"/>
            <a:r>
              <a:rPr sz="1100" b="0" i="0">
                <a:solidFill>
                  <a:srgbClr val="1A1A1A"/>
                </a:solidFill>
              </a:rPr>
              <a:t>Clinical data paired evaluation</a:t>
            </a:r>
          </a:p>
        </p:txBody>
      </p:sp>
      <p:sp>
        <p:nvSpPr>
          <p:cNvPr id="59" name="TextBox 58"/>
          <p:cNvSpPr txBox="1"/>
          <p:nvPr/>
        </p:nvSpPr>
        <p:spPr>
          <a:xfrm>
            <a:off x="274320" y="6510528"/>
            <a:ext cx="11612880" cy="256032"/>
          </a:xfrm>
          <a:prstGeom prst="rect">
            <a:avLst/>
          </a:prstGeom>
          <a:noFill/>
        </p:spPr>
        <p:txBody>
          <a:bodyPr wrap="square">
            <a:spAutoFit/>
          </a:bodyPr>
          <a:lstStyle/>
          <a:p>
            <a:pPr algn="ctr"/>
            <a:r>
              <a:rPr sz="1200" b="1" i="0">
                <a:solidFill>
                  <a:srgbClr val="76B900"/>
                </a:solidFill>
              </a:rPr>
              <a:t>This project is data infrastructure for robotic catheter AI.  Sprint 1 built the foundation.  Sprint 2 closes the sim-to-real loop.  Sprint 3 deploys to a clinical robot.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